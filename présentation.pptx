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256" r:id="rId2"/>
    <p:sldId id="258" r:id="rId3"/>
    <p:sldId id="259" r:id="rId4"/>
    <p:sldId id="260" r:id="rId5"/>
    <p:sldId id="263" r:id="rId6"/>
    <p:sldId id="264" r:id="rId7"/>
    <p:sldId id="265" r:id="rId8"/>
    <p:sldId id="266" r:id="rId9"/>
    <p:sldId id="267" r:id="rId10"/>
    <p:sldId id="268" r:id="rId11"/>
    <p:sldId id="269" r:id="rId12"/>
    <p:sldId id="270" r:id="rId13"/>
    <p:sldId id="283" r:id="rId14"/>
    <p:sldId id="284" r:id="rId15"/>
    <p:sldId id="285" r:id="rId16"/>
    <p:sldId id="272" r:id="rId17"/>
    <p:sldId id="286" r:id="rId18"/>
    <p:sldId id="287" r:id="rId19"/>
    <p:sldId id="290" r:id="rId20"/>
    <p:sldId id="281" r:id="rId21"/>
    <p:sldId id="275" r:id="rId22"/>
    <p:sldId id="288" r:id="rId23"/>
    <p:sldId id="289" r:id="rId24"/>
    <p:sldId id="276" r:id="rId25"/>
    <p:sldId id="277" r:id="rId26"/>
    <p:sldId id="282" r:id="rId27"/>
    <p:sldId id="278" r:id="rId28"/>
    <p:sldId id="311" r:id="rId29"/>
    <p:sldId id="279" r:id="rId30"/>
    <p:sldId id="295" r:id="rId31"/>
    <p:sldId id="294" r:id="rId32"/>
    <p:sldId id="293" r:id="rId33"/>
    <p:sldId id="292" r:id="rId34"/>
    <p:sldId id="291" r:id="rId35"/>
    <p:sldId id="302" r:id="rId36"/>
    <p:sldId id="301" r:id="rId37"/>
    <p:sldId id="300" r:id="rId38"/>
    <p:sldId id="299" r:id="rId39"/>
    <p:sldId id="298" r:id="rId40"/>
    <p:sldId id="308" r:id="rId41"/>
    <p:sldId id="307" r:id="rId42"/>
    <p:sldId id="306" r:id="rId43"/>
    <p:sldId id="305" r:id="rId44"/>
    <p:sldId id="304" r:id="rId45"/>
    <p:sldId id="303" r:id="rId46"/>
    <p:sldId id="310" r:id="rId47"/>
    <p:sldId id="309" r:id="rId48"/>
    <p:sldId id="297" r:id="rId49"/>
    <p:sldId id="312"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EB45A6B4-0F1F-4A03-BC0A-642048C0CF25}">
          <p14:sldIdLst>
            <p14:sldId id="256"/>
            <p14:sldId id="258"/>
            <p14:sldId id="259"/>
            <p14:sldId id="260"/>
            <p14:sldId id="263"/>
            <p14:sldId id="264"/>
            <p14:sldId id="265"/>
            <p14:sldId id="266"/>
            <p14:sldId id="267"/>
            <p14:sldId id="268"/>
            <p14:sldId id="269"/>
            <p14:sldId id="270"/>
            <p14:sldId id="283"/>
            <p14:sldId id="284"/>
            <p14:sldId id="285"/>
            <p14:sldId id="272"/>
            <p14:sldId id="286"/>
            <p14:sldId id="287"/>
            <p14:sldId id="290"/>
            <p14:sldId id="281"/>
            <p14:sldId id="275"/>
            <p14:sldId id="288"/>
            <p14:sldId id="289"/>
            <p14:sldId id="276"/>
            <p14:sldId id="277"/>
            <p14:sldId id="282"/>
            <p14:sldId id="278"/>
            <p14:sldId id="311"/>
            <p14:sldId id="279"/>
            <p14:sldId id="295"/>
            <p14:sldId id="294"/>
            <p14:sldId id="293"/>
            <p14:sldId id="292"/>
            <p14:sldId id="291"/>
            <p14:sldId id="302"/>
            <p14:sldId id="301"/>
            <p14:sldId id="300"/>
            <p14:sldId id="299"/>
            <p14:sldId id="298"/>
            <p14:sldId id="308"/>
            <p14:sldId id="307"/>
            <p14:sldId id="306"/>
            <p14:sldId id="305"/>
            <p14:sldId id="304"/>
            <p14:sldId id="303"/>
            <p14:sldId id="310"/>
            <p14:sldId id="309"/>
            <p14:sldId id="297"/>
            <p14:sldId id="31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limabouchaka11@gmail.com" initials="h" lastIdx="3" clrIdx="0">
    <p:extLst>
      <p:ext uri="{19B8F6BF-5375-455C-9EA6-DF929625EA0E}">
        <p15:presenceInfo xmlns:p15="http://schemas.microsoft.com/office/powerpoint/2012/main" userId="36346622900b9ed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F6495"/>
    <a:srgbClr val="E9F5DB"/>
    <a:srgbClr val="CCECFF"/>
    <a:srgbClr val="D7EDBD"/>
    <a:srgbClr val="E4EBEC"/>
    <a:srgbClr val="272640"/>
    <a:srgbClr val="BCC1EE"/>
    <a:srgbClr val="CEEAB0"/>
    <a:srgbClr val="4D194D"/>
    <a:srgbClr val="D1EF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97" autoAdjust="0"/>
    <p:restoredTop sz="76980" autoAdjust="0"/>
  </p:normalViewPr>
  <p:slideViewPr>
    <p:cSldViewPr snapToGrid="0">
      <p:cViewPr varScale="1">
        <p:scale>
          <a:sx n="61" d="100"/>
          <a:sy n="61" d="100"/>
        </p:scale>
        <p:origin x="1146"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08DAEC-3881-42FC-A7CB-E645DF09C9AE}" type="datetimeFigureOut">
              <a:rPr lang="fr-FR" smtClean="0"/>
              <a:t>11/09/2026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8AF641-0661-48DD-8BE3-DD97CF7165DD}" type="slidenum">
              <a:rPr lang="fr-FR" smtClean="0"/>
              <a:t>‹N°›</a:t>
            </a:fld>
            <a:endParaRPr lang="fr-FR"/>
          </a:p>
        </p:txBody>
      </p:sp>
    </p:spTree>
    <p:extLst>
      <p:ext uri="{BB962C8B-B14F-4D97-AF65-F5344CB8AC3E}">
        <p14:creationId xmlns:p14="http://schemas.microsoft.com/office/powerpoint/2010/main" val="4013268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Bonjour chers professeurs, je m'appelle Halima Bouchakka aujourd'hui on va présenter moi et mon collègue Salah Eddine Ouirra notre projet de fin d'études qui est CONCEPTION ET DEVELOPPEMENT D’UNE APPLICATION DE GESTION DES COMMANDES POUR UN CENTRE D’ANALYSES  mais tout d'abord </a:t>
            </a:r>
          </a:p>
          <a:p>
            <a:r>
              <a:rPr lang="fr-FR" dirty="0"/>
              <a:t>je tiens à remercier les membres du jury d'avoir accepté d'évaluer mon travail ainsi que mon encadrante professeur Belaqziz Salwa  pour son encadrement, pour sa patience, se rigueur, son soutien moral, ses encouragements et sa disponibilité durant la préparation de ce projet.</a:t>
            </a:r>
          </a:p>
          <a:p>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1</a:t>
            </a:fld>
            <a:endParaRPr lang="fr-FR"/>
          </a:p>
        </p:txBody>
      </p:sp>
    </p:spTree>
    <p:extLst>
      <p:ext uri="{BB962C8B-B14F-4D97-AF65-F5344CB8AC3E}">
        <p14:creationId xmlns:p14="http://schemas.microsoft.com/office/powerpoint/2010/main" val="612954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indent="0">
              <a:buNone/>
            </a:pPr>
            <a:r>
              <a:rPr lang="fr-FR" dirty="0"/>
              <a:t>Dans ce plan on va commencer par une introduction générale qui contient la problématique, solution adopté ,objectif </a:t>
            </a:r>
            <a:r>
              <a:rPr lang="fr-HT" baseline="0" dirty="0"/>
              <a:t>ainsi que le processus de développement suivie</a:t>
            </a:r>
          </a:p>
          <a:p>
            <a:pPr marL="0" marR="0" lvl="0" indent="0" algn="l" defTabSz="914400" rtl="0" eaLnBrk="1" fontAlgn="auto" latinLnBrk="0" hangingPunct="1">
              <a:lnSpc>
                <a:spcPct val="100000"/>
              </a:lnSpc>
              <a:spcBef>
                <a:spcPts val="0"/>
              </a:spcBef>
              <a:spcAft>
                <a:spcPts val="0"/>
              </a:spcAft>
              <a:buClrTx/>
              <a:buSzTx/>
              <a:buFontTx/>
              <a:buNone/>
              <a:tabLst/>
              <a:defRPr/>
            </a:pPr>
            <a:r>
              <a:rPr lang="fr-HT" baseline="0" dirty="0"/>
              <a:t> Puis je présenterais  la phase d’analyse et de conception de notre application. Ensuite on va faire une étude technique dans lequel on va présenter les outils utilisés pour développer la plateforme . </a:t>
            </a:r>
            <a:r>
              <a:rPr lang="fr-FR" dirty="0"/>
              <a:t>puis nous présenterons l’application développé et enfin une conclusion et perspectives.</a:t>
            </a:r>
          </a:p>
          <a:p>
            <a:pPr marL="0" indent="0">
              <a:buNone/>
            </a:pPr>
            <a:endParaRPr lang="fr-HT" baseline="0" dirty="0"/>
          </a:p>
          <a:p>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2</a:t>
            </a:fld>
            <a:endParaRPr lang="fr-FR"/>
          </a:p>
        </p:txBody>
      </p:sp>
    </p:spTree>
    <p:extLst>
      <p:ext uri="{BB962C8B-B14F-4D97-AF65-F5344CB8AC3E}">
        <p14:creationId xmlns:p14="http://schemas.microsoft.com/office/powerpoint/2010/main" val="4164251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Dans cette partie nous présentons l’objectif général et les principales solutions offertes par notre application. Nous présenterons ensuite la méthode suivie pour la conduite du projet .</a:t>
            </a:r>
            <a:endParaRPr lang="fr-FR" sz="1800" dirty="0">
              <a:effectLst/>
              <a:latin typeface="Times New Roman" panose="02020603050405020304" pitchFamily="18" charset="0"/>
              <a:ea typeface="Calibri" panose="020F0502020204030204" pitchFamily="34" charset="0"/>
            </a:endParaRPr>
          </a:p>
          <a:p>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3</a:t>
            </a:fld>
            <a:endParaRPr lang="fr-FR"/>
          </a:p>
        </p:txBody>
      </p:sp>
    </p:spTree>
    <p:extLst>
      <p:ext uri="{BB962C8B-B14F-4D97-AF65-F5344CB8AC3E}">
        <p14:creationId xmlns:p14="http://schemas.microsoft.com/office/powerpoint/2010/main" val="2728814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gestion des analyses demandées par le client être difficile de gérer manuellement on a considéré quelques problématiques qui montre qu'il faut vraiment trouver une solution adaptée et qui est le sujet de notre projet.</a:t>
            </a:r>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4</a:t>
            </a:fld>
            <a:endParaRPr lang="fr-FR"/>
          </a:p>
        </p:txBody>
      </p:sp>
    </p:spTree>
    <p:extLst>
      <p:ext uri="{BB962C8B-B14F-4D97-AF65-F5344CB8AC3E}">
        <p14:creationId xmlns:p14="http://schemas.microsoft.com/office/powerpoint/2010/main" val="3211164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5</a:t>
            </a:fld>
            <a:endParaRPr lang="fr-FR"/>
          </a:p>
        </p:txBody>
      </p:sp>
    </p:spTree>
    <p:extLst>
      <p:ext uri="{BB962C8B-B14F-4D97-AF65-F5344CB8AC3E}">
        <p14:creationId xmlns:p14="http://schemas.microsoft.com/office/powerpoint/2010/main" val="233478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3B7ED5"/>
                </a:solidFill>
                <a:effectLst/>
                <a:latin typeface="Open Sans" panose="020B0604020202020204" pitchFamily="34" charset="0"/>
              </a:rPr>
              <a:t> cette partie présente la définition du travail collaboratif ainsi ses avantages.</a:t>
            </a:r>
          </a:p>
          <a:p>
            <a:r>
              <a:rPr lang="fr-FR" b="0" i="0" dirty="0">
                <a:solidFill>
                  <a:srgbClr val="3B7ED5"/>
                </a:solidFill>
                <a:effectLst/>
                <a:latin typeface="Open Sans" panose="020B0604020202020204" pitchFamily="34" charset="0"/>
              </a:rPr>
              <a:t>«  Se réunir est un début ; rester ensemble est un progrès ; travailler ensemble est la réussite. » — Henry Ford</a:t>
            </a: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6</a:t>
            </a:fld>
            <a:endParaRPr lang="fr-FR"/>
          </a:p>
        </p:txBody>
      </p:sp>
    </p:spTree>
    <p:extLst>
      <p:ext uri="{BB962C8B-B14F-4D97-AF65-F5344CB8AC3E}">
        <p14:creationId xmlns:p14="http://schemas.microsoft.com/office/powerpoint/2010/main" val="3117398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Les objectifs de cette plateforme est d’avoir:</a:t>
            </a:r>
          </a:p>
          <a:p>
            <a:pPr marL="171450" indent="-171450">
              <a:buFontTx/>
              <a:buChar char="-"/>
            </a:pPr>
            <a:r>
              <a:rPr lang="fr-FR" dirty="0"/>
              <a:t>Un site qui facilite la gestion de la demande ou le client peut ajouter une demande facilement et l’administrateur peut consulter cette demande et changer leur statut par la phase de l’analyse.</a:t>
            </a:r>
          </a:p>
          <a:p>
            <a:pPr marL="171450" indent="-171450">
              <a:buFontTx/>
              <a:buChar char="-"/>
            </a:pPr>
            <a:r>
              <a:rPr lang="fr-FR" dirty="0"/>
              <a:t>La plateforme contient aussi une interface ou l’administrateur saisi les résultats</a:t>
            </a:r>
          </a:p>
          <a:p>
            <a:pPr marL="171450" indent="-171450">
              <a:buFontTx/>
              <a:buChar char="-"/>
            </a:pPr>
            <a:r>
              <a:rPr lang="fr-FR" dirty="0"/>
              <a:t>Recevoir des notifications pour chaque nouvelle demande ou changement du statut.</a:t>
            </a:r>
          </a:p>
          <a:p>
            <a:pPr marL="0" indent="0">
              <a:buFontTx/>
              <a:buNone/>
            </a:pPr>
            <a:r>
              <a:rPr lang="fr-FR" dirty="0"/>
              <a:t>         la plateforme </a:t>
            </a:r>
            <a:r>
              <a:rPr lang="fr-FR" dirty="0">
                <a:highlight>
                  <a:srgbClr val="00FF00"/>
                </a:highlight>
              </a:rPr>
              <a:t>contient aussi d’autres avantages:</a:t>
            </a:r>
          </a:p>
          <a:p>
            <a:pPr marL="241293" marR="0" lvl="0" indent="-241293" algn="l" rtl="0">
              <a:spcBef>
                <a:spcPts val="0"/>
              </a:spcBef>
              <a:spcAft>
                <a:spcPts val="0"/>
              </a:spcAft>
              <a:buClr>
                <a:srgbClr val="1C405D"/>
              </a:buClr>
              <a:buSzPts val="1867"/>
              <a:buFont typeface="Calibri"/>
              <a:buChar char="‐"/>
            </a:pPr>
            <a:r>
              <a:rPr lang="fr-FR" sz="1200" b="0" i="0" u="none" strike="noStrike" cap="none" dirty="0">
                <a:solidFill>
                  <a:srgbClr val="1C405D"/>
                </a:solidFill>
                <a:highlight>
                  <a:srgbClr val="00FF00"/>
                </a:highlight>
                <a:latin typeface="Arial"/>
                <a:ea typeface="Arial"/>
                <a:cs typeface="Arial"/>
                <a:sym typeface="Arial"/>
              </a:rPr>
              <a:t>L</a:t>
            </a:r>
            <a:r>
              <a:rPr lang="fr-FR" sz="1200" dirty="0">
                <a:solidFill>
                  <a:srgbClr val="1C405D"/>
                </a:solidFill>
                <a:highlight>
                  <a:srgbClr val="00FF00"/>
                </a:highlight>
              </a:rPr>
              <a:t>a</a:t>
            </a:r>
            <a:r>
              <a:rPr lang="fr-FR" sz="1200" b="0" i="0" u="none" strike="noStrike" cap="none" dirty="0">
                <a:solidFill>
                  <a:srgbClr val="1C405D"/>
                </a:solidFill>
                <a:highlight>
                  <a:srgbClr val="00FF00"/>
                </a:highlight>
                <a:latin typeface="Arial"/>
                <a:ea typeface="Arial"/>
                <a:cs typeface="Arial"/>
                <a:sym typeface="Arial"/>
              </a:rPr>
              <a:t> </a:t>
            </a:r>
            <a:r>
              <a:rPr lang="fr-FR" sz="1200" b="0" u="none" dirty="0">
                <a:solidFill>
                  <a:schemeClr val="tx2"/>
                </a:solidFill>
                <a:highlight>
                  <a:srgbClr val="00FF00"/>
                </a:highlight>
              </a:rPr>
              <a:t>gestion</a:t>
            </a:r>
            <a:r>
              <a:rPr lang="fr-FR" sz="1200" b="0" i="0" u="none" strike="noStrike" cap="none" dirty="0">
                <a:solidFill>
                  <a:schemeClr val="tx2"/>
                </a:solidFill>
                <a:highlight>
                  <a:srgbClr val="00FF00"/>
                </a:highlight>
                <a:latin typeface="Arial"/>
                <a:ea typeface="Arial"/>
                <a:cs typeface="Arial"/>
                <a:sym typeface="Arial"/>
              </a:rPr>
              <a:t> </a:t>
            </a:r>
            <a:r>
              <a:rPr lang="fr-FR" sz="1200" b="0" u="none" dirty="0">
                <a:solidFill>
                  <a:schemeClr val="tx2"/>
                </a:solidFill>
              </a:rPr>
              <a:t>administrative</a:t>
            </a:r>
            <a:endParaRPr lang="fr-FR" b="0" u="none" dirty="0">
              <a:solidFill>
                <a:schemeClr val="tx2"/>
              </a:solidFill>
            </a:endParaRPr>
          </a:p>
          <a:p>
            <a:pPr marL="241293" marR="0" lvl="0" indent="-241293" algn="l" rtl="0">
              <a:spcBef>
                <a:spcPts val="2400"/>
              </a:spcBef>
              <a:spcAft>
                <a:spcPts val="0"/>
              </a:spcAft>
              <a:buClr>
                <a:srgbClr val="1C405D"/>
              </a:buClr>
              <a:buSzPts val="1867"/>
              <a:buFont typeface="Calibri"/>
              <a:buChar char="‐"/>
            </a:pPr>
            <a:r>
              <a:rPr lang="fr-FR" sz="1200" b="0" i="0" u="none" strike="noStrike" cap="none" dirty="0">
                <a:solidFill>
                  <a:srgbClr val="1C405D"/>
                </a:solidFill>
                <a:latin typeface="Arial"/>
                <a:ea typeface="Arial"/>
                <a:cs typeface="Arial"/>
                <a:sym typeface="Arial"/>
              </a:rPr>
              <a:t>Le </a:t>
            </a:r>
            <a:r>
              <a:rPr lang="fr-FR" sz="1200" b="0" i="0" u="none" strike="noStrike" cap="none" dirty="0">
                <a:solidFill>
                  <a:srgbClr val="C00000"/>
                </a:solidFill>
                <a:latin typeface="Arial"/>
                <a:ea typeface="Arial"/>
                <a:cs typeface="Arial"/>
                <a:sym typeface="Arial"/>
              </a:rPr>
              <a:t>gain du temps</a:t>
            </a:r>
            <a:endParaRPr lang="fr-FR" dirty="0"/>
          </a:p>
          <a:p>
            <a:pPr marL="241293" marR="0" lvl="0" indent="-241293" algn="l" rtl="0">
              <a:spcBef>
                <a:spcPts val="2400"/>
              </a:spcBef>
              <a:spcAft>
                <a:spcPts val="0"/>
              </a:spcAft>
              <a:buClr>
                <a:srgbClr val="1C405D"/>
              </a:buClr>
              <a:buSzPts val="1867"/>
              <a:buFont typeface="Calibri"/>
              <a:buChar char="‐"/>
            </a:pPr>
            <a:r>
              <a:rPr lang="fr-FR" sz="1200" b="0" i="0" u="none" strike="noStrike" cap="none" dirty="0">
                <a:solidFill>
                  <a:srgbClr val="1C405D"/>
                </a:solidFill>
                <a:latin typeface="Arial"/>
                <a:ea typeface="Arial"/>
                <a:cs typeface="Arial"/>
                <a:sym typeface="Arial"/>
              </a:rPr>
              <a:t>Plus de </a:t>
            </a:r>
            <a:r>
              <a:rPr lang="fr-FR" sz="1200" b="0" i="0" u="none" strike="noStrike" cap="none" dirty="0">
                <a:solidFill>
                  <a:srgbClr val="C00000"/>
                </a:solidFill>
                <a:latin typeface="Arial"/>
                <a:ea typeface="Arial"/>
                <a:cs typeface="Arial"/>
                <a:sym typeface="Arial"/>
              </a:rPr>
              <a:t>flexibilité </a:t>
            </a:r>
            <a:r>
              <a:rPr lang="fr-FR" sz="1200" b="0" i="0" u="none" strike="noStrike" cap="none" dirty="0">
                <a:solidFill>
                  <a:srgbClr val="1C405D"/>
                </a:solidFill>
                <a:latin typeface="Arial"/>
                <a:ea typeface="Arial"/>
                <a:cs typeface="Arial"/>
                <a:sym typeface="Arial"/>
              </a:rPr>
              <a:t>et de </a:t>
            </a:r>
            <a:r>
              <a:rPr lang="fr-FR" sz="1200" b="0" i="0" u="none" strike="noStrike" cap="none" dirty="0">
                <a:solidFill>
                  <a:srgbClr val="C00000"/>
                </a:solidFill>
                <a:latin typeface="Arial"/>
                <a:ea typeface="Arial"/>
                <a:cs typeface="Arial"/>
                <a:sym typeface="Arial"/>
              </a:rPr>
              <a:t>réactivité</a:t>
            </a:r>
            <a:endParaRPr lang="fr-FR" dirty="0"/>
          </a:p>
          <a:p>
            <a:pPr marL="241293" marR="0" lvl="0" indent="-241293" algn="l" rtl="0">
              <a:spcBef>
                <a:spcPts val="2400"/>
              </a:spcBef>
              <a:spcAft>
                <a:spcPts val="0"/>
              </a:spcAft>
              <a:buClr>
                <a:srgbClr val="1C405D"/>
              </a:buClr>
              <a:buSzPts val="1867"/>
              <a:buFont typeface="Calibri"/>
              <a:buChar char="‐"/>
            </a:pPr>
            <a:r>
              <a:rPr lang="fr-FR" sz="1200" b="0" i="0" u="none" strike="noStrike" cap="none" dirty="0">
                <a:solidFill>
                  <a:srgbClr val="1C405D"/>
                </a:solidFill>
                <a:latin typeface="Arial"/>
                <a:ea typeface="Arial"/>
                <a:cs typeface="Arial"/>
                <a:sym typeface="Arial"/>
              </a:rPr>
              <a:t>L'amélioration de </a:t>
            </a:r>
            <a:r>
              <a:rPr lang="fr-FR" sz="1200" b="0" i="0" u="none" strike="noStrike" cap="none" dirty="0">
                <a:solidFill>
                  <a:srgbClr val="C00000"/>
                </a:solidFill>
                <a:latin typeface="Arial"/>
                <a:ea typeface="Arial"/>
                <a:cs typeface="Arial"/>
                <a:sym typeface="Arial"/>
              </a:rPr>
              <a:t>l’ambiance au travail </a:t>
            </a:r>
            <a:endParaRPr lang="fr-FR" dirty="0"/>
          </a:p>
          <a:p>
            <a:pPr marL="241294" marR="0" lvl="0" indent="-241294" algn="l" rtl="0">
              <a:spcBef>
                <a:spcPts val="2400"/>
              </a:spcBef>
              <a:spcAft>
                <a:spcPts val="0"/>
              </a:spcAft>
              <a:buClr>
                <a:srgbClr val="1C405D"/>
              </a:buClr>
              <a:buSzPts val="1867"/>
              <a:buFont typeface="Calibri"/>
              <a:buChar char="‐"/>
            </a:pPr>
            <a:r>
              <a:rPr lang="fr-FR" sz="1200" b="0" i="0" u="none" strike="noStrike" cap="none" dirty="0">
                <a:solidFill>
                  <a:srgbClr val="1C405D"/>
                </a:solidFill>
                <a:latin typeface="Arial"/>
                <a:ea typeface="Arial"/>
                <a:cs typeface="Arial"/>
                <a:sym typeface="Arial"/>
              </a:rPr>
              <a:t>L'augmentation de la </a:t>
            </a:r>
            <a:r>
              <a:rPr lang="fr-FR" sz="1200" b="0" i="0" u="none" strike="noStrike" cap="none" dirty="0">
                <a:solidFill>
                  <a:srgbClr val="C00000"/>
                </a:solidFill>
                <a:latin typeface="Arial"/>
                <a:ea typeface="Arial"/>
                <a:cs typeface="Arial"/>
                <a:sym typeface="Arial"/>
              </a:rPr>
              <a:t>productivité </a:t>
            </a:r>
            <a:endParaRPr lang="fr-FR" dirty="0"/>
          </a:p>
          <a:p>
            <a:pPr marL="0" indent="0">
              <a:buFontTx/>
              <a:buNone/>
            </a:pP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7</a:t>
            </a:fld>
            <a:endParaRPr lang="fr-FR"/>
          </a:p>
        </p:txBody>
      </p:sp>
    </p:spTree>
    <p:extLst>
      <p:ext uri="{BB962C8B-B14F-4D97-AF65-F5344CB8AC3E}">
        <p14:creationId xmlns:p14="http://schemas.microsoft.com/office/powerpoint/2010/main" val="328861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52400" lvl="0" indent="0" algn="l" rtl="0">
              <a:lnSpc>
                <a:spcPct val="115000"/>
              </a:lnSpc>
              <a:spcBef>
                <a:spcPts val="0"/>
              </a:spcBef>
              <a:spcAft>
                <a:spcPts val="0"/>
              </a:spcAft>
              <a:buClr>
                <a:schemeClr val="dk1"/>
              </a:buClr>
              <a:buSzPts val="1100"/>
              <a:buFont typeface="Arial"/>
              <a:buNone/>
            </a:pPr>
            <a:r>
              <a:rPr lang="fr-FR" dirty="0"/>
              <a:t>Pour développer cette application, nous avons adopté la méthode 2TUP qui sert à dissocier les aspects technique et fonctionnelles de la forme Y,</a:t>
            </a:r>
          </a:p>
          <a:p>
            <a:pPr marL="0" lvl="0" indent="0" algn="l" rtl="0">
              <a:lnSpc>
                <a:spcPct val="115000"/>
              </a:lnSpc>
              <a:spcBef>
                <a:spcPts val="0"/>
              </a:spcBef>
              <a:spcAft>
                <a:spcPts val="0"/>
              </a:spcAft>
              <a:buClr>
                <a:schemeClr val="dk1"/>
              </a:buClr>
              <a:buSzPts val="1100"/>
              <a:buFont typeface="Arial"/>
              <a:buNone/>
            </a:pPr>
            <a:r>
              <a:rPr lang="fr-FR" dirty="0"/>
              <a:t>En particulier, la branche fonctionnelle sert à définir les besoins de l’utilisateur. de l’autre côté, la branche technique permet de répondre aux contraintes opérationnelles.</a:t>
            </a:r>
          </a:p>
          <a:p>
            <a:pPr marL="0" lvl="0" indent="0" algn="l" rtl="0">
              <a:lnSpc>
                <a:spcPct val="115000"/>
              </a:lnSpc>
              <a:spcBef>
                <a:spcPts val="0"/>
              </a:spcBef>
              <a:spcAft>
                <a:spcPts val="0"/>
              </a:spcAft>
              <a:buClr>
                <a:schemeClr val="dk1"/>
              </a:buClr>
              <a:buSzPts val="1100"/>
              <a:buFont typeface="Arial"/>
              <a:buNone/>
            </a:pP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8</a:t>
            </a:fld>
            <a:endParaRPr lang="fr-FR"/>
          </a:p>
        </p:txBody>
      </p:sp>
    </p:spTree>
    <p:extLst>
      <p:ext uri="{BB962C8B-B14F-4D97-AF65-F5344CB8AC3E}">
        <p14:creationId xmlns:p14="http://schemas.microsoft.com/office/powerpoint/2010/main" val="3558388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passe maintenant à la deuxième chapitre :Analyse et la conception ou  </a:t>
            </a:r>
            <a:r>
              <a:rPr lang="fr-FR" sz="1800" dirty="0">
                <a:solidFill>
                  <a:srgbClr val="000000"/>
                </a:solidFill>
                <a:effectLst/>
                <a:latin typeface="Times New Roman" panose="02020603050405020304" pitchFamily="18" charset="0"/>
                <a:ea typeface="Calibri" panose="020F0502020204030204" pitchFamily="34" charset="0"/>
              </a:rPr>
              <a:t>nous définissons les besoins fonctionnels   qui seront utilisés par la suite dans la phase de la conception de notre projet que nous présentons à travers les diagrammes UML. </a:t>
            </a: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9</a:t>
            </a:fld>
            <a:endParaRPr lang="fr-FR"/>
          </a:p>
        </p:txBody>
      </p:sp>
    </p:spTree>
    <p:extLst>
      <p:ext uri="{BB962C8B-B14F-4D97-AF65-F5344CB8AC3E}">
        <p14:creationId xmlns:p14="http://schemas.microsoft.com/office/powerpoint/2010/main" val="3694759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Notre application propose à le client de </a:t>
            </a:r>
          </a:p>
          <a:p>
            <a:pPr>
              <a:buClr>
                <a:srgbClr val="FFFFFF"/>
              </a:buClr>
            </a:pPr>
            <a:r>
              <a:rPr lang="fr-FR" dirty="0"/>
              <a:t>D’ajouter  et consulter</a:t>
            </a:r>
            <a:r>
              <a:rPr lang="en-US" sz="1400" dirty="0">
                <a:solidFill>
                  <a:schemeClr val="tx1"/>
                </a:solidFill>
                <a:latin typeface="Times New Roman" panose="02020603050405020304" pitchFamily="18" charset="0"/>
                <a:cs typeface="Times New Roman" panose="02020603050405020304" pitchFamily="18" charset="0"/>
                <a:sym typeface="Arial"/>
              </a:rPr>
              <a:t> ses demandes d’analyse et suivre leur statut, il reçoit aussi </a:t>
            </a:r>
            <a:r>
              <a:rPr lang="fr-FR"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des notifications suite à un changement de statut de sa demande, et il</a:t>
            </a:r>
            <a:r>
              <a:rPr lang="en-US" sz="1400" dirty="0">
                <a:solidFill>
                  <a:schemeClr val="tx1"/>
                </a:solidFill>
                <a:latin typeface="Times New Roman" panose="02020603050405020304" pitchFamily="18" charset="0"/>
                <a:cs typeface="Times New Roman" panose="02020603050405020304" pitchFamily="18" charset="0"/>
                <a:sym typeface="Arial"/>
              </a:rPr>
              <a:t> </a:t>
            </a:r>
            <a:r>
              <a:rPr lang="fr-FR" sz="1200" dirty="0">
                <a:solidFill>
                  <a:schemeClr val="tx1"/>
                </a:solidFill>
                <a:effectLst/>
                <a:latin typeface="Times New Roman" panose="02020603050405020304" pitchFamily="18" charset="0"/>
                <a:ea typeface="Calibri" panose="020F0502020204030204" pitchFamily="34" charset="0"/>
              </a:rPr>
              <a:t>peut imprimer les résultats des analyses, les devis et les factures de ses commandes.</a:t>
            </a:r>
          </a:p>
          <a:p>
            <a:pPr>
              <a:buClr>
                <a:srgbClr val="FFFFFF"/>
              </a:buClr>
            </a:pPr>
            <a:r>
              <a:rPr lang="fr-FR" sz="1200" dirty="0">
                <a:solidFill>
                  <a:schemeClr val="tx1"/>
                </a:solidFill>
                <a:effectLst/>
                <a:latin typeface="Times New Roman" panose="02020603050405020304" pitchFamily="18" charset="0"/>
                <a:cs typeface="Times New Roman" panose="02020603050405020304" pitchFamily="18" charset="0"/>
                <a:sym typeface="Arial"/>
              </a:rPr>
              <a:t>Pour l ’administrateur:</a:t>
            </a:r>
          </a:p>
          <a:p>
            <a:pPr marL="0" indent="0">
              <a:buFontTx/>
              <a:buNone/>
            </a:pPr>
            <a:r>
              <a:rPr lang="fr-FR" sz="1200" dirty="0">
                <a:effectLst/>
                <a:latin typeface="Times New Roman" panose="02020603050405020304" pitchFamily="18" charset="0"/>
                <a:ea typeface="Times New Roman" panose="02020603050405020304" pitchFamily="18" charset="0"/>
                <a:cs typeface="Times New Roman" panose="02020603050405020304" pitchFamily="18" charset="0"/>
              </a:rPr>
              <a:t> il reçoit une notification suite à la réception d’une demande d’un client, il consulte et </a:t>
            </a:r>
            <a:r>
              <a:rPr lang="fr-FR" sz="1200" dirty="0">
                <a:effectLst/>
                <a:latin typeface="Times New Roman" panose="02020603050405020304" pitchFamily="18" charset="0"/>
                <a:ea typeface="Calibri" panose="020F0502020204030204" pitchFamily="34" charset="0"/>
              </a:rPr>
              <a:t>accepte  les demandes d’analyses, il peut aussi suivre  et modifier le statut de la demande  supprimer une demande et clôturer une demande , il saisit  les résultats.</a:t>
            </a:r>
            <a:endParaRPr lang="fr-FR" sz="1200" dirty="0">
              <a:solidFill>
                <a:schemeClr val="tx1"/>
              </a:solidFill>
              <a:effectLst/>
              <a:latin typeface="Times New Roman" panose="02020603050405020304" pitchFamily="18" charset="0"/>
              <a:cs typeface="Times New Roman" panose="02020603050405020304" pitchFamily="18" charset="0"/>
              <a:sym typeface="Arial"/>
            </a:endParaRPr>
          </a:p>
          <a:p>
            <a:pPr>
              <a:buClr>
                <a:srgbClr val="FFFFFF"/>
              </a:buClr>
            </a:pPr>
            <a:endParaRPr lang="en-US" sz="1400" dirty="0">
              <a:solidFill>
                <a:schemeClr val="tx1"/>
              </a:solidFill>
              <a:latin typeface="Times New Roman" panose="02020603050405020304" pitchFamily="18" charset="0"/>
              <a:cs typeface="Times New Roman" panose="02020603050405020304" pitchFamily="18" charset="0"/>
              <a:sym typeface="Arial"/>
            </a:endParaRPr>
          </a:p>
          <a:p>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10</a:t>
            </a:fld>
            <a:endParaRPr lang="fr-FR"/>
          </a:p>
        </p:txBody>
      </p:sp>
    </p:spTree>
    <p:extLst>
      <p:ext uri="{BB962C8B-B14F-4D97-AF65-F5344CB8AC3E}">
        <p14:creationId xmlns:p14="http://schemas.microsoft.com/office/powerpoint/2010/main" val="763340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lvl="0" indent="0" algn="just" rtl="0">
              <a:lnSpc>
                <a:spcPct val="115000"/>
              </a:lnSpc>
              <a:spcBef>
                <a:spcPts val="1200"/>
              </a:spcBef>
              <a:spcAft>
                <a:spcPts val="0"/>
              </a:spcAft>
              <a:buClr>
                <a:schemeClr val="dk1"/>
              </a:buClr>
              <a:buSzPts val="1100"/>
              <a:buFont typeface="Arial"/>
              <a:buNone/>
            </a:pPr>
            <a:r>
              <a:rPr lang="fr-FR" sz="1100" dirty="0">
                <a:latin typeface="Arial"/>
                <a:ea typeface="Arial"/>
                <a:cs typeface="Arial"/>
                <a:sym typeface="Arial"/>
              </a:rPr>
              <a:t>Concernant les besoins non fonctionnels, Il s'agit des besoins qui caractérisent le système. Ce sont des besoins en matière de performance, de type de matériel ou le type de conception. Dans le cadre de ce travail, L'application devra être  :</a:t>
            </a:r>
          </a:p>
          <a:p>
            <a:pPr marL="0" lvl="0" indent="0" algn="just" rtl="0">
              <a:lnSpc>
                <a:spcPct val="115000"/>
              </a:lnSpc>
              <a:spcBef>
                <a:spcPts val="1200"/>
              </a:spcBef>
              <a:spcAft>
                <a:spcPts val="0"/>
              </a:spcAft>
              <a:buClr>
                <a:schemeClr val="dk1"/>
              </a:buClr>
              <a:buSzPts val="1100"/>
              <a:buFont typeface="Arial"/>
              <a:buNone/>
            </a:pPr>
            <a:r>
              <a:rPr lang="fr-FR" sz="1100" dirty="0">
                <a:latin typeface="Arial"/>
                <a:ea typeface="Arial"/>
                <a:cs typeface="Arial"/>
                <a:sym typeface="Arial"/>
              </a:rPr>
              <a:t>extensible :c'est-à-dire qu'il pourra y avoir une possibilité d'ajouter ou de modifier de nouvelles fonctionnalités.</a:t>
            </a:r>
          </a:p>
          <a:p>
            <a:pPr marL="0" lvl="0" indent="0" algn="just" rtl="0">
              <a:lnSpc>
                <a:spcPct val="115000"/>
              </a:lnSpc>
              <a:spcBef>
                <a:spcPts val="1200"/>
              </a:spcBef>
              <a:spcAft>
                <a:spcPts val="0"/>
              </a:spcAft>
              <a:buClr>
                <a:schemeClr val="dk1"/>
              </a:buClr>
              <a:buSzPts val="1100"/>
              <a:buFont typeface="Arial"/>
              <a:buNone/>
            </a:pPr>
            <a:r>
              <a:rPr lang="fr-FR" sz="1100" dirty="0">
                <a:latin typeface="Arial"/>
                <a:ea typeface="Arial"/>
                <a:cs typeface="Arial"/>
                <a:sym typeface="Arial"/>
              </a:rPr>
              <a:t>disponible:</a:t>
            </a:r>
            <a:r>
              <a:rPr lang="fr-FR" dirty="0">
                <a:latin typeface="Arial"/>
                <a:ea typeface="Arial"/>
                <a:cs typeface="Arial"/>
                <a:sym typeface="Arial"/>
              </a:rPr>
              <a:t> Lorsque l'utilisateur désire consulter l’application, elle doit être disponible au accès permanent.</a:t>
            </a:r>
          </a:p>
          <a:p>
            <a:pPr marL="0" lvl="0" indent="0" algn="just" rtl="0">
              <a:lnSpc>
                <a:spcPct val="115000"/>
              </a:lnSpc>
              <a:spcBef>
                <a:spcPts val="1200"/>
              </a:spcBef>
              <a:spcAft>
                <a:spcPts val="0"/>
              </a:spcAft>
              <a:buClr>
                <a:schemeClr val="dk1"/>
              </a:buClr>
              <a:buSzPts val="1100"/>
              <a:buFont typeface="Arial"/>
              <a:buNone/>
            </a:pPr>
            <a:r>
              <a:rPr lang="fr-FR" sz="1100" dirty="0">
                <a:latin typeface="Arial"/>
                <a:ea typeface="Arial"/>
                <a:cs typeface="Arial"/>
                <a:sym typeface="Arial"/>
              </a:rPr>
              <a:t>la convivialité: </a:t>
            </a:r>
            <a:r>
              <a:rPr lang="fr-FR" dirty="0">
                <a:latin typeface="Arial"/>
                <a:ea typeface="Arial"/>
                <a:cs typeface="Arial"/>
                <a:sym typeface="Arial"/>
              </a:rPr>
              <a:t>Il doit présenter un  enchaînement logique entre les interfaces et un ensemble de liens suffisants pour assurer une navigation rapide et un texte compréhensible, visible et lisible.</a:t>
            </a:r>
          </a:p>
          <a:p>
            <a:pPr marL="0" lvl="0" indent="0" algn="just" rtl="0">
              <a:lnSpc>
                <a:spcPct val="115000"/>
              </a:lnSpc>
              <a:spcBef>
                <a:spcPts val="1200"/>
              </a:spcBef>
              <a:spcAft>
                <a:spcPts val="0"/>
              </a:spcAft>
              <a:buClr>
                <a:schemeClr val="dk1"/>
              </a:buClr>
              <a:buSzPts val="1100"/>
              <a:buFont typeface="Arial"/>
              <a:buNone/>
            </a:pPr>
            <a:r>
              <a:rPr lang="fr-FR" sz="1100" dirty="0">
                <a:latin typeface="Arial"/>
                <a:ea typeface="Arial"/>
                <a:cs typeface="Arial"/>
                <a:sym typeface="Arial"/>
              </a:rPr>
              <a:t>la sécurité:</a:t>
            </a:r>
            <a:r>
              <a:rPr lang="fr-FR" dirty="0">
                <a:latin typeface="Arial"/>
                <a:ea typeface="Arial"/>
                <a:cs typeface="Arial"/>
                <a:sym typeface="Arial"/>
              </a:rPr>
              <a:t> il faut avoir une interface d’authentification qui oblige la confidentialité des informations des étudiants.</a:t>
            </a:r>
          </a:p>
          <a:p>
            <a:pPr marL="0" lvl="0" indent="0" algn="just" rtl="0">
              <a:lnSpc>
                <a:spcPct val="115000"/>
              </a:lnSpc>
              <a:spcBef>
                <a:spcPts val="1200"/>
              </a:spcBef>
              <a:spcAft>
                <a:spcPts val="0"/>
              </a:spcAft>
              <a:buClr>
                <a:schemeClr val="dk1"/>
              </a:buClr>
              <a:buSzPts val="1100"/>
              <a:buFont typeface="Arial"/>
              <a:buNone/>
            </a:pPr>
            <a:r>
              <a:rPr lang="fr-FR" sz="1100" dirty="0">
                <a:latin typeface="Arial"/>
                <a:ea typeface="Arial"/>
                <a:cs typeface="Arial"/>
                <a:sym typeface="Arial"/>
              </a:rPr>
              <a:t>le temps de réponse:</a:t>
            </a:r>
            <a:r>
              <a:rPr lang="fr-FR" dirty="0">
                <a:latin typeface="Arial"/>
                <a:ea typeface="Arial"/>
                <a:cs typeface="Arial"/>
                <a:sym typeface="Arial"/>
              </a:rPr>
              <a:t> Le temps de réponse doit être le plus court possible.</a:t>
            </a:r>
            <a:endParaRPr lang="fr-FR" sz="1100" dirty="0">
              <a:latin typeface="Arial"/>
              <a:ea typeface="Arial"/>
              <a:cs typeface="Arial"/>
              <a:sym typeface="Arial"/>
            </a:endParaRPr>
          </a:p>
          <a:p>
            <a:pPr marL="0" lvl="0" indent="0" algn="just" rtl="0">
              <a:lnSpc>
                <a:spcPct val="115000"/>
              </a:lnSpc>
              <a:spcBef>
                <a:spcPts val="1200"/>
              </a:spcBef>
              <a:spcAft>
                <a:spcPts val="0"/>
              </a:spcAft>
              <a:buClr>
                <a:schemeClr val="dk1"/>
              </a:buClr>
              <a:buSzPts val="1100"/>
              <a:buFont typeface="Arial"/>
              <a:buNone/>
            </a:pPr>
            <a:r>
              <a:rPr lang="fr-FR" sz="1100" dirty="0">
                <a:latin typeface="Arial"/>
                <a:ea typeface="Arial"/>
                <a:cs typeface="Arial"/>
                <a:sym typeface="Arial"/>
              </a:rPr>
              <a:t>la sécurité:</a:t>
            </a:r>
            <a:r>
              <a:rPr lang="fr-FR" dirty="0">
                <a:latin typeface="Arial"/>
                <a:ea typeface="Arial"/>
                <a:cs typeface="Arial"/>
                <a:sym typeface="Arial"/>
              </a:rPr>
              <a:t> il faut avoir une interface d’authentification qui oblige la confidentialité des informations des étudiants.</a:t>
            </a:r>
            <a:endParaRPr lang="fr-FR" sz="1100" dirty="0">
              <a:latin typeface="Arial"/>
              <a:ea typeface="Arial"/>
              <a:cs typeface="Arial"/>
              <a:sym typeface="Arial"/>
            </a:endParaRPr>
          </a:p>
          <a:p>
            <a:pPr marL="0" lvl="0" indent="0" algn="just" rtl="0">
              <a:lnSpc>
                <a:spcPct val="115000"/>
              </a:lnSpc>
              <a:spcBef>
                <a:spcPts val="1200"/>
              </a:spcBef>
              <a:spcAft>
                <a:spcPts val="0"/>
              </a:spcAft>
              <a:buClr>
                <a:schemeClr val="dk1"/>
              </a:buClr>
              <a:buSzPts val="1100"/>
              <a:buFont typeface="Arial"/>
              <a:buNone/>
            </a:pPr>
            <a:r>
              <a:rPr lang="fr-FR" sz="1100" dirty="0">
                <a:latin typeface="Arial"/>
                <a:ea typeface="Arial"/>
                <a:cs typeface="Arial"/>
                <a:sym typeface="Arial"/>
              </a:rPr>
              <a:t>le temps de réponse:</a:t>
            </a:r>
            <a:r>
              <a:rPr lang="fr-FR" dirty="0">
                <a:latin typeface="Arial"/>
                <a:ea typeface="Arial"/>
                <a:cs typeface="Arial"/>
                <a:sym typeface="Arial"/>
              </a:rPr>
              <a:t> Le temps de réponse doit être le plus court possible.</a:t>
            </a:r>
          </a:p>
          <a:p>
            <a:pPr marL="0" lvl="0" indent="0" algn="just" rtl="0">
              <a:lnSpc>
                <a:spcPct val="115000"/>
              </a:lnSpc>
              <a:spcBef>
                <a:spcPts val="1200"/>
              </a:spcBef>
              <a:spcAft>
                <a:spcPts val="0"/>
              </a:spcAft>
              <a:buClr>
                <a:schemeClr val="dk1"/>
              </a:buClr>
              <a:buSzPts val="1100"/>
              <a:buFont typeface="Arial"/>
              <a:buNone/>
            </a:pPr>
            <a:endParaRPr lang="fr-FR" dirty="0"/>
          </a:p>
          <a:p>
            <a:pPr marL="0" lvl="0" indent="0" algn="just" rtl="0">
              <a:lnSpc>
                <a:spcPct val="115000"/>
              </a:lnSpc>
              <a:spcBef>
                <a:spcPts val="1200"/>
              </a:spcBef>
              <a:spcAft>
                <a:spcPts val="0"/>
              </a:spcAft>
              <a:buClr>
                <a:schemeClr val="dk1"/>
              </a:buClr>
              <a:buSzPts val="1100"/>
              <a:buFont typeface="Arial"/>
              <a:buNone/>
            </a:pPr>
            <a:endParaRPr lang="fr-FR" dirty="0"/>
          </a:p>
          <a:p>
            <a:pPr marL="151365" lvl="0" indent="0" algn="l" rtl="0">
              <a:spcBef>
                <a:spcPts val="1200"/>
              </a:spcBef>
              <a:spcAft>
                <a:spcPts val="0"/>
              </a:spcAft>
              <a:buClr>
                <a:schemeClr val="dk1"/>
              </a:buClr>
              <a:buSzPts val="1200"/>
              <a:buFont typeface="Calibri"/>
              <a:buNone/>
            </a:pPr>
            <a:endParaRPr lang="fr-FR" dirty="0"/>
          </a:p>
          <a:p>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11</a:t>
            </a:fld>
            <a:endParaRPr lang="fr-FR"/>
          </a:p>
        </p:txBody>
      </p:sp>
    </p:spTree>
    <p:extLst>
      <p:ext uri="{BB962C8B-B14F-4D97-AF65-F5344CB8AC3E}">
        <p14:creationId xmlns:p14="http://schemas.microsoft.com/office/powerpoint/2010/main" val="35446413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Après la partie de spécification des besoins, on passe au diagramme de cas d'utilisation globale.</a:t>
            </a:r>
          </a:p>
          <a:p>
            <a:r>
              <a:rPr lang="fr-FR" dirty="0"/>
              <a:t>Tout d'abord nous avons 2 acteurs le client et l'administrateur.</a:t>
            </a:r>
          </a:p>
          <a:p>
            <a:r>
              <a:rPr lang="fr-FR" dirty="0"/>
              <a:t>nous avons une simple personne qu'on peut nommer un utilisateur avant l'</a:t>
            </a:r>
            <a:r>
              <a:rPr lang="fr-FR" dirty="0" err="1"/>
              <a:t>authentification,s’il</a:t>
            </a:r>
            <a:r>
              <a:rPr lang="fr-FR" dirty="0"/>
              <a:t> est connecté il peut être un administrateur ou un client . chaque acteur a des différents cas d’utilisation selon leurs différents rôles.</a:t>
            </a:r>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12</a:t>
            </a:fld>
            <a:endParaRPr lang="fr-FR"/>
          </a:p>
        </p:txBody>
      </p:sp>
    </p:spTree>
    <p:extLst>
      <p:ext uri="{BB962C8B-B14F-4D97-AF65-F5344CB8AC3E}">
        <p14:creationId xmlns:p14="http://schemas.microsoft.com/office/powerpoint/2010/main" val="18327700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figure est </a:t>
            </a:r>
            <a:r>
              <a:rPr lang="fr-HT" sz="1200" dirty="0"/>
              <a:t>une sous diagramme de cas d’utilisations</a:t>
            </a:r>
            <a:r>
              <a:rPr lang="fr-FR" dirty="0"/>
              <a:t> détaillé </a:t>
            </a:r>
            <a:r>
              <a:rPr lang="fr-FR" sz="1800" b="0" dirty="0">
                <a:effectLst/>
                <a:latin typeface="Times New Roman" panose="02020603050405020304" pitchFamily="18" charset="0"/>
                <a:ea typeface="Calibri" panose="020F0502020204030204" pitchFamily="34" charset="0"/>
              </a:rPr>
              <a:t>reliés à l’administrateur qui présente les différents taches de gestion des demandes ou il  peut  par exemple faire après l’authentification par exemple</a:t>
            </a:r>
          </a:p>
          <a:p>
            <a:r>
              <a:rPr lang="fr-FR" sz="1800" b="0" dirty="0">
                <a:effectLst/>
                <a:latin typeface="Times New Roman" panose="02020603050405020304" pitchFamily="18" charset="0"/>
              </a:rPr>
              <a:t>Ajouter demande , supprimer demande, changer le statut, proposer devis…</a:t>
            </a:r>
            <a:endParaRPr lang="fr-FR" b="0"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13</a:t>
            </a:fld>
            <a:endParaRPr lang="fr-FR"/>
          </a:p>
        </p:txBody>
      </p:sp>
    </p:spTree>
    <p:extLst>
      <p:ext uri="{BB962C8B-B14F-4D97-AF65-F5344CB8AC3E}">
        <p14:creationId xmlns:p14="http://schemas.microsoft.com/office/powerpoint/2010/main" val="2575026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figure présente aussi une sous diagramme relatif à l’administrateur mais dans  une nouvelle tache qui est la gestion des clients , l’admin peut aussi faire la gestion client ou il peut afficher une table de clients avec ses informations , il peut ajouter un client ou le supprimer mais avant que l’admin doit authentifier avec son id et son mot de passe.</a:t>
            </a:r>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14</a:t>
            </a:fld>
            <a:endParaRPr lang="fr-FR"/>
          </a:p>
        </p:txBody>
      </p:sp>
    </p:spTree>
    <p:extLst>
      <p:ext uri="{BB962C8B-B14F-4D97-AF65-F5344CB8AC3E}">
        <p14:creationId xmlns:p14="http://schemas.microsoft.com/office/powerpoint/2010/main" val="42575767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b="0" dirty="0">
                <a:solidFill>
                  <a:srgbClr val="151526"/>
                </a:solidFill>
                <a:effectLst/>
                <a:latin typeface="Roboto" panose="02000000000000000000" pitchFamily="2" charset="0"/>
              </a:rPr>
              <a:t>Maintenant on passe </a:t>
            </a:r>
            <a:r>
              <a:rPr lang="fr-FR" b="0" dirty="0">
                <a:solidFill>
                  <a:srgbClr val="0970AC"/>
                </a:solidFill>
                <a:effectLst/>
                <a:latin typeface="Roboto" panose="02000000000000000000" pitchFamily="2" charset="0"/>
              </a:rPr>
              <a:t>à</a:t>
            </a:r>
            <a:r>
              <a:rPr lang="fr-FR" b="0" dirty="0">
                <a:solidFill>
                  <a:srgbClr val="151526"/>
                </a:solidFill>
                <a:effectLst/>
                <a:latin typeface="Roboto" panose="02000000000000000000" pitchFamily="2" charset="0"/>
              </a:rPr>
              <a:t> une </a:t>
            </a:r>
            <a:r>
              <a:rPr lang="fr-FR" b="0" dirty="0">
                <a:solidFill>
                  <a:srgbClr val="0970AC"/>
                </a:solidFill>
                <a:effectLst/>
                <a:latin typeface="Roboto" panose="02000000000000000000" pitchFamily="2" charset="0"/>
              </a:rPr>
              <a:t>sous-diagramme</a:t>
            </a:r>
            <a:r>
              <a:rPr lang="fr-FR" b="0" dirty="0">
                <a:solidFill>
                  <a:srgbClr val="151526"/>
                </a:solidFill>
                <a:effectLst/>
                <a:latin typeface="Roboto" panose="02000000000000000000" pitchFamily="2" charset="0"/>
              </a:rPr>
              <a:t> mais cette fois-ci relatif </a:t>
            </a:r>
            <a:r>
              <a:rPr lang="fr-FR" b="0" dirty="0">
                <a:solidFill>
                  <a:srgbClr val="0970AC"/>
                </a:solidFill>
                <a:effectLst/>
                <a:latin typeface="Roboto" panose="02000000000000000000" pitchFamily="2" charset="0"/>
              </a:rPr>
              <a:t>au</a:t>
            </a:r>
            <a:r>
              <a:rPr lang="fr-FR" b="0" dirty="0">
                <a:solidFill>
                  <a:srgbClr val="151526"/>
                </a:solidFill>
                <a:effectLst/>
                <a:latin typeface="Roboto" panose="02000000000000000000" pitchFamily="2" charset="0"/>
              </a:rPr>
              <a:t> client qui présente </a:t>
            </a:r>
            <a:r>
              <a:rPr lang="fr-FR" b="0" dirty="0">
                <a:solidFill>
                  <a:srgbClr val="0970AC"/>
                </a:solidFill>
                <a:effectLst/>
                <a:latin typeface="Roboto" panose="02000000000000000000" pitchFamily="2" charset="0"/>
              </a:rPr>
              <a:t>un cas</a:t>
            </a:r>
            <a:r>
              <a:rPr lang="fr-FR" b="0" dirty="0">
                <a:solidFill>
                  <a:srgbClr val="151526"/>
                </a:solidFill>
                <a:effectLst/>
                <a:latin typeface="Roboto" panose="02000000000000000000" pitchFamily="2" charset="0"/>
              </a:rPr>
              <a:t> d’utilisation d’ajouter une demande ou le client après l’inscription et connexion il peut ajouter une demande ou il reçoit un email de vérification de la demande qui permet de valider sa demande et de suivre le statut qui compose d’une demande approuvée ou le client peut prendre un rendez-vous pour disposer les échantillons , </a:t>
            </a:r>
            <a:r>
              <a:rPr lang="fr-FR" b="0" dirty="0">
                <a:solidFill>
                  <a:srgbClr val="0970AC"/>
                </a:solidFill>
                <a:effectLst/>
                <a:latin typeface="Roboto" panose="02000000000000000000" pitchFamily="2" charset="0"/>
              </a:rPr>
              <a:t>échantillon reçu et payé</a:t>
            </a:r>
            <a:r>
              <a:rPr lang="fr-FR" b="0" dirty="0">
                <a:solidFill>
                  <a:srgbClr val="CCCCCC"/>
                </a:solidFill>
                <a:effectLst/>
                <a:latin typeface="Roboto" panose="02000000000000000000" pitchFamily="2" charset="0"/>
              </a:rPr>
              <a:t>. </a:t>
            </a:r>
            <a:endParaRPr lang="fr-FR" b="0" dirty="0">
              <a:solidFill>
                <a:srgbClr val="151526"/>
              </a:solidFill>
              <a:effectLst/>
              <a:latin typeface="Roboto" panose="02000000000000000000" pitchFamily="2" charset="0"/>
            </a:endParaRPr>
          </a:p>
          <a:p>
            <a:pPr fontAlgn="t"/>
            <a:r>
              <a:rPr lang="fr-FR" b="0" dirty="0">
                <a:effectLst/>
                <a:latin typeface="Roboto" panose="02000000000000000000" pitchFamily="2" charset="0"/>
              </a:rPr>
              <a:t/>
            </a:r>
            <a:br>
              <a:rPr lang="fr-FR" b="0" dirty="0">
                <a:effectLst/>
                <a:latin typeface="Roboto" panose="02000000000000000000" pitchFamily="2" charset="0"/>
              </a:rPr>
            </a:br>
            <a:endParaRPr lang="fr-FR" b="0" dirty="0">
              <a:effectLst/>
              <a:latin typeface="Roboto" panose="02000000000000000000" pitchFamily="2" charset="0"/>
            </a:endParaRPr>
          </a:p>
          <a:p>
            <a:r>
              <a:rPr lang="fr-FR" b="0" dirty="0">
                <a:effectLst/>
                <a:latin typeface="Roboto" panose="02000000000000000000" pitchFamily="2" charset="0"/>
              </a:rPr>
              <a:t/>
            </a:r>
            <a:br>
              <a:rPr lang="fr-FR" b="0" dirty="0">
                <a:effectLst/>
                <a:latin typeface="Roboto" panose="02000000000000000000" pitchFamily="2" charset="0"/>
              </a:rPr>
            </a:b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15</a:t>
            </a:fld>
            <a:endParaRPr lang="fr-FR"/>
          </a:p>
        </p:txBody>
      </p:sp>
    </p:spTree>
    <p:extLst>
      <p:ext uri="{BB962C8B-B14F-4D97-AF65-F5344CB8AC3E}">
        <p14:creationId xmlns:p14="http://schemas.microsoft.com/office/powerpoint/2010/main" val="15470736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51364" lvl="0" indent="0" algn="l" rtl="0">
              <a:spcBef>
                <a:spcPts val="0"/>
              </a:spcBef>
              <a:spcAft>
                <a:spcPts val="0"/>
              </a:spcAft>
              <a:buClr>
                <a:schemeClr val="dk1"/>
              </a:buClr>
              <a:buSzPts val="1200"/>
              <a:buFont typeface="Calibri"/>
              <a:buNone/>
            </a:pPr>
            <a:r>
              <a:rPr lang="fr-FR" sz="1200" dirty="0">
                <a:latin typeface="Arial"/>
                <a:ea typeface="Arial"/>
                <a:cs typeface="Arial"/>
                <a:sym typeface="Arial"/>
              </a:rPr>
              <a:t> Dans cette partie, nous allons présenter les interactions des objets du système par des diagrammes de séquence</a:t>
            </a:r>
          </a:p>
          <a:p>
            <a:pPr marL="152400" lvl="0" indent="0" algn="l" rtl="0">
              <a:lnSpc>
                <a:spcPct val="115000"/>
              </a:lnSpc>
              <a:spcBef>
                <a:spcPts val="0"/>
              </a:spcBef>
              <a:spcAft>
                <a:spcPts val="0"/>
              </a:spcAft>
              <a:buClr>
                <a:schemeClr val="dk1"/>
              </a:buClr>
              <a:buSzPts val="1100"/>
              <a:buFont typeface="Arial"/>
              <a:buNone/>
            </a:pPr>
            <a:r>
              <a:rPr lang="fr-FR" sz="1200" dirty="0">
                <a:latin typeface="Arial"/>
                <a:ea typeface="Arial"/>
                <a:cs typeface="Arial"/>
                <a:sym typeface="Arial"/>
              </a:rPr>
              <a:t>En commençant par  le cas “Authentifier”:</a:t>
            </a:r>
          </a:p>
          <a:p>
            <a:pPr algn="just">
              <a:lnSpc>
                <a:spcPct val="150000"/>
              </a:lnSpc>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Quand l’utilisateur veut accéder à un système d’informations qui oblige authentification, l’utilisateur doit obligatoirement apporter la preuve de son identité qui contient du login (nom d’utilisateur par exemple) et le mot de passe. Si les informations d’authentification saisies correctement, la page d’accueil est ouverte sinon un message d’erreur d’affiche. </a:t>
            </a:r>
            <a:endParaRPr lang="fr-FR" sz="1800" dirty="0">
              <a:effectLst/>
              <a:latin typeface="Times New Roman" panose="02020603050405020304" pitchFamily="18" charset="0"/>
              <a:ea typeface="Calibri" panose="020F0502020204030204" pitchFamily="34" charset="0"/>
            </a:endParaRPr>
          </a:p>
          <a:p>
            <a:pPr marL="152400" lvl="0" indent="0" algn="l" rtl="0">
              <a:lnSpc>
                <a:spcPct val="115000"/>
              </a:lnSpc>
              <a:spcBef>
                <a:spcPts val="0"/>
              </a:spcBef>
              <a:spcAft>
                <a:spcPts val="0"/>
              </a:spcAft>
              <a:buClr>
                <a:schemeClr val="dk1"/>
              </a:buClr>
              <a:buSzPts val="1100"/>
              <a:buFont typeface="Arial"/>
              <a:buNone/>
            </a:pP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16</a:t>
            </a:fld>
            <a:endParaRPr lang="fr-FR"/>
          </a:p>
        </p:txBody>
      </p:sp>
    </p:spTree>
    <p:extLst>
      <p:ext uri="{BB962C8B-B14F-4D97-AF65-F5344CB8AC3E}">
        <p14:creationId xmlns:p14="http://schemas.microsoft.com/office/powerpoint/2010/main" val="40583826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effectLst/>
                <a:latin typeface="Times New Roman" panose="02020603050405020304" pitchFamily="18" charset="0"/>
                <a:ea typeface="Calibri" panose="020F0502020204030204" pitchFamily="34" charset="0"/>
                <a:cs typeface="Times New Roman" panose="02020603050405020304" pitchFamily="18" charset="0"/>
              </a:rPr>
              <a:t> dans la deuxième diagramme de séquence Il s’agit d’ajouter une demande d’analyse d’un échantillon et qui est effectuée par le client après le succès de l’authentification. Pour cela, le client doit remplir un formulaire et si les données du formulaire ne sont pas complétées, automatiquement le site indique qu'il y a une erreur sinon l'opération d’ajout d’une demande est effectuée avec succès.</a:t>
            </a:r>
            <a:endParaRPr lang="fr-FR" sz="1200" dirty="0">
              <a:effectLst/>
              <a:latin typeface="Times New Roman" panose="02020603050405020304" pitchFamily="18" charset="0"/>
              <a:ea typeface="Calibri" panose="020F0502020204030204" pitchFamily="34" charset="0"/>
            </a:endParaRPr>
          </a:p>
          <a:p>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17</a:t>
            </a:fld>
            <a:endParaRPr lang="fr-FR"/>
          </a:p>
        </p:txBody>
      </p:sp>
    </p:spTree>
    <p:extLst>
      <p:ext uri="{BB962C8B-B14F-4D97-AF65-F5344CB8AC3E}">
        <p14:creationId xmlns:p14="http://schemas.microsoft.com/office/powerpoint/2010/main" val="17839976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le cas du facturation: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Times New Roman" panose="02020603050405020304" pitchFamily="18" charset="0"/>
                <a:ea typeface="Calibri" panose="020F0502020204030204" pitchFamily="34" charset="0"/>
              </a:rPr>
              <a:t>Quand la demande d’analyse est validée et réalisée et que les résultats sont obtenus, ces derniers peut être consultés par le client. Une facture est alors envoyée au client lui permettant de consulter le montant de sa commande d’analyse.</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Ceci s’effectue selon des étapes: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Admin change le statut de la demande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Client reçoit une notification de changement de statut.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    Admin saisit le résultat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Le client a le doit d’imprimer ce résultat.</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Le système calcule la facture automatiquement.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Si le client paye la facture l’admin change le statut a clôturée sinon la demande est annulée .</a:t>
            </a:r>
            <a:endParaRPr lang="fr-FR" sz="1800" dirty="0">
              <a:effectLst/>
              <a:latin typeface="Times New Roman" panose="02020603050405020304" pitchFamily="18" charset="0"/>
              <a:ea typeface="Calibri" panose="020F0502020204030204" pitchFamily="34" charset="0"/>
            </a:endParaRPr>
          </a:p>
          <a:p>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18</a:t>
            </a:fld>
            <a:endParaRPr lang="fr-FR"/>
          </a:p>
        </p:txBody>
      </p:sp>
    </p:spTree>
    <p:extLst>
      <p:ext uri="{BB962C8B-B14F-4D97-AF65-F5344CB8AC3E}">
        <p14:creationId xmlns:p14="http://schemas.microsoft.com/office/powerpoint/2010/main" val="19985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HT" sz="1200" dirty="0"/>
              <a:t>Nous avons ensuite établie le diagramme de classes, afin de représenter </a:t>
            </a:r>
            <a:r>
              <a:rPr lang="fr-FR" sz="1200" dirty="0"/>
              <a:t>la structure interne de notre plateforme, tout en définissant les différentes classes et les associations en elles. </a:t>
            </a:r>
          </a:p>
          <a:p>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19</a:t>
            </a:fld>
            <a:endParaRPr lang="fr-FR"/>
          </a:p>
        </p:txBody>
      </p:sp>
    </p:spTree>
    <p:extLst>
      <p:ext uri="{BB962C8B-B14F-4D97-AF65-F5344CB8AC3E}">
        <p14:creationId xmlns:p14="http://schemas.microsoft.com/office/powerpoint/2010/main" val="8788412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Je passe maintenant à la présentation des différents outils et technologies utilisés</a:t>
            </a:r>
          </a:p>
          <a:p>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20</a:t>
            </a:fld>
            <a:endParaRPr lang="fr-FR"/>
          </a:p>
        </p:txBody>
      </p:sp>
    </p:spTree>
    <p:extLst>
      <p:ext uri="{BB962C8B-B14F-4D97-AF65-F5344CB8AC3E}">
        <p14:creationId xmlns:p14="http://schemas.microsoft.com/office/powerpoint/2010/main" val="31414687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les langages de développement on a utilisé :</a:t>
            </a:r>
          </a:p>
          <a:p>
            <a:r>
              <a:rPr lang="fr-FR" b="1" dirty="0">
                <a:solidFill>
                  <a:srgbClr val="FF0000"/>
                </a:solidFill>
                <a:highlight>
                  <a:srgbClr val="FF0000"/>
                </a:highlight>
              </a:rPr>
              <a:t>PHP: </a:t>
            </a:r>
            <a:r>
              <a:rPr lang="fr-FR" sz="1800" spc="-30" dirty="0">
                <a:solidFill>
                  <a:srgbClr val="000000"/>
                </a:solidFill>
                <a:effectLst/>
                <a:latin typeface="Times New Roman" panose="02020603050405020304" pitchFamily="18" charset="0"/>
                <a:ea typeface="Calibri" panose="020F0502020204030204" pitchFamily="34" charset="0"/>
              </a:rPr>
              <a:t>pour la conception de sites web dynamiques. Il s'agit d'un langage de programmation sous licence libre qui peut donc être utilisé par n'importe qui de façon totalement gratuite.</a:t>
            </a:r>
          </a:p>
          <a:p>
            <a:r>
              <a:rPr lang="fr-FR" sz="1800" b="1" spc="-30" dirty="0">
                <a:solidFill>
                  <a:srgbClr val="000000"/>
                </a:solidFill>
                <a:effectLst/>
                <a:highlight>
                  <a:srgbClr val="FF0000"/>
                </a:highlight>
                <a:latin typeface="Times New Roman" panose="02020603050405020304" pitchFamily="18" charset="0"/>
              </a:rPr>
              <a:t>JS: </a:t>
            </a:r>
            <a:r>
              <a:rPr lang="fr-FR" sz="1800" spc="-30" dirty="0">
                <a:solidFill>
                  <a:srgbClr val="000000"/>
                </a:solidFill>
                <a:effectLst/>
                <a:latin typeface="Times New Roman" panose="02020603050405020304" pitchFamily="18" charset="0"/>
                <a:ea typeface="Calibri" panose="020F0502020204030204" pitchFamily="34" charset="0"/>
              </a:rPr>
              <a:t>Il s’agit d’un langage de programmation script son rôle est de travailler l’ergonomie et l’interactivité des pages web pour apporter une meilleure expérience utilisateur. </a:t>
            </a:r>
          </a:p>
          <a:p>
            <a:r>
              <a:rPr lang="fr-FR" sz="1800" b="1" u="none" spc="-30" dirty="0">
                <a:solidFill>
                  <a:schemeClr val="tx1"/>
                </a:solidFill>
                <a:effectLst/>
                <a:highlight>
                  <a:srgbClr val="FF0000"/>
                </a:highlight>
                <a:latin typeface="Times New Roman" panose="02020603050405020304" pitchFamily="18" charset="0"/>
              </a:rPr>
              <a:t>TS: </a:t>
            </a:r>
            <a:r>
              <a:rPr lang="fr-FR" sz="1800" u="none" spc="-30" dirty="0">
                <a:solidFill>
                  <a:schemeClr val="tx1"/>
                </a:solidFill>
                <a:effectLst/>
                <a:latin typeface="Times New Roman" panose="02020603050405020304" pitchFamily="18" charset="0"/>
                <a:ea typeface="Calibri" panose="020F0502020204030204" pitchFamily="34" charset="0"/>
              </a:rPr>
              <a:t>un </a:t>
            </a:r>
            <a:r>
              <a:rPr lang="fr-FR" sz="1800" u="none" strike="noStrike" spc="-30" dirty="0">
                <a:solidFill>
                  <a:schemeClr val="tx1"/>
                </a:solidFill>
                <a:effectLst/>
                <a:latin typeface="Times New Roman" panose="02020603050405020304" pitchFamily="18" charset="0"/>
                <a:ea typeface="Calibri" panose="020F0502020204030204" pitchFamily="34" charset="0"/>
              </a:rPr>
              <a:t>langage de programmation libre </a:t>
            </a:r>
            <a:r>
              <a:rPr lang="fr-FR" sz="1800" u="none" spc="-30" dirty="0">
                <a:solidFill>
                  <a:schemeClr val="tx1"/>
                </a:solidFill>
                <a:effectLst/>
                <a:latin typeface="Times New Roman" panose="02020603050405020304" pitchFamily="18" charset="0"/>
                <a:ea typeface="Calibri" panose="020F0502020204030204" pitchFamily="34" charset="0"/>
              </a:rPr>
              <a:t>et </a:t>
            </a:r>
            <a:r>
              <a:rPr lang="fr-FR" sz="1800" u="none" strike="noStrike" spc="-30" dirty="0">
                <a:solidFill>
                  <a:schemeClr val="tx1"/>
                </a:solidFill>
                <a:effectLst/>
                <a:latin typeface="Times New Roman" panose="02020603050405020304" pitchFamily="18" charset="0"/>
                <a:ea typeface="Calibri" panose="020F0502020204030204" pitchFamily="34" charset="0"/>
              </a:rPr>
              <a:t>open source </a:t>
            </a:r>
            <a:r>
              <a:rPr lang="fr-FR" sz="1800" u="none" spc="-30" dirty="0">
                <a:solidFill>
                  <a:schemeClr val="tx1"/>
                </a:solidFill>
                <a:effectLst/>
                <a:latin typeface="Times New Roman" panose="02020603050405020304" pitchFamily="18" charset="0"/>
                <a:ea typeface="Calibri" panose="020F0502020204030204" pitchFamily="34" charset="0"/>
              </a:rPr>
              <a:t> développé par </a:t>
            </a:r>
            <a:r>
              <a:rPr lang="fr-FR" sz="1800" u="none" strike="noStrike" spc="-30" dirty="0">
                <a:solidFill>
                  <a:schemeClr val="tx1"/>
                </a:solidFill>
                <a:effectLst/>
                <a:latin typeface="Times New Roman" panose="02020603050405020304" pitchFamily="18" charset="0"/>
                <a:ea typeface="Calibri" panose="020F0502020204030204" pitchFamily="34" charset="0"/>
              </a:rPr>
              <a:t>Microsoft</a:t>
            </a:r>
            <a:r>
              <a:rPr lang="fr-FR" sz="1800" u="none" spc="-30" dirty="0">
                <a:solidFill>
                  <a:schemeClr val="tx1"/>
                </a:solidFill>
                <a:effectLst/>
                <a:latin typeface="Times New Roman" panose="02020603050405020304" pitchFamily="18" charset="0"/>
                <a:ea typeface="Calibri" panose="020F0502020204030204" pitchFamily="34" charset="0"/>
              </a:rPr>
              <a:t> qui a pour but d'améliorer et de sécuriser la production de code </a:t>
            </a:r>
            <a:r>
              <a:rPr lang="fr-FR" sz="1800" u="none" strike="noStrike" spc="-30" dirty="0">
                <a:solidFill>
                  <a:schemeClr val="tx1"/>
                </a:solidFill>
                <a:effectLst/>
                <a:latin typeface="Times New Roman" panose="02020603050405020304" pitchFamily="18" charset="0"/>
                <a:ea typeface="Calibri" panose="020F0502020204030204" pitchFamily="34" charset="0"/>
              </a:rPr>
              <a:t>JavaScript</a:t>
            </a:r>
            <a:r>
              <a:rPr lang="fr-FR" sz="1800" u="none" spc="-30" dirty="0">
                <a:solidFill>
                  <a:schemeClr val="tx1"/>
                </a:solidFill>
                <a:effectLst/>
                <a:latin typeface="Times New Roman" panose="02020603050405020304" pitchFamily="18" charset="0"/>
                <a:ea typeface="Calibri" panose="020F0502020204030204" pitchFamily="34" charset="0"/>
              </a:rPr>
              <a:t>. Il s'agit d'un sur-ensemble syntaxique strict de JavaScript (c'est-à-dire que tout code JavaScript correct peut être utilisé avec TypeScript).</a:t>
            </a:r>
          </a:p>
          <a:p>
            <a:pPr marL="152400" lvl="0" indent="0" algn="l" rtl="0">
              <a:lnSpc>
                <a:spcPct val="115000"/>
              </a:lnSpc>
              <a:spcBef>
                <a:spcPts val="0"/>
              </a:spcBef>
              <a:spcAft>
                <a:spcPts val="0"/>
              </a:spcAft>
              <a:buClr>
                <a:schemeClr val="dk1"/>
              </a:buClr>
              <a:buSzPts val="1100"/>
              <a:buFont typeface="Arial"/>
              <a:buNone/>
            </a:pPr>
            <a:r>
              <a:rPr lang="fr-FR" sz="1800" dirty="0">
                <a:latin typeface="Arial"/>
                <a:ea typeface="Arial"/>
                <a:cs typeface="Arial"/>
                <a:sym typeface="Arial"/>
              </a:rPr>
              <a:t>Pour le système de gestion de base de données nous avons utilisé </a:t>
            </a:r>
            <a:r>
              <a:rPr lang="fr-FR" sz="1800" b="1" dirty="0">
                <a:latin typeface="Arial"/>
                <a:ea typeface="Arial"/>
                <a:cs typeface="Arial"/>
                <a:sym typeface="Arial"/>
              </a:rPr>
              <a:t>MySQL</a:t>
            </a:r>
            <a:r>
              <a:rPr lang="fr-FR" sz="1800" dirty="0">
                <a:latin typeface="Arial"/>
                <a:ea typeface="Arial"/>
                <a:cs typeface="Arial"/>
                <a:sym typeface="Arial"/>
              </a:rPr>
              <a:t> qui e</a:t>
            </a:r>
            <a:r>
              <a:rPr lang="fr-FR" sz="1800" dirty="0">
                <a:solidFill>
                  <a:srgbClr val="202124"/>
                </a:solidFill>
                <a:highlight>
                  <a:srgbClr val="FFFFFF"/>
                </a:highlight>
                <a:latin typeface="Arial"/>
                <a:ea typeface="Arial"/>
                <a:cs typeface="Arial"/>
                <a:sym typeface="Arial"/>
              </a:rPr>
              <a:t>st la base de données open source la plus populaire au monde</a:t>
            </a:r>
            <a:endParaRPr lang="fr-FR" sz="1800" dirty="0">
              <a:latin typeface="Arial"/>
              <a:ea typeface="Arial"/>
              <a:cs typeface="Arial"/>
              <a:sym typeface="Arial"/>
            </a:endParaRPr>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21</a:t>
            </a:fld>
            <a:endParaRPr lang="fr-FR"/>
          </a:p>
        </p:txBody>
      </p:sp>
    </p:spTree>
    <p:extLst>
      <p:ext uri="{BB962C8B-B14F-4D97-AF65-F5344CB8AC3E}">
        <p14:creationId xmlns:p14="http://schemas.microsoft.com/office/powerpoint/2010/main" val="18223399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les langages de design on a utilisé HTML et CSS</a:t>
            </a:r>
          </a:p>
          <a:p>
            <a:endParaRPr lang="fr-FR" b="1"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22</a:t>
            </a:fld>
            <a:endParaRPr lang="fr-FR"/>
          </a:p>
        </p:txBody>
      </p:sp>
    </p:spTree>
    <p:extLst>
      <p:ext uri="{BB962C8B-B14F-4D97-AF65-F5344CB8AC3E}">
        <p14:creationId xmlns:p14="http://schemas.microsoft.com/office/powerpoint/2010/main" val="36490860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les Framework on a utilisé le Framework du type script qui est Angular et le Framework du CSS qui est Bootstrap.</a:t>
            </a:r>
          </a:p>
          <a:p>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23</a:t>
            </a:fld>
            <a:endParaRPr lang="fr-FR"/>
          </a:p>
        </p:txBody>
      </p:sp>
    </p:spTree>
    <p:extLst>
      <p:ext uri="{BB962C8B-B14F-4D97-AF65-F5344CB8AC3E}">
        <p14:creationId xmlns:p14="http://schemas.microsoft.com/office/powerpoint/2010/main" val="34670175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52400" lvl="0" indent="0" algn="l" rtl="0">
              <a:lnSpc>
                <a:spcPct val="115000"/>
              </a:lnSpc>
              <a:spcBef>
                <a:spcPts val="0"/>
              </a:spcBef>
              <a:spcAft>
                <a:spcPts val="0"/>
              </a:spcAft>
              <a:buClr>
                <a:schemeClr val="dk1"/>
              </a:buClr>
              <a:buSzPts val="1100"/>
              <a:buFont typeface="Arial"/>
              <a:buNone/>
            </a:pPr>
            <a:r>
              <a:rPr lang="fr-FR" sz="1200" dirty="0">
                <a:latin typeface="Arial"/>
                <a:ea typeface="Arial"/>
                <a:cs typeface="Arial"/>
                <a:sym typeface="Arial"/>
              </a:rPr>
              <a:t>dans cette partie nous allons présenter  l'environnement logiciel</a:t>
            </a:r>
          </a:p>
          <a:p>
            <a:pPr marL="152400" lvl="0" indent="0" algn="l" rtl="0">
              <a:lnSpc>
                <a:spcPct val="115000"/>
              </a:lnSpc>
              <a:spcBef>
                <a:spcPts val="0"/>
              </a:spcBef>
              <a:spcAft>
                <a:spcPts val="0"/>
              </a:spcAft>
              <a:buClr>
                <a:schemeClr val="dk1"/>
              </a:buClr>
              <a:buSzPts val="1100"/>
              <a:buFont typeface="Arial"/>
              <a:buNone/>
            </a:pPr>
            <a:r>
              <a:rPr lang="fr-FR" sz="1200" dirty="0">
                <a:latin typeface="Arial"/>
                <a:ea typeface="Arial"/>
                <a:cs typeface="Arial"/>
                <a:sym typeface="Arial"/>
              </a:rPr>
              <a:t>nous  avons  utilisé plusieurs environnement  :</a:t>
            </a:r>
          </a:p>
          <a:p>
            <a:pPr marL="152400" lvl="0" indent="0" algn="l" rtl="0">
              <a:lnSpc>
                <a:spcPct val="115000"/>
              </a:lnSpc>
              <a:spcBef>
                <a:spcPts val="0"/>
              </a:spcBef>
              <a:spcAft>
                <a:spcPts val="0"/>
              </a:spcAft>
              <a:buClr>
                <a:schemeClr val="dk1"/>
              </a:buClr>
              <a:buSzPts val="1100"/>
              <a:buFont typeface="Arial"/>
              <a:buNone/>
            </a:pPr>
            <a:r>
              <a:rPr lang="fr-FR" sz="1600" dirty="0">
                <a:latin typeface="Arial"/>
                <a:ea typeface="Arial"/>
                <a:cs typeface="Arial"/>
                <a:sym typeface="Arial"/>
              </a:rPr>
              <a:t>Xampp </a:t>
            </a:r>
            <a:r>
              <a:rPr lang="fr-FR" sz="1400" dirty="0">
                <a:solidFill>
                  <a:srgbClr val="202122"/>
                </a:solidFill>
                <a:highlight>
                  <a:srgbClr val="FFFFFF"/>
                </a:highlight>
                <a:latin typeface="Arial"/>
                <a:ea typeface="Arial"/>
                <a:cs typeface="Arial"/>
                <a:sym typeface="Arial"/>
              </a:rPr>
              <a:t>permet de configurer un serveur de test local avant la mise en œuvre d'un site Web</a:t>
            </a:r>
          </a:p>
          <a:p>
            <a:pPr marL="152400" lvl="0" indent="0" algn="l" rtl="0">
              <a:lnSpc>
                <a:spcPct val="115000"/>
              </a:lnSpc>
              <a:spcBef>
                <a:spcPts val="0"/>
              </a:spcBef>
              <a:spcAft>
                <a:spcPts val="0"/>
              </a:spcAft>
              <a:buClr>
                <a:schemeClr val="dk1"/>
              </a:buClr>
              <a:buSzPts val="1100"/>
              <a:buFont typeface="Arial"/>
              <a:buNone/>
            </a:pPr>
            <a:r>
              <a:rPr lang="fr-FR" sz="1200" dirty="0">
                <a:latin typeface="Arial"/>
                <a:ea typeface="Arial"/>
                <a:cs typeface="Arial"/>
                <a:sym typeface="Arial"/>
              </a:rPr>
              <a:t>ainsi  Visual Studio Code qui est un éditeur de code extensible, </a:t>
            </a:r>
            <a:r>
              <a:rPr lang="fr-FR" dirty="0">
                <a:latin typeface="Arial"/>
                <a:ea typeface="Arial"/>
                <a:cs typeface="Arial"/>
                <a:sym typeface="Arial"/>
              </a:rPr>
              <a:t>il offre une certaine légèreté et facilité pendant le codage.</a:t>
            </a:r>
          </a:p>
          <a:p>
            <a:pPr marL="152400" lvl="0" indent="0" algn="l" rtl="0">
              <a:lnSpc>
                <a:spcPct val="115000"/>
              </a:lnSpc>
              <a:spcBef>
                <a:spcPts val="0"/>
              </a:spcBef>
              <a:spcAft>
                <a:spcPts val="0"/>
              </a:spcAft>
              <a:buClr>
                <a:schemeClr val="dk1"/>
              </a:buClr>
              <a:buSzPts val="1100"/>
              <a:buFont typeface="Arial"/>
              <a:buNone/>
            </a:pPr>
            <a:r>
              <a:rPr lang="fr-FR" sz="1200" dirty="0">
                <a:solidFill>
                  <a:srgbClr val="202124"/>
                </a:solidFill>
                <a:highlight>
                  <a:srgbClr val="FFFFFF"/>
                </a:highlight>
                <a:latin typeface="Arial"/>
                <a:ea typeface="Arial"/>
                <a:cs typeface="Arial"/>
                <a:sym typeface="Arial"/>
              </a:rPr>
              <a:t>phpMyAdmin est un outil qui nous permet de visualiser rapidement l'état de notre base de données et de la modifier, </a:t>
            </a:r>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24</a:t>
            </a:fld>
            <a:endParaRPr lang="fr-FR"/>
          </a:p>
        </p:txBody>
      </p:sp>
    </p:spTree>
    <p:extLst>
      <p:ext uri="{BB962C8B-B14F-4D97-AF65-F5344CB8AC3E}">
        <p14:creationId xmlns:p14="http://schemas.microsoft.com/office/powerpoint/2010/main" val="16348781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25</a:t>
            </a:fld>
            <a:endParaRPr lang="fr-FR"/>
          </a:p>
        </p:txBody>
      </p:sp>
    </p:spTree>
    <p:extLst>
      <p:ext uri="{BB962C8B-B14F-4D97-AF65-F5344CB8AC3E}">
        <p14:creationId xmlns:p14="http://schemas.microsoft.com/office/powerpoint/2010/main" val="16843624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Je passe maintenant à la présentation de</a:t>
            </a:r>
            <a:r>
              <a:rPr lang="fr-FR" baseline="0" dirty="0"/>
              <a:t> quelques interfaces de notre </a:t>
            </a:r>
            <a:r>
              <a:rPr lang="fr-FR" baseline="0" dirty="0" err="1"/>
              <a:t>platforme</a:t>
            </a:r>
            <a:r>
              <a:rPr lang="fr-FR" baseline="0" dirty="0"/>
              <a:t>, vu le temps limité, je les présenterai très brièvement et je donnerai plus d’explication sur la vidéo de la simulation.</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26</a:t>
            </a:fld>
            <a:endParaRPr lang="fr-FR"/>
          </a:p>
        </p:txBody>
      </p:sp>
    </p:spTree>
    <p:extLst>
      <p:ext uri="{BB962C8B-B14F-4D97-AF65-F5344CB8AC3E}">
        <p14:creationId xmlns:p14="http://schemas.microsoft.com/office/powerpoint/2010/main" val="5345407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solidFill>
                  <a:srgbClr val="000000"/>
                </a:solidFill>
                <a:effectLst/>
                <a:latin typeface="Times New Roman" panose="02020603050405020304" pitchFamily="18" charset="0"/>
                <a:ea typeface="Calibri" panose="020F0502020204030204" pitchFamily="34" charset="0"/>
              </a:rPr>
              <a:t>La figure ci-dessus présente la page d'accueil de notre plateforme. Elle donne l’accès à l’utilisateur aux différentes fonctionnalités de notre plateforme, tel que l’accès à la page d’authentification </a:t>
            </a: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27</a:t>
            </a:fld>
            <a:endParaRPr lang="fr-FR"/>
          </a:p>
        </p:txBody>
      </p:sp>
    </p:spTree>
    <p:extLst>
      <p:ext uri="{BB962C8B-B14F-4D97-AF65-F5344CB8AC3E}">
        <p14:creationId xmlns:p14="http://schemas.microsoft.com/office/powerpoint/2010/main" val="22029105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solidFill>
                  <a:srgbClr val="000000"/>
                </a:solidFill>
                <a:effectLst/>
                <a:latin typeface="Times New Roman" panose="02020603050405020304" pitchFamily="18" charset="0"/>
                <a:ea typeface="Calibri" panose="020F0502020204030204" pitchFamily="34" charset="0"/>
              </a:rPr>
              <a:t>La figure ci-dessus présente la page d'accueil de notre plateforme. Ou vous trouvez les informations sur les différents appareils et le matériel utilisé pour l’analyse des échantillons.</a:t>
            </a:r>
          </a:p>
          <a:p>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28</a:t>
            </a:fld>
            <a:endParaRPr lang="fr-FR"/>
          </a:p>
        </p:txBody>
      </p:sp>
    </p:spTree>
    <p:extLst>
      <p:ext uri="{BB962C8B-B14F-4D97-AF65-F5344CB8AC3E}">
        <p14:creationId xmlns:p14="http://schemas.microsoft.com/office/powerpoint/2010/main" val="11994133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spcAft>
                <a:spcPts val="1200"/>
              </a:spcAft>
            </a:pPr>
            <a:r>
              <a:rPr lang="fr-FR"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 figure ci-dessus présente la page ou il y’a les informations du centre de gestion des commandes.</a:t>
            </a: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29</a:t>
            </a:fld>
            <a:endParaRPr lang="fr-FR"/>
          </a:p>
        </p:txBody>
      </p:sp>
    </p:spTree>
    <p:extLst>
      <p:ext uri="{BB962C8B-B14F-4D97-AF65-F5344CB8AC3E}">
        <p14:creationId xmlns:p14="http://schemas.microsoft.com/office/powerpoint/2010/main" val="22661838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1200"/>
              </a:spcAft>
              <a:buClrTx/>
              <a:buSzTx/>
              <a:buFontTx/>
              <a:buNone/>
              <a:tabLst/>
              <a:defRPr/>
            </a:pPr>
            <a:r>
              <a:rPr lang="fr-FR" sz="1800">
                <a:solidFill>
                  <a:srgbClr val="000000"/>
                </a:solidFill>
                <a:effectLst/>
                <a:latin typeface="Times New Roman" panose="02020603050405020304" pitchFamily="18" charset="0"/>
                <a:ea typeface="Calibri" panose="020F0502020204030204" pitchFamily="34" charset="0"/>
              </a:rPr>
              <a:t>La figure ci-dessus présente la page d’inscription du client.</a:t>
            </a:r>
            <a:endParaRPr lang="fr-FR" sz="1800">
              <a:effectLst/>
              <a:latin typeface="Times New Roman" panose="02020603050405020304" pitchFamily="18" charset="0"/>
              <a:ea typeface="Calibri" panose="020F0502020204030204" pitchFamily="34" charset="0"/>
            </a:endParaRPr>
          </a:p>
          <a:p>
            <a:pPr algn="just">
              <a:lnSpc>
                <a:spcPct val="150000"/>
              </a:lnSpc>
              <a:spcAft>
                <a:spcPts val="1200"/>
              </a:spcAft>
            </a:pP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30</a:t>
            </a:fld>
            <a:endParaRPr lang="fr-FR"/>
          </a:p>
        </p:txBody>
      </p:sp>
    </p:spTree>
    <p:extLst>
      <p:ext uri="{BB962C8B-B14F-4D97-AF65-F5344CB8AC3E}">
        <p14:creationId xmlns:p14="http://schemas.microsoft.com/office/powerpoint/2010/main" val="26351090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spcAft>
                <a:spcPts val="1200"/>
              </a:spcAft>
            </a:pP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31</a:t>
            </a:fld>
            <a:endParaRPr lang="fr-FR"/>
          </a:p>
        </p:txBody>
      </p:sp>
    </p:spTree>
    <p:extLst>
      <p:ext uri="{BB962C8B-B14F-4D97-AF65-F5344CB8AC3E}">
        <p14:creationId xmlns:p14="http://schemas.microsoft.com/office/powerpoint/2010/main" val="38388534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spcAft>
                <a:spcPts val="1200"/>
              </a:spcAft>
            </a:pPr>
            <a:r>
              <a:rPr lang="fr-FR"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Cette figure présente quelques informations sur la demande : le client peut visualiser le nombre de demandes qu’il a ajouté dans son compte, il reçoit des notifications suite à un changement de statut et il peut aussi voir le total du prix de ses demandes.</a:t>
            </a: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32</a:t>
            </a:fld>
            <a:endParaRPr lang="fr-FR"/>
          </a:p>
        </p:txBody>
      </p:sp>
    </p:spTree>
    <p:extLst>
      <p:ext uri="{BB962C8B-B14F-4D97-AF65-F5344CB8AC3E}">
        <p14:creationId xmlns:p14="http://schemas.microsoft.com/office/powerpoint/2010/main" val="11365100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04775" algn="just">
              <a:lnSpc>
                <a:spcPct val="150000"/>
              </a:lnSpc>
            </a:pPr>
            <a:r>
              <a:rPr lang="fr-FR"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 client peut consulter son profil et voir ses informations.</a:t>
            </a:r>
            <a:endParaRPr lang="fr-FR" sz="1800" dirty="0">
              <a:effectLst/>
              <a:latin typeface="Times New Roman" panose="02020603050405020304" pitchFamily="18" charset="0"/>
              <a:ea typeface="Calibri" panose="020F0502020204030204" pitchFamily="34" charset="0"/>
            </a:endParaRPr>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33</a:t>
            </a:fld>
            <a:endParaRPr lang="fr-FR"/>
          </a:p>
        </p:txBody>
      </p:sp>
    </p:spTree>
    <p:extLst>
      <p:ext uri="{BB962C8B-B14F-4D97-AF65-F5344CB8AC3E}">
        <p14:creationId xmlns:p14="http://schemas.microsoft.com/office/powerpoint/2010/main" val="35979103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04775" algn="just">
              <a:lnSpc>
                <a:spcPct val="150000"/>
              </a:lnSpc>
            </a:pPr>
            <a:r>
              <a:rPr lang="fr-FR"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 client peut modifier son profil et ses informations .</a:t>
            </a:r>
            <a:endParaRPr lang="fr-FR" sz="1800" dirty="0">
              <a:effectLst/>
              <a:latin typeface="Times New Roman" panose="02020603050405020304" pitchFamily="18" charset="0"/>
              <a:ea typeface="Calibri" panose="020F0502020204030204" pitchFamily="34" charset="0"/>
            </a:endParaRPr>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34</a:t>
            </a:fld>
            <a:endParaRPr lang="fr-FR"/>
          </a:p>
        </p:txBody>
      </p:sp>
    </p:spTree>
    <p:extLst>
      <p:ext uri="{BB962C8B-B14F-4D97-AF65-F5344CB8AC3E}">
        <p14:creationId xmlns:p14="http://schemas.microsoft.com/office/powerpoint/2010/main" val="33315411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1200"/>
              </a:spcAft>
              <a:buClrTx/>
              <a:buSzTx/>
              <a:buFontTx/>
              <a:buNone/>
              <a:tabLst/>
              <a:defRPr/>
            </a:pPr>
            <a:r>
              <a:rPr lang="fr-FR"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L’interface d’ajout d’une demande d’analyse d’un échantillon de la part d’un chercheur (client) est présentée sur la figure ci-dessus. Elle permet d’ajouter toutes les informations concernant le type d’analyse, le laboratoire d’analyse, les conditions d’analyses, l’identification des échantillons, et les conditions de stockage des échantillons avant l’analyse. Elle permet aussi de d’informer l’utilisateur sur le prix de l’analyse qu’il a demandé.</a:t>
            </a:r>
            <a:endParaRPr lang="fr-FR" sz="1800" dirty="0">
              <a:effectLst/>
              <a:latin typeface="Times New Roman" panose="02020603050405020304" pitchFamily="18" charset="0"/>
              <a:ea typeface="Calibri" panose="020F0502020204030204" pitchFamily="34" charset="0"/>
            </a:endParaRPr>
          </a:p>
          <a:p>
            <a:pPr algn="just">
              <a:lnSpc>
                <a:spcPct val="150000"/>
              </a:lnSpc>
              <a:spcAft>
                <a:spcPts val="1200"/>
              </a:spcAft>
            </a:pP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35</a:t>
            </a:fld>
            <a:endParaRPr lang="fr-FR"/>
          </a:p>
        </p:txBody>
      </p:sp>
    </p:spTree>
    <p:extLst>
      <p:ext uri="{BB962C8B-B14F-4D97-AF65-F5344CB8AC3E}">
        <p14:creationId xmlns:p14="http://schemas.microsoft.com/office/powerpoint/2010/main" val="35079598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1200"/>
              </a:spcAft>
              <a:buClrTx/>
              <a:buSzTx/>
              <a:buFontTx/>
              <a:buNone/>
              <a:tabLst/>
              <a:defRPr/>
            </a:pPr>
            <a:r>
              <a:rPr lang="fr-FR"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Une fois le client ajout une demande, il reçoit un email qui contient un code de validation, le numéro de la demande et les étapes d’analyse.</a:t>
            </a:r>
            <a:endParaRPr lang="fr-FR" sz="1800" dirty="0">
              <a:effectLst/>
              <a:latin typeface="Times New Roman" panose="02020603050405020304" pitchFamily="18" charset="0"/>
              <a:ea typeface="Calibri" panose="020F0502020204030204" pitchFamily="34" charset="0"/>
            </a:endParaRPr>
          </a:p>
          <a:p>
            <a:pPr algn="just">
              <a:lnSpc>
                <a:spcPct val="150000"/>
              </a:lnSpc>
              <a:spcAft>
                <a:spcPts val="1200"/>
              </a:spcAft>
            </a:pP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36</a:t>
            </a:fld>
            <a:endParaRPr lang="fr-FR"/>
          </a:p>
        </p:txBody>
      </p:sp>
    </p:spTree>
    <p:extLst>
      <p:ext uri="{BB962C8B-B14F-4D97-AF65-F5344CB8AC3E}">
        <p14:creationId xmlns:p14="http://schemas.microsoft.com/office/powerpoint/2010/main" val="20919529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spcAft>
                <a:spcPts val="1200"/>
              </a:spcAft>
            </a:pPr>
            <a:r>
              <a:rPr lang="fr-FR" sz="1800">
                <a:solidFill>
                  <a:srgbClr val="000000"/>
                </a:solidFill>
                <a:effectLst/>
                <a:latin typeface="Times New Roman" panose="02020603050405020304" pitchFamily="18" charset="0"/>
                <a:ea typeface="Calibri" panose="020F0502020204030204" pitchFamily="34" charset="0"/>
              </a:rPr>
              <a:t>La figure ci-dessus présente l’interface de suivi des demandes reçu par les clients (chercheurs). Elle permet d’avoir des informations sur le type de demande, le type d’échantillon, la date de rendez-vous, le laboratoire d’appartenance du demandeur, et le statut de la demande. Elle permet aussi d’accéder à l’interface de modification du statut de la demande et de la suppression d’une demande suite à sa clôture</a:t>
            </a:r>
            <a:endParaRPr lang="fr-FR" sz="1800"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37</a:t>
            </a:fld>
            <a:endParaRPr lang="fr-FR"/>
          </a:p>
        </p:txBody>
      </p:sp>
    </p:spTree>
    <p:extLst>
      <p:ext uri="{BB962C8B-B14F-4D97-AF65-F5344CB8AC3E}">
        <p14:creationId xmlns:p14="http://schemas.microsoft.com/office/powerpoint/2010/main" val="22262831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fr-FR"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Cette figure ci-dessus présente un exemple de devis que le client peut imprimer après la validation de sa demande.</a:t>
            </a:r>
            <a:endParaRPr lang="fr-FR" sz="1800" dirty="0">
              <a:effectLst/>
              <a:latin typeface="Times New Roman" panose="02020603050405020304" pitchFamily="18" charset="0"/>
              <a:ea typeface="Calibri" panose="020F0502020204030204" pitchFamily="34" charset="0"/>
            </a:endParaRPr>
          </a:p>
          <a:p>
            <a:pPr algn="just">
              <a:lnSpc>
                <a:spcPct val="150000"/>
              </a:lnSpc>
            </a:pPr>
            <a:endParaRPr lang="fr-FR" sz="1800" dirty="0">
              <a:effectLst/>
              <a:latin typeface="Times New Roman" panose="02020603050405020304" pitchFamily="18" charset="0"/>
              <a:ea typeface="Calibri" panose="020F0502020204030204" pitchFamily="34" charset="0"/>
            </a:endParaRPr>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38</a:t>
            </a:fld>
            <a:endParaRPr lang="fr-FR"/>
          </a:p>
        </p:txBody>
      </p:sp>
    </p:spTree>
    <p:extLst>
      <p:ext uri="{BB962C8B-B14F-4D97-AF65-F5344CB8AC3E}">
        <p14:creationId xmlns:p14="http://schemas.microsoft.com/office/powerpoint/2010/main" val="41533187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1200"/>
              </a:spcAft>
              <a:buClrTx/>
              <a:buSzTx/>
              <a:buFontTx/>
              <a:buNone/>
              <a:tabLst/>
              <a:defRPr/>
            </a:pPr>
            <a:r>
              <a:rPr lang="fr-FR" sz="1800" dirty="0">
                <a:solidFill>
                  <a:srgbClr val="000000"/>
                </a:solidFill>
                <a:effectLst/>
                <a:latin typeface="Times New Roman" panose="02020603050405020304" pitchFamily="18" charset="0"/>
                <a:ea typeface="Calibri" panose="020F0502020204030204" pitchFamily="34" charset="0"/>
              </a:rPr>
              <a:t> cette interface présente l’état de chaque demande tel que le client peut entrer le numéro de la demande,</a:t>
            </a:r>
            <a:r>
              <a:rPr lang="fr-FR"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une fois que l’état sera 100% le client a le droit de télécharger le résultat (la figure ci-dessous montre l’interface de téléchargement du résultat) et la consultation de la Facture.</a:t>
            </a:r>
            <a:endParaRPr lang="fr-FR" sz="1800" dirty="0">
              <a:effectLst/>
              <a:latin typeface="Times New Roman" panose="02020603050405020304" pitchFamily="18" charset="0"/>
              <a:ea typeface="Times New Roman" panose="02020603050405020304" pitchFamily="18" charset="0"/>
            </a:endParaRPr>
          </a:p>
          <a:p>
            <a:pPr algn="just">
              <a:lnSpc>
                <a:spcPct val="150000"/>
              </a:lnSpc>
              <a:spcAft>
                <a:spcPts val="1200"/>
              </a:spcAft>
            </a:pP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39</a:t>
            </a:fld>
            <a:endParaRPr lang="fr-FR"/>
          </a:p>
        </p:txBody>
      </p:sp>
    </p:spTree>
    <p:extLst>
      <p:ext uri="{BB962C8B-B14F-4D97-AF65-F5344CB8AC3E}">
        <p14:creationId xmlns:p14="http://schemas.microsoft.com/office/powerpoint/2010/main" val="9238732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04775" algn="ctr"/>
            <a:r>
              <a:rPr lang="fr-FR" sz="1800" b="1" i="1" dirty="0">
                <a:solidFill>
                  <a:srgbClr val="000000"/>
                </a:solidFill>
                <a:effectLst/>
                <a:latin typeface="Times New Roman" panose="02020603050405020304" pitchFamily="18" charset="0"/>
                <a:ea typeface="Calibri" panose="020F0502020204030204" pitchFamily="34" charset="0"/>
              </a:rPr>
              <a:t> </a:t>
            </a:r>
            <a:endParaRPr lang="fr-FR" sz="1800" dirty="0">
              <a:effectLst/>
              <a:latin typeface="Times New Roman" panose="02020603050405020304" pitchFamily="18" charset="0"/>
              <a:ea typeface="Calibri" panose="020F0502020204030204" pitchFamily="34" charset="0"/>
            </a:endParaRPr>
          </a:p>
          <a:p>
            <a:r>
              <a:rPr lang="fr-FR" sz="1800" dirty="0">
                <a:solidFill>
                  <a:srgbClr val="000000"/>
                </a:solidFill>
                <a:effectLst/>
                <a:latin typeface="Times New Roman" panose="02020603050405020304" pitchFamily="18" charset="0"/>
                <a:ea typeface="Calibri" panose="020F0502020204030204" pitchFamily="34" charset="0"/>
              </a:rPr>
              <a:t>Dans cette figure le client peut ajoute quelques commentaires sur le résultat et s’il est satisfait de l’analyse ou non.</a:t>
            </a:r>
            <a:r>
              <a:rPr lang="fr-FR" sz="1800" b="1" i="1" dirty="0">
                <a:solidFill>
                  <a:srgbClr val="000000"/>
                </a:solidFill>
                <a:effectLst/>
                <a:latin typeface="Times New Roman" panose="02020603050405020304" pitchFamily="18" charset="0"/>
                <a:ea typeface="Calibri" panose="020F0502020204030204" pitchFamily="34" charset="0"/>
              </a:rPr>
              <a:t> </a:t>
            </a: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40</a:t>
            </a:fld>
            <a:endParaRPr lang="fr-FR"/>
          </a:p>
        </p:txBody>
      </p:sp>
    </p:spTree>
    <p:extLst>
      <p:ext uri="{BB962C8B-B14F-4D97-AF65-F5344CB8AC3E}">
        <p14:creationId xmlns:p14="http://schemas.microsoft.com/office/powerpoint/2010/main" val="37612194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spcAft>
                <a:spcPts val="1200"/>
              </a:spcAft>
            </a:pPr>
            <a:r>
              <a:rPr lang="fr-FR" dirty="0"/>
              <a:t>Page de connexion de l’admin</a:t>
            </a:r>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41</a:t>
            </a:fld>
            <a:endParaRPr lang="fr-FR"/>
          </a:p>
        </p:txBody>
      </p:sp>
    </p:spTree>
    <p:extLst>
      <p:ext uri="{BB962C8B-B14F-4D97-AF65-F5344CB8AC3E}">
        <p14:creationId xmlns:p14="http://schemas.microsoft.com/office/powerpoint/2010/main" val="3323460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spcAft>
                <a:spcPts val="1200"/>
              </a:spcAft>
            </a:pPr>
            <a:r>
              <a:rPr lang="fr-FR" sz="1800" dirty="0">
                <a:solidFill>
                  <a:srgbClr val="000000"/>
                </a:solidFill>
                <a:effectLst/>
                <a:latin typeface="Times New Roman" panose="02020603050405020304" pitchFamily="18" charset="0"/>
                <a:ea typeface="Calibri" panose="020F0502020204030204" pitchFamily="34" charset="0"/>
              </a:rPr>
              <a:t>Cette interface présente les composants de la barre de navigation de l'administrateur composé de titre TABLEAU DE BORD qui va nous déplacer afin de voir l'état du laboratoire et des transactions</a:t>
            </a:r>
            <a:r>
              <a:rPr lang="fr-FR" sz="1800" b="1" i="1" dirty="0">
                <a:solidFill>
                  <a:srgbClr val="000000"/>
                </a:solidFill>
                <a:effectLst/>
                <a:latin typeface="Times New Roman" panose="02020603050405020304" pitchFamily="18" charset="0"/>
                <a:ea typeface="Calibri" panose="020F0502020204030204" pitchFamily="34" charset="0"/>
              </a:rPr>
              <a:t>.</a:t>
            </a: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42</a:t>
            </a:fld>
            <a:endParaRPr lang="fr-FR"/>
          </a:p>
        </p:txBody>
      </p:sp>
    </p:spTree>
    <p:extLst>
      <p:ext uri="{BB962C8B-B14F-4D97-AF65-F5344CB8AC3E}">
        <p14:creationId xmlns:p14="http://schemas.microsoft.com/office/powerpoint/2010/main" val="199926528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spcAft>
                <a:spcPts val="1200"/>
              </a:spcAft>
            </a:pPr>
            <a:r>
              <a:rPr lang="fr-FR" sz="1800" dirty="0">
                <a:solidFill>
                  <a:srgbClr val="000000"/>
                </a:solidFill>
                <a:effectLst/>
                <a:latin typeface="Times New Roman" panose="02020603050405020304" pitchFamily="18" charset="0"/>
                <a:ea typeface="Calibri" panose="020F0502020204030204" pitchFamily="34" charset="0"/>
              </a:rPr>
              <a:t>Cette figure présente la page de la consultation des demandes qui ont un devis validé par le client par email, l'administrateur a les quatre actions de supprimer la demande, changer son statut, voir état et information ou ajouter résultats</a:t>
            </a: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43</a:t>
            </a:fld>
            <a:endParaRPr lang="fr-FR"/>
          </a:p>
        </p:txBody>
      </p:sp>
    </p:spTree>
    <p:extLst>
      <p:ext uri="{BB962C8B-B14F-4D97-AF65-F5344CB8AC3E}">
        <p14:creationId xmlns:p14="http://schemas.microsoft.com/office/powerpoint/2010/main" val="7263233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spcAft>
                <a:spcPts val="1200"/>
              </a:spcAft>
            </a:pPr>
            <a:r>
              <a:rPr lang="fr-FR" sz="1800" dirty="0">
                <a:solidFill>
                  <a:srgbClr val="000000"/>
                </a:solidFill>
                <a:effectLst/>
                <a:latin typeface="Times New Roman" panose="02020603050405020304" pitchFamily="18" charset="0"/>
                <a:ea typeface="Calibri" panose="020F0502020204030204" pitchFamily="34" charset="0"/>
              </a:rPr>
              <a:t>Cette fenêtre est affichée après que l'administrateur clique au bouton de changement statut. De là il a le choix de poser la demande à un statut et le client concerné (le porteur de la demande) va recevoir une notification avec les cas suivants : si l'admin met la demande en statut DEMANDE APPROUVE le client va recevoir automatiquement la notification et le rendez-vous du jour pour déposer les échantillons. Avec un statut ECHANTILLON DEPOSE les échantillons qui sont dans le labo maintenant vont avoir une référence et un nombre unique </a:t>
            </a: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44</a:t>
            </a:fld>
            <a:endParaRPr lang="fr-FR"/>
          </a:p>
        </p:txBody>
      </p:sp>
    </p:spTree>
    <p:extLst>
      <p:ext uri="{BB962C8B-B14F-4D97-AF65-F5344CB8AC3E}">
        <p14:creationId xmlns:p14="http://schemas.microsoft.com/office/powerpoint/2010/main" val="35363201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04775"/>
            <a:r>
              <a:rPr lang="fr-FR" sz="18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fr-FR" sz="1800" dirty="0">
              <a:effectLst/>
              <a:latin typeface="Times New Roman" panose="02020603050405020304" pitchFamily="18" charset="0"/>
              <a:ea typeface="Calibri" panose="020F0502020204030204" pitchFamily="34" charset="0"/>
            </a:endParaRPr>
          </a:p>
          <a:p>
            <a:pPr marL="104775" algn="just">
              <a:lnSpc>
                <a:spcPct val="150000"/>
              </a:lnSpc>
            </a:pPr>
            <a:r>
              <a:rPr lang="fr-FR"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Cette figure est destinée pour l'administrateur pour voir l'état et les informations sur toutes les demandes qui ont un devis validé. Il peut chercher n'importe quelle demande juste par le saisi de son numéro.</a:t>
            </a:r>
            <a:endParaRPr lang="fr-FR" sz="1800" dirty="0">
              <a:effectLst/>
              <a:latin typeface="Times New Roman" panose="02020603050405020304" pitchFamily="18" charset="0"/>
              <a:ea typeface="Calibri" panose="020F0502020204030204" pitchFamily="34" charset="0"/>
            </a:endParaRPr>
          </a:p>
          <a:p>
            <a:pPr algn="just">
              <a:lnSpc>
                <a:spcPct val="150000"/>
              </a:lnSpc>
              <a:spcAft>
                <a:spcPts val="1200"/>
              </a:spcAft>
            </a:pP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45</a:t>
            </a:fld>
            <a:endParaRPr lang="fr-FR"/>
          </a:p>
        </p:txBody>
      </p:sp>
    </p:spTree>
    <p:extLst>
      <p:ext uri="{BB962C8B-B14F-4D97-AF65-F5344CB8AC3E}">
        <p14:creationId xmlns:p14="http://schemas.microsoft.com/office/powerpoint/2010/main" val="38390757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1200"/>
              </a:spcAft>
              <a:buClrTx/>
              <a:buSzTx/>
              <a:buFontTx/>
              <a:buNone/>
              <a:tabLst/>
              <a:defRPr/>
            </a:pPr>
            <a:r>
              <a:rPr lang="fr-FR"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 figure ci-dessus présente permet à l’administrateur de consulter les informations sur les  client.</a:t>
            </a:r>
            <a:endParaRPr lang="fr-FR" sz="1800" dirty="0">
              <a:effectLst/>
              <a:latin typeface="Times New Roman" panose="02020603050405020304" pitchFamily="18" charset="0"/>
              <a:ea typeface="Calibri" panose="020F0502020204030204" pitchFamily="34" charset="0"/>
            </a:endParaRPr>
          </a:p>
          <a:p>
            <a:pPr algn="just">
              <a:lnSpc>
                <a:spcPct val="150000"/>
              </a:lnSpc>
              <a:spcAft>
                <a:spcPts val="1200"/>
              </a:spcAft>
            </a:pP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46</a:t>
            </a:fld>
            <a:endParaRPr lang="fr-FR"/>
          </a:p>
        </p:txBody>
      </p:sp>
    </p:spTree>
    <p:extLst>
      <p:ext uri="{BB962C8B-B14F-4D97-AF65-F5344CB8AC3E}">
        <p14:creationId xmlns:p14="http://schemas.microsoft.com/office/powerpoint/2010/main" val="15778063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spcAft>
                <a:spcPts val="1200"/>
              </a:spcAft>
            </a:pPr>
            <a:r>
              <a:rPr lang="fr-FR" sz="1800" dirty="0">
                <a:solidFill>
                  <a:srgbClr val="000000"/>
                </a:solidFill>
                <a:effectLst/>
                <a:latin typeface="Times New Roman" panose="02020603050405020304" pitchFamily="18" charset="0"/>
                <a:ea typeface="Calibri" panose="020F0502020204030204" pitchFamily="34" charset="0"/>
              </a:rPr>
              <a:t>L’interface ci-dessus présente un exemple d’ajout des remarques des clients </a:t>
            </a: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47</a:t>
            </a:fld>
            <a:endParaRPr lang="fr-FR"/>
          </a:p>
        </p:txBody>
      </p:sp>
    </p:spTree>
    <p:extLst>
      <p:ext uri="{BB962C8B-B14F-4D97-AF65-F5344CB8AC3E}">
        <p14:creationId xmlns:p14="http://schemas.microsoft.com/office/powerpoint/2010/main" val="21289930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1200"/>
              </a:spcAft>
              <a:buClrTx/>
              <a:buSzTx/>
              <a:buFontTx/>
              <a:buNone/>
              <a:tabLst/>
              <a:defRPr/>
            </a:pPr>
            <a:r>
              <a:rPr lang="fr-FR" dirty="0"/>
              <a:t>Notre objectif dans ce projet était créer une plateforme </a:t>
            </a:r>
            <a:r>
              <a:rPr lang="fr-FR" sz="1800" dirty="0">
                <a:solidFill>
                  <a:srgbClr val="000000"/>
                </a:solidFill>
                <a:effectLst/>
                <a:latin typeface="Times New Roman" panose="02020603050405020304" pitchFamily="18" charset="0"/>
                <a:ea typeface="Calibri" panose="020F0502020204030204" pitchFamily="34" charset="0"/>
              </a:rPr>
              <a:t>de gestion des commandes d’analyses des échantillons auprès d’un centre d’analyses. </a:t>
            </a:r>
            <a:endParaRPr lang="fr-FR" sz="1800" dirty="0">
              <a:effectLst/>
              <a:latin typeface="Times New Roman" panose="02020603050405020304" pitchFamily="18" charset="0"/>
              <a:ea typeface="Calibri" panose="020F0502020204030204" pitchFamily="34" charset="0"/>
            </a:endParaRPr>
          </a:p>
          <a:p>
            <a:pPr marL="0" marR="0" lvl="0" indent="0" algn="just" defTabSz="914400" rtl="0" eaLnBrk="1" fontAlgn="auto" latinLnBrk="0" hangingPunct="1">
              <a:lnSpc>
                <a:spcPct val="150000"/>
              </a:lnSpc>
              <a:spcBef>
                <a:spcPts val="0"/>
              </a:spcBef>
              <a:spcAft>
                <a:spcPts val="1200"/>
              </a:spcAft>
              <a:buClrTx/>
              <a:buSzTx/>
              <a:buFontTx/>
              <a:buNone/>
              <a:tabLst/>
              <a:defRPr/>
            </a:pPr>
            <a:r>
              <a:rPr lang="fr-FR" sz="1800" dirty="0">
                <a:solidFill>
                  <a:srgbClr val="000000"/>
                </a:solidFill>
                <a:effectLst/>
                <a:latin typeface="Times New Roman" panose="02020603050405020304" pitchFamily="18" charset="0"/>
                <a:ea typeface="Calibri" panose="020F0502020204030204" pitchFamily="34" charset="0"/>
              </a:rPr>
              <a:t>Au terme de ce projet, qui a été enrichissant et bénéfique, nous avons parvenu atteindre les objectifs fixés. Cependant, des perspectives sont encore envisageables.</a:t>
            </a:r>
            <a:endParaRPr lang="fr-FR" sz="1800" dirty="0">
              <a:effectLst/>
              <a:latin typeface="Times New Roman" panose="02020603050405020304" pitchFamily="18" charset="0"/>
              <a:ea typeface="Calibri" panose="020F0502020204030204" pitchFamily="34" charset="0"/>
            </a:endParaRPr>
          </a:p>
          <a:p>
            <a:pPr marL="0" marR="0" lvl="0" indent="0" algn="just" defTabSz="914400" rtl="0" eaLnBrk="1" fontAlgn="auto" latinLnBrk="0" hangingPunct="1">
              <a:lnSpc>
                <a:spcPct val="150000"/>
              </a:lnSpc>
              <a:spcBef>
                <a:spcPts val="0"/>
              </a:spcBef>
              <a:spcAft>
                <a:spcPts val="1200"/>
              </a:spcAft>
              <a:buClrTx/>
              <a:buSzTx/>
              <a:buFontTx/>
              <a:buNone/>
              <a:tabLst/>
              <a:defRPr/>
            </a:pPr>
            <a:r>
              <a:rPr lang="fr-FR" sz="1200" dirty="0"/>
              <a:t>Ce projet a fait l’objet d’une expérience intéressante, très bénéfique pour nous. En effet, il nous a permis d’enrichir nos connaissances théoriques et améliorer nos compétences dans le domaine de la conception et de la programmation. Ajoutant à ceci, la mise en application des connaissances acquises tout au long de nos études.</a:t>
            </a:r>
          </a:p>
          <a:p>
            <a:pPr marL="0" marR="0" lvl="0" indent="0" algn="just" defTabSz="914400" rtl="0" eaLnBrk="1" fontAlgn="auto" latinLnBrk="0" hangingPunct="1">
              <a:lnSpc>
                <a:spcPct val="150000"/>
              </a:lnSpc>
              <a:spcBef>
                <a:spcPts val="0"/>
              </a:spcBef>
              <a:spcAft>
                <a:spcPts val="1200"/>
              </a:spcAft>
              <a:buClrTx/>
              <a:buSzTx/>
              <a:buFontTx/>
              <a:buNone/>
              <a:tabLst/>
              <a:defRPr/>
            </a:pPr>
            <a:endParaRPr lang="fr-FR" sz="1400" dirty="0"/>
          </a:p>
          <a:p>
            <a:pPr algn="just">
              <a:lnSpc>
                <a:spcPct val="150000"/>
              </a:lnSpc>
              <a:spcAft>
                <a:spcPts val="1200"/>
              </a:spcAft>
            </a:pPr>
            <a:endParaRPr lang="fr-FR" dirty="0"/>
          </a:p>
        </p:txBody>
      </p:sp>
      <p:sp>
        <p:nvSpPr>
          <p:cNvPr id="4" name="Espace réservé du numéro de diapositive 3"/>
          <p:cNvSpPr>
            <a:spLocks noGrp="1"/>
          </p:cNvSpPr>
          <p:nvPr>
            <p:ph type="sldNum" sz="quarter" idx="5"/>
          </p:nvPr>
        </p:nvSpPr>
        <p:spPr/>
        <p:txBody>
          <a:bodyPr/>
          <a:lstStyle/>
          <a:p>
            <a:fld id="{4E8AF641-0661-48DD-8BE3-DD97CF7165DD}" type="slidenum">
              <a:rPr lang="fr-FR" smtClean="0"/>
              <a:t>48</a:t>
            </a:fld>
            <a:endParaRPr lang="fr-FR"/>
          </a:p>
        </p:txBody>
      </p:sp>
    </p:spTree>
    <p:extLst>
      <p:ext uri="{BB962C8B-B14F-4D97-AF65-F5344CB8AC3E}">
        <p14:creationId xmlns:p14="http://schemas.microsoft.com/office/powerpoint/2010/main" val="26689982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fr-FR"/>
              <a:t>Modifiez le style du titre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C571AAC0-4CC7-43FE-8A3E-28AEA834D3AB}" type="datetimeFigureOut">
              <a:rPr lang="fr-FR" smtClean="0"/>
              <a:t>11/09/2026</a:t>
            </a:fld>
            <a:endParaRPr lang="fr-FR"/>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fr-F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3056367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571AAC0-4CC7-43FE-8A3E-28AEA834D3AB}"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2769620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571AAC0-4CC7-43FE-8A3E-28AEA834D3AB}"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1821973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571AAC0-4CC7-43FE-8A3E-28AEA834D3AB}"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2774189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571AAC0-4CC7-43FE-8A3E-28AEA834D3AB}" type="datetimeFigureOut">
              <a:rPr lang="fr-FR" smtClean="0"/>
              <a:t>11/09/2026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1882448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fr-FR"/>
              <a:t>Modifiez le style du titre</a:t>
            </a:r>
            <a:endParaRPr lang="en-US" dirty="0"/>
          </a:p>
        </p:txBody>
      </p:sp>
      <p:sp>
        <p:nvSpPr>
          <p:cNvPr id="3" name="Date Placeholder 2"/>
          <p:cNvSpPr>
            <a:spLocks noGrp="1"/>
          </p:cNvSpPr>
          <p:nvPr>
            <p:ph type="dt" sz="half" idx="10"/>
          </p:nvPr>
        </p:nvSpPr>
        <p:spPr/>
        <p:txBody>
          <a:bodyPr/>
          <a:lstStyle/>
          <a:p>
            <a:fld id="{C571AAC0-4CC7-43FE-8A3E-28AEA834D3AB}" type="datetimeFigureOut">
              <a:rPr lang="fr-FR" smtClean="0"/>
              <a:t>11/09/2026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3540438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71AAC0-4CC7-43FE-8A3E-28AEA834D3AB}" type="datetimeFigureOut">
              <a:rPr lang="fr-FR" smtClean="0"/>
              <a:t>11/09/2026</a:t>
            </a:fld>
            <a:endParaRPr lang="fr-FR"/>
          </a:p>
        </p:txBody>
      </p:sp>
      <p:sp>
        <p:nvSpPr>
          <p:cNvPr id="3" name="Footer Placeholder 2"/>
          <p:cNvSpPr>
            <a:spLocks noGrp="1"/>
          </p:cNvSpPr>
          <p:nvPr>
            <p:ph type="ftr" sz="quarter" idx="11"/>
          </p:nvPr>
        </p:nvSpPr>
        <p:spPr/>
        <p:txBody>
          <a:bodyPr/>
          <a:lstStyle/>
          <a:p>
            <a:endParaRPr lang="fr-F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2788441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571AAC0-4CC7-43FE-8A3E-28AEA834D3AB}"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fr-F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2831646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fr-FR"/>
              <a:t>Modifiez le style du titre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fr-FR"/>
              <a:t>Cliquez sur l'icône pour ajouter une image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571AAC0-4CC7-43FE-8A3E-28AEA834D3AB}"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fr-F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117084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Image panoramique avec légend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571AAC0-4CC7-43FE-8A3E-28AEA834D3AB}"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fr-F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261049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fr-FR"/>
              <a:t>Modifiez le style du titre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571AAC0-4CC7-43FE-8A3E-28AEA834D3AB}"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2094464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fr-FR"/>
              <a:t>Modifiez le style du titre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571AAC0-4CC7-43FE-8A3E-28AEA834D3AB}"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40186619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571AAC0-4CC7-43FE-8A3E-28AEA834D3AB}"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27414620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571AAC0-4CC7-43FE-8A3E-28AEA834D3AB}" type="datetimeFigureOut">
              <a:rPr lang="fr-FR" smtClean="0"/>
              <a:t>11/09/2026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2145076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571AAC0-4CC7-43FE-8A3E-28AEA834D3AB}" type="datetimeFigureOut">
              <a:rPr lang="fr-FR" smtClean="0"/>
              <a:t>11/09/2026</a:t>
            </a:fld>
            <a:endParaRPr lang="fr-FR"/>
          </a:p>
        </p:txBody>
      </p:sp>
      <p:sp>
        <p:nvSpPr>
          <p:cNvPr id="8" name="Footer Placeholder 7"/>
          <p:cNvSpPr>
            <a:spLocks noGrp="1"/>
          </p:cNvSpPr>
          <p:nvPr>
            <p:ph type="ftr" sz="quarter" idx="11"/>
          </p:nvPr>
        </p:nvSpPr>
        <p:spPr>
          <a:xfrm>
            <a:off x="561111" y="6391838"/>
            <a:ext cx="3644282" cy="304801"/>
          </a:xfrm>
        </p:spPr>
        <p:txBody>
          <a:bodyPr/>
          <a:lstStyle/>
          <a:p>
            <a:endParaRPr lang="fr-FR"/>
          </a:p>
        </p:txBody>
      </p:sp>
      <p:sp>
        <p:nvSpPr>
          <p:cNvPr id="9" name="Slide Number Placeholder 8"/>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1605540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571AAC0-4CC7-43FE-8A3E-28AEA834D3AB}"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11452697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fr-FR"/>
              <a:t>Modifiez le style du titre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571AAC0-4CC7-43FE-8A3E-28AEA834D3AB}"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188ED22-A91F-4845-AEF9-A3F0E64632EE}" type="slidenum">
              <a:rPr lang="fr-FR" smtClean="0"/>
              <a:t>‹N°›</a:t>
            </a:fld>
            <a:endParaRPr lang="fr-FR"/>
          </a:p>
        </p:txBody>
      </p:sp>
    </p:spTree>
    <p:extLst>
      <p:ext uri="{BB962C8B-B14F-4D97-AF65-F5344CB8AC3E}">
        <p14:creationId xmlns:p14="http://schemas.microsoft.com/office/powerpoint/2010/main" val="1183895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62000">
              <a:schemeClr val="tx2">
                <a:lumMod val="40000"/>
                <a:lumOff val="60000"/>
              </a:schemeClr>
            </a:gs>
            <a:gs pos="40000">
              <a:schemeClr val="tx2">
                <a:lumMod val="40000"/>
                <a:lumOff val="60000"/>
              </a:schemeClr>
            </a:gs>
            <a:gs pos="89080">
              <a:schemeClr val="tx2">
                <a:lumMod val="40000"/>
                <a:lumOff val="60000"/>
              </a:schemeClr>
            </a:gs>
            <a:gs pos="100000">
              <a:srgbClr val="CEEAB0"/>
            </a:gs>
          </a:gsLst>
          <a:path path="circle">
            <a:fillToRect t="100000" r="100000"/>
          </a:path>
          <a:tileRect/>
        </a:gradFill>
        <a:effectLst/>
      </p:bgPr>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fr-FR"/>
              <a:t>Modifiez le style du titre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C571AAC0-4CC7-43FE-8A3E-28AEA834D3AB}" type="datetimeFigureOut">
              <a:rPr lang="fr-FR" smtClean="0"/>
              <a:t>11/09/2026</a:t>
            </a:fld>
            <a:endParaRPr lang="fr-FR"/>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fr-F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9188ED22-A91F-4845-AEF9-A3F0E64632EE}" type="slidenum">
              <a:rPr lang="fr-FR" smtClean="0"/>
              <a:t>‹N°›</a:t>
            </a:fld>
            <a:endParaRPr lang="fr-FR"/>
          </a:p>
        </p:txBody>
      </p:sp>
    </p:spTree>
    <p:extLst>
      <p:ext uri="{BB962C8B-B14F-4D97-AF65-F5344CB8AC3E}">
        <p14:creationId xmlns:p14="http://schemas.microsoft.com/office/powerpoint/2010/main" val="5657970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20.jpg"/><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4.sv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xmlns="" id="{096EC778-8CFF-4812-9F02-161C7D09D9BB}"/>
              </a:ext>
            </a:extLst>
          </p:cNvPr>
          <p:cNvSpPr>
            <a:spLocks noGrp="1"/>
          </p:cNvSpPr>
          <p:nvPr>
            <p:ph type="subTitle" idx="4294967295"/>
          </p:nvPr>
        </p:nvSpPr>
        <p:spPr>
          <a:xfrm>
            <a:off x="1998636" y="1576562"/>
            <a:ext cx="8816119" cy="918626"/>
          </a:xfrm>
        </p:spPr>
        <p:txBody>
          <a:bodyPr>
            <a:normAutofit fontScale="25000" lnSpcReduction="20000"/>
          </a:bodyPr>
          <a:lstStyle/>
          <a:p>
            <a:pPr marL="0" marR="121917" indent="0" algn="ctr">
              <a:lnSpc>
                <a:spcPct val="107000"/>
              </a:lnSpc>
              <a:spcAft>
                <a:spcPts val="800"/>
              </a:spcAft>
              <a:buClr>
                <a:srgbClr val="000000"/>
              </a:buClr>
              <a:buNone/>
            </a:pPr>
            <a:r>
              <a:rPr lang="fr-FR" sz="9600" kern="0" dirty="0">
                <a:solidFill>
                  <a:srgbClr val="3A81BA">
                    <a:lumMod val="50000"/>
                  </a:srgbClr>
                </a:solidFill>
                <a:latin typeface="Times New Roman" panose="02020603050405020304" pitchFamily="18" charset="0"/>
                <a:ea typeface="Times New Roman" panose="02020603050405020304" pitchFamily="18" charset="0"/>
                <a:cs typeface="Times New Roman" panose="02020603050405020304" pitchFamily="18" charset="0"/>
                <a:sym typeface="Arial"/>
              </a:rPr>
              <a:t>Projet de fin d’étude pour l’obtention de la</a:t>
            </a:r>
            <a:endParaRPr lang="fr-MA" sz="9600" kern="0" dirty="0">
              <a:solidFill>
                <a:srgbClr val="3A81BA">
                  <a:lumMod val="50000"/>
                </a:srgbClr>
              </a:solidFill>
              <a:latin typeface="Times New Roman" panose="02020603050405020304" pitchFamily="18" charset="0"/>
              <a:ea typeface="Calibri" panose="020F0502020204030204" pitchFamily="34" charset="0"/>
              <a:cs typeface="Arial" panose="020B0604020202020204" pitchFamily="34" charset="0"/>
              <a:sym typeface="Arial"/>
            </a:endParaRPr>
          </a:p>
          <a:p>
            <a:pPr marL="0" marR="121917" indent="0" algn="ctr">
              <a:lnSpc>
                <a:spcPct val="107000"/>
              </a:lnSpc>
              <a:spcAft>
                <a:spcPts val="800"/>
              </a:spcAft>
              <a:buClr>
                <a:srgbClr val="000000"/>
              </a:buClr>
              <a:buNone/>
            </a:pPr>
            <a:r>
              <a:rPr lang="fr-FR" sz="9600" b="1" kern="0" dirty="0">
                <a:solidFill>
                  <a:srgbClr val="3A81BA">
                    <a:lumMod val="50000"/>
                  </a:srgbClr>
                </a:solidFill>
                <a:latin typeface="Times New Roman" panose="02020603050405020304" pitchFamily="18" charset="0"/>
                <a:ea typeface="Times New Roman" panose="02020603050405020304" pitchFamily="18" charset="0"/>
                <a:cs typeface="Times New Roman" panose="02020603050405020304" pitchFamily="18" charset="0"/>
                <a:sym typeface="Arial"/>
              </a:rPr>
              <a:t>Licence en Sciences Mathématiques et Informatique</a:t>
            </a:r>
            <a:endParaRPr lang="fr-MA" sz="9600" b="1" kern="0" dirty="0">
              <a:solidFill>
                <a:srgbClr val="3A81BA">
                  <a:lumMod val="50000"/>
                </a:srgbClr>
              </a:solidFill>
              <a:latin typeface="Times New Roman" panose="02020603050405020304" pitchFamily="18" charset="0"/>
              <a:ea typeface="Calibri" panose="020F0502020204030204" pitchFamily="34" charset="0"/>
              <a:cs typeface="Arial" panose="020B0604020202020204" pitchFamily="34" charset="0"/>
              <a:sym typeface="Arial"/>
            </a:endParaRPr>
          </a:p>
          <a:p>
            <a:endParaRPr lang="fr-FR" dirty="0"/>
          </a:p>
        </p:txBody>
      </p:sp>
      <p:sp>
        <p:nvSpPr>
          <p:cNvPr id="2" name="Titre 1">
            <a:extLst>
              <a:ext uri="{FF2B5EF4-FFF2-40B4-BE49-F238E27FC236}">
                <a16:creationId xmlns:a16="http://schemas.microsoft.com/office/drawing/2014/main" xmlns="" id="{E2443CEF-CA05-4845-9FB7-C906C62DB37D}"/>
              </a:ext>
            </a:extLst>
          </p:cNvPr>
          <p:cNvSpPr>
            <a:spLocks noGrp="1"/>
          </p:cNvSpPr>
          <p:nvPr>
            <p:ph type="ctrTitle" idx="4294967295"/>
          </p:nvPr>
        </p:nvSpPr>
        <p:spPr>
          <a:xfrm>
            <a:off x="7915275" y="206375"/>
            <a:ext cx="4276725" cy="1208088"/>
          </a:xfrm>
        </p:spPr>
        <p:txBody>
          <a:bodyPr/>
          <a:lstStyle/>
          <a:p>
            <a:r>
              <a:rPr lang="fr-FR" sz="2400" dirty="0">
                <a:solidFill>
                  <a:srgbClr val="002060"/>
                </a:solidFill>
              </a:rPr>
              <a:t>Université ibn Zohr</a:t>
            </a:r>
            <a:br>
              <a:rPr lang="fr-FR" sz="2400" dirty="0">
                <a:solidFill>
                  <a:srgbClr val="002060"/>
                </a:solidFill>
              </a:rPr>
            </a:br>
            <a:r>
              <a:rPr lang="fr-FR" sz="2400" dirty="0">
                <a:solidFill>
                  <a:srgbClr val="002060"/>
                </a:solidFill>
              </a:rPr>
              <a:t>Faculté des sciences</a:t>
            </a:r>
            <a:br>
              <a:rPr lang="fr-FR" sz="2400" dirty="0">
                <a:solidFill>
                  <a:srgbClr val="002060"/>
                </a:solidFill>
              </a:rPr>
            </a:br>
            <a:r>
              <a:rPr lang="fr-FR" sz="2400" dirty="0">
                <a:solidFill>
                  <a:srgbClr val="002060"/>
                </a:solidFill>
              </a:rPr>
              <a:t>Département Informatique</a:t>
            </a:r>
          </a:p>
        </p:txBody>
      </p:sp>
      <p:pic>
        <p:nvPicPr>
          <p:cNvPr id="5" name="Image 4">
            <a:extLst>
              <a:ext uri="{FF2B5EF4-FFF2-40B4-BE49-F238E27FC236}">
                <a16:creationId xmlns:a16="http://schemas.microsoft.com/office/drawing/2014/main" xmlns="" id="{B336B1A7-F3FE-4CC4-8BF9-57601E7A2E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77" y="-28392"/>
            <a:ext cx="3084843" cy="1920406"/>
          </a:xfrm>
          <a:prstGeom prst="rect">
            <a:avLst/>
          </a:prstGeom>
        </p:spPr>
      </p:pic>
      <p:sp>
        <p:nvSpPr>
          <p:cNvPr id="6" name="Rectangle 5">
            <a:extLst>
              <a:ext uri="{FF2B5EF4-FFF2-40B4-BE49-F238E27FC236}">
                <a16:creationId xmlns:a16="http://schemas.microsoft.com/office/drawing/2014/main" xmlns="" id="{1D80634A-8990-48A2-B0EB-FBEF39108507}"/>
              </a:ext>
            </a:extLst>
          </p:cNvPr>
          <p:cNvSpPr/>
          <p:nvPr/>
        </p:nvSpPr>
        <p:spPr>
          <a:xfrm>
            <a:off x="735496" y="2719160"/>
            <a:ext cx="10721008" cy="1119915"/>
          </a:xfrm>
          <a:prstGeom prst="rect">
            <a:avLst/>
          </a:prstGeom>
          <a:solidFill>
            <a:srgbClr val="BCC1EE"/>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fr-FR" sz="1800" b="1" dirty="0">
                <a:solidFill>
                  <a:schemeClr val="tx1"/>
                </a:solidFill>
                <a:effectLst/>
                <a:latin typeface="Times New Roman" panose="02020603050405020304" pitchFamily="18" charset="0"/>
                <a:ea typeface="Calibri" panose="020F0502020204030204" pitchFamily="34" charset="0"/>
              </a:rPr>
              <a:t>CONCEPTION ET DEVELOPPEMENT D’UNE APPLICATION DE GESTION DES COMMANDES POUR UN CENTRE D’ANALYSES</a:t>
            </a:r>
            <a:endParaRPr lang="fr-FR" sz="1800" dirty="0">
              <a:solidFill>
                <a:schemeClr val="tx1"/>
              </a:solidFill>
              <a:effectLst/>
              <a:latin typeface="Times New Roman" panose="02020603050405020304" pitchFamily="18" charset="0"/>
              <a:ea typeface="Calibri" panose="020F0502020204030204" pitchFamily="34" charset="0"/>
            </a:endParaRPr>
          </a:p>
        </p:txBody>
      </p:sp>
      <p:sp>
        <p:nvSpPr>
          <p:cNvPr id="8" name="ZoneTexte 7">
            <a:extLst>
              <a:ext uri="{FF2B5EF4-FFF2-40B4-BE49-F238E27FC236}">
                <a16:creationId xmlns:a16="http://schemas.microsoft.com/office/drawing/2014/main" xmlns="" id="{DDC147DC-F4F7-44D2-9D97-3E2AD75E3251}"/>
              </a:ext>
            </a:extLst>
          </p:cNvPr>
          <p:cNvSpPr txBox="1"/>
          <p:nvPr/>
        </p:nvSpPr>
        <p:spPr>
          <a:xfrm>
            <a:off x="220729" y="4247114"/>
            <a:ext cx="3472070" cy="1138773"/>
          </a:xfrm>
          <a:prstGeom prst="rect">
            <a:avLst/>
          </a:prstGeom>
          <a:noFill/>
        </p:spPr>
        <p:txBody>
          <a:bodyPr wrap="square" rtlCol="0">
            <a:spAutoFit/>
          </a:bodyPr>
          <a:lstStyle/>
          <a:p>
            <a:r>
              <a:rPr lang="fr-FR" sz="2800" b="1" dirty="0">
                <a:solidFill>
                  <a:schemeClr val="tx1">
                    <a:lumMod val="95000"/>
                    <a:lumOff val="5000"/>
                  </a:schemeClr>
                </a:solidFill>
              </a:rPr>
              <a:t>Présenté par: </a:t>
            </a:r>
          </a:p>
          <a:p>
            <a:pPr marL="342900" indent="-342900">
              <a:lnSpc>
                <a:spcPct val="150000"/>
              </a:lnSpc>
              <a:buFont typeface="Wingdings" panose="05000000000000000000" pitchFamily="2" charset="2"/>
              <a:buChar char="ü"/>
            </a:pPr>
            <a:r>
              <a:rPr lang="fr-FR" sz="1600" dirty="0"/>
              <a:t>HALIMA BOUCHAKKA</a:t>
            </a:r>
          </a:p>
          <a:p>
            <a:pPr marL="285750" indent="-285750">
              <a:buFont typeface="Wingdings" panose="05000000000000000000" pitchFamily="2" charset="2"/>
              <a:buChar char="ü"/>
            </a:pPr>
            <a:r>
              <a:rPr lang="fr-FR" sz="1600" dirty="0"/>
              <a:t>SALAH EDDINE OUIRRA</a:t>
            </a:r>
          </a:p>
        </p:txBody>
      </p:sp>
      <p:sp>
        <p:nvSpPr>
          <p:cNvPr id="9" name="ZoneTexte 8">
            <a:extLst>
              <a:ext uri="{FF2B5EF4-FFF2-40B4-BE49-F238E27FC236}">
                <a16:creationId xmlns:a16="http://schemas.microsoft.com/office/drawing/2014/main" xmlns="" id="{382C7923-F6E8-4674-BDBB-C60CBBB9EF77}"/>
              </a:ext>
            </a:extLst>
          </p:cNvPr>
          <p:cNvSpPr txBox="1"/>
          <p:nvPr/>
        </p:nvSpPr>
        <p:spPr>
          <a:xfrm>
            <a:off x="220729" y="5690720"/>
            <a:ext cx="3472070" cy="830997"/>
          </a:xfrm>
          <a:prstGeom prst="rect">
            <a:avLst/>
          </a:prstGeom>
          <a:noFill/>
        </p:spPr>
        <p:txBody>
          <a:bodyPr wrap="square" rtlCol="0">
            <a:spAutoFit/>
          </a:bodyPr>
          <a:lstStyle/>
          <a:p>
            <a:r>
              <a:rPr lang="fr-FR" sz="2800" b="1" dirty="0">
                <a:solidFill>
                  <a:schemeClr val="tx1">
                    <a:lumMod val="95000"/>
                    <a:lumOff val="5000"/>
                  </a:schemeClr>
                </a:solidFill>
                <a:effectLst>
                  <a:outerShdw blurRad="38100" dist="38100" dir="2700000" algn="tl">
                    <a:srgbClr val="000000">
                      <a:alpha val="43137"/>
                    </a:srgbClr>
                  </a:outerShdw>
                </a:effectLst>
              </a:rPr>
              <a:t>Encadré par:</a:t>
            </a:r>
          </a:p>
          <a:p>
            <a:r>
              <a:rPr lang="fr-FR" sz="2000" b="1" i="0" u="none" strike="noStrike" cap="none" dirty="0">
                <a:solidFill>
                  <a:srgbClr val="1C405D"/>
                </a:solidFill>
                <a:latin typeface="Times New Roman"/>
                <a:ea typeface="Times New Roman"/>
                <a:cs typeface="Times New Roman"/>
                <a:sym typeface="Times New Roman"/>
              </a:rPr>
              <a:t> Pr. </a:t>
            </a:r>
            <a:r>
              <a:rPr lang="fr-FR" sz="2000" b="1" dirty="0">
                <a:solidFill>
                  <a:srgbClr val="1C405D"/>
                </a:solidFill>
                <a:effectLst>
                  <a:outerShdw blurRad="38100" dist="38100" dir="2700000" algn="tl">
                    <a:srgbClr val="000000">
                      <a:alpha val="43137"/>
                    </a:srgbClr>
                  </a:outerShdw>
                </a:effectLst>
                <a:latin typeface="Times New Roman"/>
                <a:ea typeface="Times New Roman"/>
                <a:cs typeface="Times New Roman"/>
                <a:sym typeface="Times New Roman"/>
              </a:rPr>
              <a:t>SALWA BELAQZIZ</a:t>
            </a:r>
            <a:endParaRPr lang="fr-FR" dirty="0"/>
          </a:p>
        </p:txBody>
      </p:sp>
      <p:sp>
        <p:nvSpPr>
          <p:cNvPr id="10" name="Organigramme : Procédé 9">
            <a:extLst>
              <a:ext uri="{FF2B5EF4-FFF2-40B4-BE49-F238E27FC236}">
                <a16:creationId xmlns:a16="http://schemas.microsoft.com/office/drawing/2014/main" xmlns="" id="{CD116AD1-300F-4913-BAD3-5BEE60F7EDA5}"/>
              </a:ext>
            </a:extLst>
          </p:cNvPr>
          <p:cNvSpPr/>
          <p:nvPr/>
        </p:nvSpPr>
        <p:spPr>
          <a:xfrm>
            <a:off x="8070009" y="6238970"/>
            <a:ext cx="3116754" cy="394607"/>
          </a:xfrm>
          <a:prstGeom prst="flowChartProcess">
            <a:avLst/>
          </a:prstGeom>
          <a:solidFill>
            <a:schemeClr val="bg1">
              <a:lumMod val="95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lumMod val="65000"/>
                    <a:lumOff val="35000"/>
                  </a:schemeClr>
                </a:solidFill>
              </a:rPr>
              <a:t>Année universitaire: 2021/2022</a:t>
            </a:r>
          </a:p>
        </p:txBody>
      </p:sp>
      <p:sp>
        <p:nvSpPr>
          <p:cNvPr id="12" name="Triangle rectangle 11">
            <a:extLst>
              <a:ext uri="{FF2B5EF4-FFF2-40B4-BE49-F238E27FC236}">
                <a16:creationId xmlns:a16="http://schemas.microsoft.com/office/drawing/2014/main" xmlns="" id="{6DF0CED3-D8DE-4250-8661-28166EE8CB0A}"/>
              </a:ext>
            </a:extLst>
          </p:cNvPr>
          <p:cNvSpPr/>
          <p:nvPr/>
        </p:nvSpPr>
        <p:spPr>
          <a:xfrm rot="16200000">
            <a:off x="7459620" y="5917422"/>
            <a:ext cx="306378" cy="914400"/>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Triangle rectangle 12">
            <a:extLst>
              <a:ext uri="{FF2B5EF4-FFF2-40B4-BE49-F238E27FC236}">
                <a16:creationId xmlns:a16="http://schemas.microsoft.com/office/drawing/2014/main" xmlns="" id="{BACD29B9-4202-4887-A274-964D387ECF21}"/>
              </a:ext>
            </a:extLst>
          </p:cNvPr>
          <p:cNvSpPr/>
          <p:nvPr/>
        </p:nvSpPr>
        <p:spPr>
          <a:xfrm rot="5400000" flipV="1">
            <a:off x="7573516" y="6275032"/>
            <a:ext cx="246183" cy="746802"/>
          </a:xfrm>
          <a:prstGeom prst="rtTriangl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riangle rectangle 10">
            <a:extLst>
              <a:ext uri="{FF2B5EF4-FFF2-40B4-BE49-F238E27FC236}">
                <a16:creationId xmlns:a16="http://schemas.microsoft.com/office/drawing/2014/main" xmlns="" id="{A0167B65-0404-FB16-02F1-8ECDFBBDC702}"/>
              </a:ext>
            </a:extLst>
          </p:cNvPr>
          <p:cNvSpPr/>
          <p:nvPr/>
        </p:nvSpPr>
        <p:spPr>
          <a:xfrm rot="16200000" flipV="1">
            <a:off x="11431684" y="5935556"/>
            <a:ext cx="352527" cy="878129"/>
          </a:xfrm>
          <a:prstGeom prst="r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Triangle rectangle 13">
            <a:extLst>
              <a:ext uri="{FF2B5EF4-FFF2-40B4-BE49-F238E27FC236}">
                <a16:creationId xmlns:a16="http://schemas.microsoft.com/office/drawing/2014/main" xmlns="" id="{6CB73425-4510-04E3-094A-E573163F52CB}"/>
              </a:ext>
            </a:extLst>
          </p:cNvPr>
          <p:cNvSpPr/>
          <p:nvPr/>
        </p:nvSpPr>
        <p:spPr>
          <a:xfrm rot="5400000">
            <a:off x="11429622" y="6285673"/>
            <a:ext cx="242994" cy="728714"/>
          </a:xfrm>
          <a:prstGeom prst="rtTriangl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9592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32000">
              <a:schemeClr val="bg1"/>
            </a:gs>
            <a:gs pos="62000">
              <a:schemeClr val="bg1"/>
            </a:gs>
            <a:gs pos="48744">
              <a:srgbClr val="FFFFFF"/>
            </a:gs>
            <a:gs pos="52000">
              <a:schemeClr val="bg1"/>
            </a:gs>
            <a:gs pos="89080">
              <a:schemeClr val="bg1"/>
            </a:gs>
            <a:gs pos="100000">
              <a:schemeClr val="bg1"/>
            </a:gs>
          </a:gsLst>
          <a:path path="circle">
            <a:fillToRect t="100000" r="100000"/>
          </a:path>
          <a:tileRect/>
        </a:gradFill>
        <a:effectLst/>
      </p:bgPr>
    </p:bg>
    <p:spTree>
      <p:nvGrpSpPr>
        <p:cNvPr id="1" name=""/>
        <p:cNvGrpSpPr/>
        <p:nvPr/>
      </p:nvGrpSpPr>
      <p:grpSpPr>
        <a:xfrm>
          <a:off x="0" y="0"/>
          <a:ext cx="0" cy="0"/>
          <a:chOff x="0" y="0"/>
          <a:chExt cx="0" cy="0"/>
        </a:xfrm>
      </p:grpSpPr>
      <p:sp>
        <p:nvSpPr>
          <p:cNvPr id="19" name="Organigramme : Carte perforée 18">
            <a:extLst>
              <a:ext uri="{FF2B5EF4-FFF2-40B4-BE49-F238E27FC236}">
                <a16:creationId xmlns:a16="http://schemas.microsoft.com/office/drawing/2014/main" xmlns="" id="{99009322-6903-4783-A9A5-B91D2A4D9F27}"/>
              </a:ext>
            </a:extLst>
          </p:cNvPr>
          <p:cNvSpPr/>
          <p:nvPr/>
        </p:nvSpPr>
        <p:spPr>
          <a:xfrm>
            <a:off x="11277600" y="6036395"/>
            <a:ext cx="914400" cy="804672"/>
          </a:xfrm>
          <a:prstGeom prst="flowChartPunchedCard">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t>1</a:t>
            </a:r>
          </a:p>
        </p:txBody>
      </p:sp>
      <p:pic>
        <p:nvPicPr>
          <p:cNvPr id="3" name="Image 2">
            <a:extLst>
              <a:ext uri="{FF2B5EF4-FFF2-40B4-BE49-F238E27FC236}">
                <a16:creationId xmlns:a16="http://schemas.microsoft.com/office/drawing/2014/main" xmlns="" id="{FB0A51AD-B9C4-4DD4-82F6-E2C09A6A7C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511" y="1249019"/>
            <a:ext cx="3061045" cy="5483086"/>
          </a:xfrm>
          <a:prstGeom prst="rect">
            <a:avLst/>
          </a:prstGeom>
        </p:spPr>
      </p:pic>
      <p:sp>
        <p:nvSpPr>
          <p:cNvPr id="5" name="Rectangle : en biseau 4">
            <a:extLst>
              <a:ext uri="{FF2B5EF4-FFF2-40B4-BE49-F238E27FC236}">
                <a16:creationId xmlns:a16="http://schemas.microsoft.com/office/drawing/2014/main" xmlns="" id="{A5D199CE-AB3A-4CF0-8678-C778023A0E2B}"/>
              </a:ext>
            </a:extLst>
          </p:cNvPr>
          <p:cNvSpPr/>
          <p:nvPr/>
        </p:nvSpPr>
        <p:spPr>
          <a:xfrm>
            <a:off x="4134678" y="198782"/>
            <a:ext cx="5685183" cy="1042416"/>
          </a:xfrm>
          <a:prstGeom prst="bevel">
            <a:avLst/>
          </a:prstGeom>
          <a:solidFill>
            <a:srgbClr val="E9F5DB"/>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tx1"/>
                </a:solidFill>
                <a:effectLst>
                  <a:outerShdw blurRad="38100" dist="38100" dir="2700000" algn="tl">
                    <a:srgbClr val="000000">
                      <a:alpha val="43137"/>
                    </a:srgbClr>
                  </a:outerShdw>
                </a:effectLst>
                <a:latin typeface="Algerian" panose="04020705040A02060702" pitchFamily="82" charset="0"/>
              </a:rPr>
              <a:t>1-Introduction</a:t>
            </a:r>
          </a:p>
        </p:txBody>
      </p:sp>
      <p:sp>
        <p:nvSpPr>
          <p:cNvPr id="6" name="Rectangle : en biseau 5">
            <a:extLst>
              <a:ext uri="{FF2B5EF4-FFF2-40B4-BE49-F238E27FC236}">
                <a16:creationId xmlns:a16="http://schemas.microsoft.com/office/drawing/2014/main" xmlns="" id="{D5DC847D-E022-4BD4-BA4F-9E695C346EDE}"/>
              </a:ext>
            </a:extLst>
          </p:cNvPr>
          <p:cNvSpPr/>
          <p:nvPr/>
        </p:nvSpPr>
        <p:spPr>
          <a:xfrm>
            <a:off x="4134679" y="1524000"/>
            <a:ext cx="5685182" cy="1042416"/>
          </a:xfrm>
          <a:prstGeom prst="bevel">
            <a:avLst/>
          </a:prstGeom>
          <a:solidFill>
            <a:srgbClr val="D7EDBD"/>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b="1" dirty="0">
                <a:solidFill>
                  <a:schemeClr val="tx1"/>
                </a:solidFill>
                <a:effectLst>
                  <a:outerShdw blurRad="38100" dist="38100" dir="2700000" algn="tl">
                    <a:srgbClr val="000000">
                      <a:alpha val="43137"/>
                    </a:srgbClr>
                  </a:outerShdw>
                </a:effectLst>
                <a:latin typeface="Algerian" panose="04020705040A02060702" pitchFamily="82" charset="0"/>
              </a:rPr>
              <a:t>2-Analyse et conception </a:t>
            </a:r>
          </a:p>
        </p:txBody>
      </p:sp>
      <p:sp>
        <p:nvSpPr>
          <p:cNvPr id="7" name="Rectangle : en biseau 6">
            <a:extLst>
              <a:ext uri="{FF2B5EF4-FFF2-40B4-BE49-F238E27FC236}">
                <a16:creationId xmlns:a16="http://schemas.microsoft.com/office/drawing/2014/main" xmlns="" id="{8BB185D3-BF0F-4F52-9213-AF83A24C6B86}"/>
              </a:ext>
            </a:extLst>
          </p:cNvPr>
          <p:cNvSpPr/>
          <p:nvPr/>
        </p:nvSpPr>
        <p:spPr>
          <a:xfrm>
            <a:off x="4223069" y="2765331"/>
            <a:ext cx="5685183" cy="1042416"/>
          </a:xfrm>
          <a:prstGeom prst="bevel">
            <a:avLst/>
          </a:prstGeom>
          <a:solidFill>
            <a:srgbClr val="D7EDBD"/>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effectLst>
                  <a:outerShdw blurRad="38100" dist="38100" dir="2700000" algn="tl">
                    <a:srgbClr val="000000">
                      <a:alpha val="43137"/>
                    </a:srgbClr>
                  </a:outerShdw>
                </a:effectLst>
                <a:latin typeface="Algerian" panose="04020705040A02060702" pitchFamily="82" charset="0"/>
              </a:rPr>
              <a:t>3-Etude technique et environnement </a:t>
            </a:r>
          </a:p>
        </p:txBody>
      </p:sp>
      <p:sp>
        <p:nvSpPr>
          <p:cNvPr id="8" name="Rectangle : en biseau 7">
            <a:extLst>
              <a:ext uri="{FF2B5EF4-FFF2-40B4-BE49-F238E27FC236}">
                <a16:creationId xmlns:a16="http://schemas.microsoft.com/office/drawing/2014/main" xmlns="" id="{6BF6DED2-8674-4101-BFF7-A0F3EAD55205}"/>
              </a:ext>
            </a:extLst>
          </p:cNvPr>
          <p:cNvSpPr/>
          <p:nvPr/>
        </p:nvSpPr>
        <p:spPr>
          <a:xfrm>
            <a:off x="4223067" y="5515187"/>
            <a:ext cx="5685181" cy="1042416"/>
          </a:xfrm>
          <a:prstGeom prst="bevel">
            <a:avLst/>
          </a:prstGeom>
          <a:solidFill>
            <a:srgbClr val="D7EDBD"/>
          </a:solidFill>
          <a:ln>
            <a:solidFill>
              <a:srgbClr val="E9F5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effectLst>
                  <a:outerShdw blurRad="38100" dist="38100" dir="2700000" algn="tl">
                    <a:srgbClr val="000000">
                      <a:alpha val="43137"/>
                    </a:srgbClr>
                  </a:outerShdw>
                </a:effectLst>
                <a:latin typeface="Algerian" panose="04020705040A02060702" pitchFamily="82" charset="0"/>
              </a:rPr>
              <a:t>5-Conclusion et perspectives</a:t>
            </a:r>
          </a:p>
        </p:txBody>
      </p:sp>
      <p:sp>
        <p:nvSpPr>
          <p:cNvPr id="9" name="Rectangle : en biseau 8">
            <a:extLst>
              <a:ext uri="{FF2B5EF4-FFF2-40B4-BE49-F238E27FC236}">
                <a16:creationId xmlns:a16="http://schemas.microsoft.com/office/drawing/2014/main" xmlns="" id="{1BEB4A28-2339-4CEF-8C9C-20E23AC8E371}"/>
              </a:ext>
            </a:extLst>
          </p:cNvPr>
          <p:cNvSpPr/>
          <p:nvPr/>
        </p:nvSpPr>
        <p:spPr>
          <a:xfrm>
            <a:off x="4223068" y="4153099"/>
            <a:ext cx="5685181" cy="1042416"/>
          </a:xfrm>
          <a:prstGeom prst="bevel">
            <a:avLst/>
          </a:prstGeom>
          <a:solidFill>
            <a:srgbClr val="D7EDBD"/>
          </a:solidFill>
          <a:ln>
            <a:solidFill>
              <a:srgbClr val="E9F5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tx1"/>
                </a:solidFill>
                <a:effectLst>
                  <a:outerShdw blurRad="38100" dist="38100" dir="2700000" algn="tl">
                    <a:srgbClr val="000000">
                      <a:alpha val="43137"/>
                    </a:srgbClr>
                  </a:outerShdw>
                </a:effectLst>
                <a:latin typeface="Algerian" panose="04020705040A02060702" pitchFamily="82" charset="0"/>
              </a:rPr>
              <a:t>4-Interfaces</a:t>
            </a:r>
          </a:p>
        </p:txBody>
      </p:sp>
    </p:spTree>
    <p:extLst>
      <p:ext uri="{BB962C8B-B14F-4D97-AF65-F5344CB8AC3E}">
        <p14:creationId xmlns:p14="http://schemas.microsoft.com/office/powerpoint/2010/main" val="2057405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56000">
              <a:schemeClr val="bg1"/>
            </a:gs>
            <a:gs pos="87000">
              <a:schemeClr val="bg1"/>
            </a:gs>
            <a:gs pos="40000">
              <a:schemeClr val="bg1"/>
            </a:gs>
            <a:gs pos="89080">
              <a:schemeClr val="tx2">
                <a:lumMod val="40000"/>
                <a:lumOff val="60000"/>
              </a:schemeClr>
            </a:gs>
            <a:gs pos="100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8" name="Parchemin : horizontal 7">
            <a:extLst>
              <a:ext uri="{FF2B5EF4-FFF2-40B4-BE49-F238E27FC236}">
                <a16:creationId xmlns:a16="http://schemas.microsoft.com/office/drawing/2014/main" xmlns="" id="{08919E59-182D-49A4-A2E8-5167A52F9062}"/>
              </a:ext>
            </a:extLst>
          </p:cNvPr>
          <p:cNvSpPr/>
          <p:nvPr/>
        </p:nvSpPr>
        <p:spPr>
          <a:xfrm>
            <a:off x="208843" y="135466"/>
            <a:ext cx="7172618" cy="6547556"/>
          </a:xfrm>
          <a:prstGeom prst="horizontalScroll">
            <a:avLst/>
          </a:prstGeom>
          <a:solidFill>
            <a:srgbClr val="D7EDBD"/>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Rectangle 8">
            <a:extLst>
              <a:ext uri="{FF2B5EF4-FFF2-40B4-BE49-F238E27FC236}">
                <a16:creationId xmlns:a16="http://schemas.microsoft.com/office/drawing/2014/main" xmlns="" id="{E9E36C50-979F-4D15-B165-0EF0445E3E7D}"/>
              </a:ext>
            </a:extLst>
          </p:cNvPr>
          <p:cNvSpPr/>
          <p:nvPr/>
        </p:nvSpPr>
        <p:spPr>
          <a:xfrm>
            <a:off x="835377" y="1557864"/>
            <a:ext cx="5949736" cy="3027387"/>
          </a:xfrm>
          <a:prstGeom prst="rect">
            <a:avLst/>
          </a:prstGeom>
          <a:solidFill>
            <a:schemeClr val="tx2">
              <a:lumMod val="20000"/>
              <a:lumOff val="8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solidFill>
                <a:schemeClr val="bg1">
                  <a:lumMod val="50000"/>
                </a:schemeClr>
              </a:solidFill>
              <a:latin typeface="Arial Black" panose="020B0A04020102020204" pitchFamily="34" charset="0"/>
            </a:endParaRPr>
          </a:p>
        </p:txBody>
      </p:sp>
      <p:sp>
        <p:nvSpPr>
          <p:cNvPr id="10" name="Triangle rectangle 9">
            <a:extLst>
              <a:ext uri="{FF2B5EF4-FFF2-40B4-BE49-F238E27FC236}">
                <a16:creationId xmlns:a16="http://schemas.microsoft.com/office/drawing/2014/main" xmlns="" id="{D9AD7515-0040-4F4F-AE3E-759409051CD7}"/>
              </a:ext>
            </a:extLst>
          </p:cNvPr>
          <p:cNvSpPr/>
          <p:nvPr/>
        </p:nvSpPr>
        <p:spPr>
          <a:xfrm flipV="1">
            <a:off x="6793209" y="1557863"/>
            <a:ext cx="1998137" cy="2965789"/>
          </a:xfrm>
          <a:prstGeom prst="rtTriangle">
            <a:avLst/>
          </a:prstGeom>
          <a:solidFill>
            <a:schemeClr val="tx2">
              <a:lumMod val="20000"/>
              <a:lumOff val="8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 name="ZoneTexte 11">
            <a:extLst>
              <a:ext uri="{FF2B5EF4-FFF2-40B4-BE49-F238E27FC236}">
                <a16:creationId xmlns:a16="http://schemas.microsoft.com/office/drawing/2014/main" xmlns="" id="{D92E7898-D461-450C-8E36-6A49AB1B4844}"/>
              </a:ext>
            </a:extLst>
          </p:cNvPr>
          <p:cNvSpPr txBox="1"/>
          <p:nvPr/>
        </p:nvSpPr>
        <p:spPr>
          <a:xfrm>
            <a:off x="2049178" y="2055872"/>
            <a:ext cx="3589622" cy="2215991"/>
          </a:xfrm>
          <a:prstGeom prst="rect">
            <a:avLst/>
          </a:prstGeom>
          <a:noFill/>
        </p:spPr>
        <p:txBody>
          <a:bodyPr wrap="square" rtlCol="0">
            <a:spAutoFit/>
          </a:bodyPr>
          <a:lstStyle/>
          <a:p>
            <a:r>
              <a:rPr lang="fr-FR" sz="4400" b="1" dirty="0">
                <a:solidFill>
                  <a:srgbClr val="0070C0"/>
                </a:solidFill>
                <a:effectLst>
                  <a:outerShdw blurRad="38100" dist="38100" dir="2700000" algn="tl">
                    <a:srgbClr val="000000">
                      <a:alpha val="43137"/>
                    </a:srgbClr>
                  </a:outerShdw>
                </a:effectLst>
                <a:latin typeface="Bahnschrift SemiBold" panose="020B0502040204020203" pitchFamily="34" charset="0"/>
              </a:rPr>
              <a:t>Introduction</a:t>
            </a:r>
          </a:p>
          <a:p>
            <a:pPr marL="285750" indent="-285750">
              <a:buFont typeface="Wingdings" panose="05000000000000000000" pitchFamily="2" charset="2"/>
              <a:buChar char="Ø"/>
            </a:pPr>
            <a:endParaRPr lang="fr-FR" dirty="0"/>
          </a:p>
          <a:p>
            <a:pPr marL="285750" indent="-285750">
              <a:buFont typeface="Wingdings" panose="05000000000000000000" pitchFamily="2" charset="2"/>
              <a:buChar char="Ø"/>
            </a:pPr>
            <a:r>
              <a:rPr lang="fr-FR" b="1" i="1" dirty="0">
                <a:solidFill>
                  <a:schemeClr val="tx2">
                    <a:lumMod val="75000"/>
                  </a:schemeClr>
                </a:solidFill>
              </a:rPr>
              <a:t>Problématique</a:t>
            </a:r>
          </a:p>
          <a:p>
            <a:pPr marL="285750" indent="-285750">
              <a:buFont typeface="Wingdings" panose="05000000000000000000" pitchFamily="2" charset="2"/>
              <a:buChar char="Ø"/>
            </a:pPr>
            <a:r>
              <a:rPr lang="fr-FR" b="1" i="1" dirty="0">
                <a:solidFill>
                  <a:schemeClr val="tx2">
                    <a:lumMod val="75000"/>
                  </a:schemeClr>
                </a:solidFill>
              </a:rPr>
              <a:t>Solution adapté</a:t>
            </a:r>
          </a:p>
          <a:p>
            <a:pPr marL="285750" indent="-285750">
              <a:buFont typeface="Wingdings" panose="05000000000000000000" pitchFamily="2" charset="2"/>
              <a:buChar char="Ø"/>
            </a:pPr>
            <a:r>
              <a:rPr lang="fr-FR" b="1" i="1" dirty="0">
                <a:solidFill>
                  <a:schemeClr val="tx2">
                    <a:lumMod val="75000"/>
                  </a:schemeClr>
                </a:solidFill>
              </a:rPr>
              <a:t>Objectif</a:t>
            </a:r>
          </a:p>
          <a:p>
            <a:pPr marL="285750" indent="-285750">
              <a:buFont typeface="Wingdings" panose="05000000000000000000" pitchFamily="2" charset="2"/>
              <a:buChar char="Ø"/>
            </a:pPr>
            <a:r>
              <a:rPr lang="fr-FR" b="1" i="1" dirty="0">
                <a:solidFill>
                  <a:schemeClr val="tx2">
                    <a:lumMod val="75000"/>
                  </a:schemeClr>
                </a:solidFill>
              </a:rPr>
              <a:t>Conduite de projet</a:t>
            </a:r>
          </a:p>
        </p:txBody>
      </p:sp>
      <p:sp>
        <p:nvSpPr>
          <p:cNvPr id="13" name="Rectangle : avec coin rogné 12">
            <a:extLst>
              <a:ext uri="{FF2B5EF4-FFF2-40B4-BE49-F238E27FC236}">
                <a16:creationId xmlns:a16="http://schemas.microsoft.com/office/drawing/2014/main" xmlns="" id="{5A3BA6CC-1F83-4525-853E-E516F9B61BE7}"/>
              </a:ext>
            </a:extLst>
          </p:cNvPr>
          <p:cNvSpPr/>
          <p:nvPr/>
        </p:nvSpPr>
        <p:spPr>
          <a:xfrm flipH="1">
            <a:off x="11158329" y="6096000"/>
            <a:ext cx="1033670" cy="762000"/>
          </a:xfrm>
          <a:prstGeom prst="snip1Rect">
            <a:avLst/>
          </a:prstGeom>
          <a:solidFill>
            <a:srgbClr val="27264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effectLst>
                  <a:outerShdw blurRad="38100" dist="38100" dir="2700000" algn="tl">
                    <a:srgbClr val="000000">
                      <a:alpha val="43137"/>
                    </a:srgbClr>
                  </a:outerShdw>
                </a:effectLst>
              </a:rPr>
              <a:t>2</a:t>
            </a:r>
          </a:p>
        </p:txBody>
      </p:sp>
    </p:spTree>
    <p:extLst>
      <p:ext uri="{BB962C8B-B14F-4D97-AF65-F5344CB8AC3E}">
        <p14:creationId xmlns:p14="http://schemas.microsoft.com/office/powerpoint/2010/main" val="2970658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0"/>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3255" y="2471531"/>
            <a:ext cx="2451652" cy="2388916"/>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r>
              <a:rPr lang="fr-FR" b="1" dirty="0">
                <a:solidFill>
                  <a:srgbClr val="FF0000"/>
                </a:solidFill>
              </a:rPr>
              <a:t>Problématique</a:t>
            </a:r>
          </a:p>
          <a:p>
            <a:pPr marL="285750" indent="-285750" algn="ctr">
              <a:buFont typeface="Wingdings" panose="05000000000000000000" pitchFamily="2" charset="2"/>
              <a:buChar char="ü"/>
            </a:pPr>
            <a:r>
              <a:rPr lang="fr-FR" dirty="0">
                <a:solidFill>
                  <a:schemeClr val="bg1">
                    <a:lumMod val="50000"/>
                  </a:schemeClr>
                </a:solidFill>
              </a:rPr>
              <a:t>Solution adopté</a:t>
            </a:r>
            <a:endParaRPr lang="fr-FR" b="1" dirty="0">
              <a:solidFill>
                <a:srgbClr val="FF0000"/>
              </a:solidFill>
            </a:endParaRPr>
          </a:p>
          <a:p>
            <a:pPr marL="285750" indent="-285750" algn="ctr">
              <a:buFont typeface="Wingdings" panose="05000000000000000000" pitchFamily="2" charset="2"/>
              <a:buChar char="ü"/>
            </a:pPr>
            <a:r>
              <a:rPr lang="fr-FR" dirty="0">
                <a:solidFill>
                  <a:schemeClr val="bg1">
                    <a:lumMod val="50000"/>
                  </a:schemeClr>
                </a:solidFill>
              </a:rPr>
              <a:t>Contexte du projet</a:t>
            </a:r>
          </a:p>
          <a:p>
            <a:pPr marL="285750" indent="-285750" algn="ctr">
              <a:buFont typeface="Wingdings" panose="05000000000000000000" pitchFamily="2" charset="2"/>
              <a:buChar char="ü"/>
            </a:pPr>
            <a:r>
              <a:rPr lang="fr-FR" dirty="0">
                <a:solidFill>
                  <a:schemeClr val="bg1">
                    <a:lumMod val="50000"/>
                  </a:schemeClr>
                </a:solidFill>
              </a:rPr>
              <a:t>Objectifs          </a:t>
            </a:r>
          </a:p>
          <a:p>
            <a:pPr marL="285750" indent="-285750" algn="ctr">
              <a:buFont typeface="Wingdings" panose="05000000000000000000" pitchFamily="2" charset="2"/>
              <a:buChar char="ü"/>
            </a:pPr>
            <a:r>
              <a:rPr lang="fr-FR" dirty="0">
                <a:solidFill>
                  <a:schemeClr val="bg1">
                    <a:lumMod val="50000"/>
                  </a:schemeClr>
                </a:solidFill>
              </a:rPr>
              <a:t>Conduite du projet</a:t>
            </a: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p:txBody>
      </p:sp>
      <p:sp>
        <p:nvSpPr>
          <p:cNvPr id="16" name="Flèche : virage 15">
            <a:extLst>
              <a:ext uri="{FF2B5EF4-FFF2-40B4-BE49-F238E27FC236}">
                <a16:creationId xmlns:a16="http://schemas.microsoft.com/office/drawing/2014/main" xmlns="" id="{3D45598F-CE43-4F5D-89F7-4768B2A08E0F}"/>
              </a:ext>
            </a:extLst>
          </p:cNvPr>
          <p:cNvSpPr/>
          <p:nvPr/>
        </p:nvSpPr>
        <p:spPr>
          <a:xfrm rot="5400000">
            <a:off x="416381" y="1240999"/>
            <a:ext cx="1592381" cy="868680"/>
          </a:xfrm>
          <a:prstGeom prst="ben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 name="ZoneTexte 1">
            <a:extLst>
              <a:ext uri="{FF2B5EF4-FFF2-40B4-BE49-F238E27FC236}">
                <a16:creationId xmlns:a16="http://schemas.microsoft.com/office/drawing/2014/main" xmlns="" id="{8C39CCB6-AC38-4EB3-BEFD-3E97E1EDB4F0}"/>
              </a:ext>
            </a:extLst>
          </p:cNvPr>
          <p:cNvSpPr txBox="1"/>
          <p:nvPr/>
        </p:nvSpPr>
        <p:spPr>
          <a:xfrm>
            <a:off x="2438398" y="1091093"/>
            <a:ext cx="8839202" cy="7094250"/>
          </a:xfrm>
          <a:prstGeom prst="rect">
            <a:avLst/>
          </a:prstGeom>
          <a:noFill/>
        </p:spPr>
        <p:txBody>
          <a:bodyPr wrap="square" rtlCol="0">
            <a:spAutoFit/>
          </a:bodyPr>
          <a:lstStyle/>
          <a:p>
            <a:pPr>
              <a:buClr>
                <a:srgbClr val="00B050"/>
              </a:buClr>
            </a:pPr>
            <a:r>
              <a:rPr lang="fr-FR" sz="3200" b="1" dirty="0">
                <a:solidFill>
                  <a:schemeClr val="tx2">
                    <a:lumMod val="60000"/>
                    <a:lumOff val="40000"/>
                  </a:schemeClr>
                </a:solidFill>
                <a:effectLst>
                  <a:outerShdw blurRad="38100" dist="38100" dir="2700000" algn="tl">
                    <a:srgbClr val="000000">
                      <a:alpha val="43137"/>
                    </a:srgbClr>
                  </a:outerShdw>
                </a:effectLst>
                <a:latin typeface="+mj-lt"/>
              </a:rPr>
              <a:t>Problématique :</a:t>
            </a:r>
          </a:p>
          <a:p>
            <a:pPr marL="342900" lvl="0" indent="-342900" algn="just" rtl="0">
              <a:lnSpc>
                <a:spcPct val="150000"/>
              </a:lnSpc>
              <a:spcAft>
                <a:spcPts val="600"/>
              </a:spcAft>
              <a:buFont typeface="Wingdings" panose="05000000000000000000" pitchFamily="2" charset="2"/>
              <a:buChar char=""/>
            </a:pPr>
            <a:r>
              <a:rPr lang="fr-FR" sz="2000" b="1" u="sng" dirty="0">
                <a:effectLst/>
                <a:latin typeface="+mj-lt"/>
                <a:ea typeface="Calibri" panose="020F0502020204030204" pitchFamily="34" charset="0"/>
                <a:cs typeface="Times New Roman" panose="02020603050405020304" pitchFamily="18" charset="0"/>
              </a:rPr>
              <a:t> </a:t>
            </a:r>
            <a:r>
              <a:rPr lang="fr-FR" sz="2000" b="1" u="sng" dirty="0">
                <a:effectLst/>
                <a:highlight>
                  <a:srgbClr val="CEEAB0"/>
                </a:highlight>
                <a:latin typeface="+mj-lt"/>
                <a:ea typeface="Calibri" panose="020F0502020204030204" pitchFamily="34" charset="0"/>
                <a:cs typeface="Times New Roman" panose="02020603050405020304" pitchFamily="18" charset="0"/>
              </a:rPr>
              <a:t>le client</a:t>
            </a:r>
            <a:r>
              <a:rPr lang="fr-FR" sz="2000" b="1" u="sng" dirty="0">
                <a:effectLst/>
                <a:highlight>
                  <a:srgbClr val="CEEAB0"/>
                </a:highlight>
                <a:latin typeface="+mj-lt"/>
                <a:ea typeface="Times New Roman" panose="02020603050405020304" pitchFamily="18" charset="0"/>
                <a:cs typeface="Times New Roman" panose="02020603050405020304" pitchFamily="18" charset="0"/>
              </a:rPr>
              <a:t> :</a:t>
            </a:r>
            <a:r>
              <a:rPr lang="fr-FR" sz="2000" b="1" u="sng" dirty="0">
                <a:effectLst/>
                <a:highlight>
                  <a:srgbClr val="CEEAB0"/>
                </a:highlight>
                <a:latin typeface="+mj-lt"/>
                <a:ea typeface="Calibri" panose="020F0502020204030204" pitchFamily="34" charset="0"/>
                <a:cs typeface="Times New Roman" panose="02020603050405020304" pitchFamily="18" charset="0"/>
              </a:rPr>
              <a:t> </a:t>
            </a:r>
            <a:endParaRPr lang="fr-FR" sz="2000" b="1" dirty="0">
              <a:effectLst/>
              <a:highlight>
                <a:srgbClr val="CEEAB0"/>
              </a:highlight>
              <a:latin typeface="+mj-lt"/>
              <a:ea typeface="Times New Roman" panose="02020603050405020304" pitchFamily="18" charset="0"/>
            </a:endParaRPr>
          </a:p>
          <a:p>
            <a:pPr marL="342900" lvl="0" indent="-342900" algn="just">
              <a:lnSpc>
                <a:spcPct val="150000"/>
              </a:lnSpc>
              <a:spcAft>
                <a:spcPts val="600"/>
              </a:spcAft>
              <a:buFont typeface="Times New Roman" panose="02020603050405020304" pitchFamily="18" charset="0"/>
              <a:buChar char="-"/>
            </a:pPr>
            <a:r>
              <a:rPr lang="fr-FR" sz="1900" dirty="0">
                <a:effectLst/>
                <a:latin typeface="+mj-lt"/>
                <a:ea typeface="Calibri" panose="020F0502020204030204" pitchFamily="34" charset="0"/>
                <a:cs typeface="Times New Roman" panose="02020603050405020304" pitchFamily="18" charset="0"/>
              </a:rPr>
              <a:t>  Ajouter une demande exige nécessairement la présence physique du client, ce qui entraine des conséquences comme le taux de transport et perte des échantillons.</a:t>
            </a:r>
            <a:endParaRPr lang="fr-FR" sz="1900" dirty="0">
              <a:effectLst/>
              <a:latin typeface="+mj-lt"/>
              <a:ea typeface="Calibri" panose="020F0502020204030204" pitchFamily="34" charset="0"/>
            </a:endParaRPr>
          </a:p>
          <a:p>
            <a:pPr marL="342900" lvl="0" indent="-342900" algn="just">
              <a:lnSpc>
                <a:spcPct val="150000"/>
              </a:lnSpc>
              <a:spcAft>
                <a:spcPts val="600"/>
              </a:spcAft>
              <a:buFont typeface="Times New Roman" panose="02020603050405020304" pitchFamily="18" charset="0"/>
              <a:buChar char="-"/>
            </a:pPr>
            <a:r>
              <a:rPr lang="fr-FR" sz="1900" dirty="0">
                <a:effectLst/>
                <a:latin typeface="+mj-lt"/>
                <a:ea typeface="Calibri" panose="020F0502020204030204" pitchFamily="34" charset="0"/>
                <a:cs typeface="Times New Roman" panose="02020603050405020304" pitchFamily="18" charset="0"/>
              </a:rPr>
              <a:t>Difficulté de suivre l'état de la demande</a:t>
            </a:r>
            <a:endParaRPr lang="fr-FR" sz="1900" dirty="0">
              <a:effectLst/>
              <a:latin typeface="+mj-lt"/>
              <a:ea typeface="Calibri" panose="020F0502020204030204" pitchFamily="34" charset="0"/>
            </a:endParaRPr>
          </a:p>
          <a:p>
            <a:pPr marL="285750" lvl="0" indent="-285750" algn="just">
              <a:lnSpc>
                <a:spcPct val="150000"/>
              </a:lnSpc>
              <a:spcAft>
                <a:spcPts val="600"/>
              </a:spcAft>
              <a:buFont typeface="Wingdings" panose="05000000000000000000" pitchFamily="2" charset="2"/>
              <a:buChar char="ü"/>
            </a:pPr>
            <a:r>
              <a:rPr lang="fr-FR" sz="2000" b="1" u="sng" dirty="0">
                <a:effectLst/>
                <a:highlight>
                  <a:srgbClr val="CEEAB0"/>
                </a:highlight>
                <a:latin typeface="+mj-lt"/>
                <a:ea typeface="Calibri" panose="020F0502020204030204" pitchFamily="34" charset="0"/>
                <a:cs typeface="Times New Roman" panose="02020603050405020304" pitchFamily="18" charset="0"/>
              </a:rPr>
              <a:t>   l'administrateur</a:t>
            </a:r>
            <a:r>
              <a:rPr lang="fr-FR" sz="1800" dirty="0">
                <a:effectLst/>
                <a:highlight>
                  <a:srgbClr val="CEEAB0"/>
                </a:highlight>
                <a:latin typeface="+mj-lt"/>
                <a:ea typeface="Calibri" panose="020F0502020204030204" pitchFamily="34" charset="0"/>
                <a:cs typeface="Times New Roman" panose="02020603050405020304" pitchFamily="18" charset="0"/>
              </a:rPr>
              <a:t>:</a:t>
            </a:r>
            <a:endParaRPr lang="fr-FR" sz="1800" dirty="0">
              <a:effectLst/>
              <a:highlight>
                <a:srgbClr val="CEEAB0"/>
              </a:highlight>
              <a:latin typeface="+mj-lt"/>
              <a:ea typeface="Times New Roman" panose="02020603050405020304" pitchFamily="18" charset="0"/>
            </a:endParaRPr>
          </a:p>
          <a:p>
            <a:pPr marL="342900" lvl="0" indent="-342900" algn="just">
              <a:lnSpc>
                <a:spcPct val="150000"/>
              </a:lnSpc>
              <a:spcAft>
                <a:spcPts val="600"/>
              </a:spcAft>
              <a:buFont typeface="Roboto" panose="02000000000000000000" pitchFamily="2" charset="0"/>
              <a:buChar char="-"/>
            </a:pPr>
            <a:r>
              <a:rPr lang="fr-FR" sz="1900" dirty="0">
                <a:effectLst/>
                <a:latin typeface="+mj-lt"/>
                <a:ea typeface="Calibri" panose="020F0502020204030204" pitchFamily="34" charset="0"/>
                <a:cs typeface="Times New Roman" panose="02020603050405020304" pitchFamily="18" charset="0"/>
              </a:rPr>
              <a:t>la difficulté de gérer les demandes manuellement .</a:t>
            </a:r>
          </a:p>
          <a:p>
            <a:pPr marL="342900" lvl="0" indent="-342900" algn="just">
              <a:lnSpc>
                <a:spcPct val="150000"/>
              </a:lnSpc>
              <a:spcAft>
                <a:spcPts val="600"/>
              </a:spcAft>
              <a:buFont typeface="Roboto" panose="02000000000000000000" pitchFamily="2" charset="0"/>
              <a:buChar char="-"/>
            </a:pPr>
            <a:r>
              <a:rPr lang="fr-FR" sz="1900" dirty="0">
                <a:effectLst/>
                <a:latin typeface="+mj-lt"/>
                <a:ea typeface="Calibri" panose="020F0502020204030204" pitchFamily="34" charset="0"/>
                <a:cs typeface="Times New Roman" panose="02020603050405020304" pitchFamily="18" charset="0"/>
              </a:rPr>
              <a:t>Risque de perdre les demandes.</a:t>
            </a:r>
          </a:p>
          <a:p>
            <a:pPr marL="342900" lvl="0" indent="-342900" algn="just">
              <a:lnSpc>
                <a:spcPct val="150000"/>
              </a:lnSpc>
              <a:spcAft>
                <a:spcPts val="600"/>
              </a:spcAft>
              <a:buFont typeface="Roboto" panose="02000000000000000000" pitchFamily="2" charset="0"/>
              <a:buChar char="-"/>
            </a:pPr>
            <a:r>
              <a:rPr lang="fr-FR" sz="1900" dirty="0">
                <a:effectLst/>
                <a:latin typeface="+mj-lt"/>
                <a:ea typeface="Calibri" panose="020F0502020204030204" pitchFamily="34" charset="0"/>
                <a:cs typeface="Times New Roman" panose="02020603050405020304" pitchFamily="18" charset="0"/>
              </a:rPr>
              <a:t>perte de temps et d'efforts lorsqu'il est nécessaire d'informer le client de l'étape de sa demande.</a:t>
            </a:r>
          </a:p>
          <a:p>
            <a:pPr>
              <a:buClr>
                <a:srgbClr val="00B050"/>
              </a:buClr>
            </a:pPr>
            <a:endParaRPr lang="fr-FR" sz="3200" b="1" dirty="0">
              <a:solidFill>
                <a:schemeClr val="tx2">
                  <a:lumMod val="60000"/>
                  <a:lumOff val="40000"/>
                </a:schemeClr>
              </a:solidFill>
              <a:effectLst>
                <a:outerShdw blurRad="38100" dist="38100" dir="2700000" algn="tl">
                  <a:srgbClr val="000000">
                    <a:alpha val="43137"/>
                  </a:srgbClr>
                </a:outerShdw>
              </a:effectLst>
            </a:endParaRPr>
          </a:p>
          <a:p>
            <a:pPr marL="457200" indent="-457200">
              <a:buClr>
                <a:srgbClr val="00B050"/>
              </a:buClr>
              <a:buFont typeface="Wingdings" panose="05000000000000000000" pitchFamily="2" charset="2"/>
              <a:buChar char="Ø"/>
            </a:pPr>
            <a:endParaRPr lang="fr-FR" b="1" dirty="0">
              <a:effectLst>
                <a:outerShdw blurRad="38100" dist="38100" dir="2700000" algn="tl">
                  <a:srgbClr val="000000">
                    <a:alpha val="43137"/>
                  </a:srgbClr>
                </a:outerShdw>
              </a:effectLst>
            </a:endParaRPr>
          </a:p>
          <a:p>
            <a:pPr marL="457200" indent="-457200">
              <a:buClr>
                <a:srgbClr val="00B050"/>
              </a:buClr>
              <a:buFont typeface="Wingdings" panose="05000000000000000000" pitchFamily="2" charset="2"/>
              <a:buChar char="Ø"/>
            </a:pPr>
            <a:endParaRPr lang="fr-FR" b="1" dirty="0">
              <a:effectLst>
                <a:outerShdw blurRad="38100" dist="38100" dir="2700000" algn="tl">
                  <a:srgbClr val="000000">
                    <a:alpha val="43137"/>
                  </a:srgbClr>
                </a:outerShdw>
              </a:effectLst>
            </a:endParaRPr>
          </a:p>
          <a:p>
            <a:pPr>
              <a:buClr>
                <a:srgbClr val="00B050"/>
              </a:buClr>
            </a:pPr>
            <a:endParaRPr lang="fr-FR" sz="3200" b="1" dirty="0">
              <a:solidFill>
                <a:schemeClr val="accent1">
                  <a:lumMod val="40000"/>
                  <a:lumOff val="60000"/>
                </a:schemeClr>
              </a:solidFill>
              <a:effectLst>
                <a:outerShdw blurRad="38100" dist="38100" dir="2700000" algn="tl">
                  <a:srgbClr val="000000">
                    <a:alpha val="43137"/>
                  </a:srgbClr>
                </a:outerShdw>
              </a:effectLst>
            </a:endParaRPr>
          </a:p>
        </p:txBody>
      </p:sp>
      <p:sp>
        <p:nvSpPr>
          <p:cNvPr id="5" name="Rectangle : avec coin rogné 4">
            <a:extLst>
              <a:ext uri="{FF2B5EF4-FFF2-40B4-BE49-F238E27FC236}">
                <a16:creationId xmlns:a16="http://schemas.microsoft.com/office/drawing/2014/main" xmlns="" id="{67A3DD1D-B324-4BFC-8F39-D5F31F90979D}"/>
              </a:ext>
            </a:extLst>
          </p:cNvPr>
          <p:cNvSpPr/>
          <p:nvPr/>
        </p:nvSpPr>
        <p:spPr>
          <a:xfrm flipH="1">
            <a:off x="11277600" y="5943600"/>
            <a:ext cx="914400"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dirty="0"/>
              <a:t>3</a:t>
            </a:r>
          </a:p>
        </p:txBody>
      </p:sp>
    </p:spTree>
    <p:extLst>
      <p:ext uri="{BB962C8B-B14F-4D97-AF65-F5344CB8AC3E}">
        <p14:creationId xmlns:p14="http://schemas.microsoft.com/office/powerpoint/2010/main" val="3405607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0"/>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3255" y="2471531"/>
            <a:ext cx="2451652" cy="2388916"/>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r>
              <a:rPr lang="fr-FR" dirty="0">
                <a:solidFill>
                  <a:schemeClr val="bg1">
                    <a:lumMod val="50000"/>
                  </a:schemeClr>
                </a:solidFill>
              </a:rPr>
              <a:t>Problématique</a:t>
            </a:r>
          </a:p>
          <a:p>
            <a:pPr marL="285750" indent="-285750" algn="ctr">
              <a:buFont typeface="Wingdings" panose="05000000000000000000" pitchFamily="2" charset="2"/>
              <a:buChar char="ü"/>
            </a:pPr>
            <a:r>
              <a:rPr lang="fr-FR" b="1" dirty="0">
                <a:solidFill>
                  <a:srgbClr val="FF0000"/>
                </a:solidFill>
              </a:rPr>
              <a:t>Solution adopté</a:t>
            </a:r>
          </a:p>
          <a:p>
            <a:pPr marL="285750" indent="-285750" algn="ctr">
              <a:buFont typeface="Wingdings" panose="05000000000000000000" pitchFamily="2" charset="2"/>
              <a:buChar char="ü"/>
            </a:pPr>
            <a:r>
              <a:rPr lang="fr-FR" dirty="0">
                <a:solidFill>
                  <a:schemeClr val="bg1">
                    <a:lumMod val="50000"/>
                  </a:schemeClr>
                </a:solidFill>
              </a:rPr>
              <a:t>Contexte du projet</a:t>
            </a:r>
          </a:p>
          <a:p>
            <a:pPr marL="285750" indent="-285750" algn="ctr">
              <a:buFont typeface="Wingdings" panose="05000000000000000000" pitchFamily="2" charset="2"/>
              <a:buChar char="ü"/>
            </a:pPr>
            <a:r>
              <a:rPr lang="fr-FR" dirty="0">
                <a:solidFill>
                  <a:schemeClr val="bg1">
                    <a:lumMod val="50000"/>
                  </a:schemeClr>
                </a:solidFill>
              </a:rPr>
              <a:t>Objectifs</a:t>
            </a:r>
          </a:p>
          <a:p>
            <a:pPr marL="285750" indent="-285750" algn="ctr">
              <a:buFont typeface="Wingdings" panose="05000000000000000000" pitchFamily="2" charset="2"/>
              <a:buChar char="ü"/>
            </a:pPr>
            <a:r>
              <a:rPr lang="fr-FR" dirty="0">
                <a:solidFill>
                  <a:schemeClr val="bg1">
                    <a:lumMod val="50000"/>
                  </a:schemeClr>
                </a:solidFill>
              </a:rPr>
              <a:t>Conduite du projet</a:t>
            </a: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p:txBody>
      </p:sp>
      <p:sp>
        <p:nvSpPr>
          <p:cNvPr id="16" name="Flèche : virage 15">
            <a:extLst>
              <a:ext uri="{FF2B5EF4-FFF2-40B4-BE49-F238E27FC236}">
                <a16:creationId xmlns:a16="http://schemas.microsoft.com/office/drawing/2014/main" xmlns="" id="{3D45598F-CE43-4F5D-89F7-4768B2A08E0F}"/>
              </a:ext>
            </a:extLst>
          </p:cNvPr>
          <p:cNvSpPr/>
          <p:nvPr/>
        </p:nvSpPr>
        <p:spPr>
          <a:xfrm rot="5400000">
            <a:off x="416381" y="1240999"/>
            <a:ext cx="1592381" cy="868680"/>
          </a:xfrm>
          <a:prstGeom prst="ben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 name="ZoneTexte 1">
            <a:extLst>
              <a:ext uri="{FF2B5EF4-FFF2-40B4-BE49-F238E27FC236}">
                <a16:creationId xmlns:a16="http://schemas.microsoft.com/office/drawing/2014/main" xmlns="" id="{8C39CCB6-AC38-4EB3-BEFD-3E97E1EDB4F0}"/>
              </a:ext>
            </a:extLst>
          </p:cNvPr>
          <p:cNvSpPr txBox="1"/>
          <p:nvPr/>
        </p:nvSpPr>
        <p:spPr>
          <a:xfrm>
            <a:off x="3960576" y="3099424"/>
            <a:ext cx="7530881" cy="2677656"/>
          </a:xfrm>
          <a:prstGeom prst="rect">
            <a:avLst/>
          </a:prstGeom>
          <a:noFill/>
        </p:spPr>
        <p:txBody>
          <a:bodyPr wrap="square" rtlCol="0">
            <a:spAutoFit/>
          </a:bodyPr>
          <a:lstStyle/>
          <a:p>
            <a:pPr>
              <a:buClr>
                <a:srgbClr val="00B050"/>
              </a:buClr>
            </a:pPr>
            <a:r>
              <a:rPr lang="fr-FR" sz="3200" b="1" dirty="0">
                <a:solidFill>
                  <a:schemeClr val="tx2">
                    <a:lumMod val="60000"/>
                    <a:lumOff val="40000"/>
                  </a:schemeClr>
                </a:solidFill>
                <a:effectLst>
                  <a:outerShdw blurRad="38100" dist="38100" dir="2700000" algn="tl">
                    <a:srgbClr val="000000">
                      <a:alpha val="43137"/>
                    </a:srgbClr>
                  </a:outerShdw>
                </a:effectLst>
              </a:rPr>
              <a:t>Solution adopté :</a:t>
            </a:r>
          </a:p>
          <a:p>
            <a:pPr>
              <a:buClr>
                <a:srgbClr val="00B050"/>
              </a:buClr>
            </a:pPr>
            <a:endParaRPr lang="fr-FR" sz="3200" b="1" dirty="0">
              <a:solidFill>
                <a:schemeClr val="tx2">
                  <a:lumMod val="60000"/>
                  <a:lumOff val="40000"/>
                </a:schemeClr>
              </a:solidFill>
              <a:effectLst>
                <a:outerShdw blurRad="38100" dist="38100" dir="2700000" algn="tl">
                  <a:srgbClr val="000000">
                    <a:alpha val="43137"/>
                  </a:srgbClr>
                </a:outerShdw>
              </a:effectLst>
            </a:endParaRPr>
          </a:p>
          <a:p>
            <a:pPr>
              <a:buClr>
                <a:srgbClr val="00B050"/>
              </a:buClr>
            </a:pPr>
            <a:r>
              <a:rPr lang="fr-FR" b="1" dirty="0">
                <a:effectLst>
                  <a:outerShdw blurRad="38100" dist="38100" dir="2700000" algn="tl">
                    <a:srgbClr val="000000">
                      <a:alpha val="43137"/>
                    </a:srgbClr>
                  </a:outerShdw>
                </a:effectLst>
              </a:rPr>
              <a:t> Et c’est ce que nous avons essayé de réaliser dans notre travail en créant un site capable de résoudre tous ces problèmes.</a:t>
            </a:r>
          </a:p>
          <a:p>
            <a:pPr marL="457200" indent="-457200">
              <a:buClr>
                <a:srgbClr val="00B050"/>
              </a:buClr>
              <a:buFont typeface="Wingdings" panose="05000000000000000000" pitchFamily="2" charset="2"/>
              <a:buChar char="Ø"/>
            </a:pPr>
            <a:endParaRPr lang="fr-FR" b="1" dirty="0">
              <a:effectLst>
                <a:outerShdw blurRad="38100" dist="38100" dir="2700000" algn="tl">
                  <a:srgbClr val="000000">
                    <a:alpha val="43137"/>
                  </a:srgbClr>
                </a:outerShdw>
              </a:effectLst>
            </a:endParaRPr>
          </a:p>
          <a:p>
            <a:pPr marL="457200" indent="-457200">
              <a:buClr>
                <a:srgbClr val="00B050"/>
              </a:buClr>
              <a:buFont typeface="Wingdings" panose="05000000000000000000" pitchFamily="2" charset="2"/>
              <a:buChar char="Ø"/>
            </a:pPr>
            <a:endParaRPr lang="fr-FR" b="1" dirty="0">
              <a:effectLst>
                <a:outerShdw blurRad="38100" dist="38100" dir="2700000" algn="tl">
                  <a:srgbClr val="000000">
                    <a:alpha val="43137"/>
                  </a:srgbClr>
                </a:outerShdw>
              </a:effectLst>
            </a:endParaRPr>
          </a:p>
          <a:p>
            <a:pPr marL="457200" indent="-457200">
              <a:buClr>
                <a:srgbClr val="00B050"/>
              </a:buClr>
              <a:buFont typeface="Wingdings" panose="05000000000000000000" pitchFamily="2" charset="2"/>
              <a:buChar char="Ø"/>
            </a:pPr>
            <a:endParaRPr lang="fr-FR" sz="3200" b="1" dirty="0">
              <a:solidFill>
                <a:schemeClr val="accent1">
                  <a:lumMod val="40000"/>
                  <a:lumOff val="60000"/>
                </a:schemeClr>
              </a:solidFill>
              <a:effectLst>
                <a:outerShdw blurRad="38100" dist="38100" dir="2700000" algn="tl">
                  <a:srgbClr val="000000">
                    <a:alpha val="43137"/>
                  </a:srgbClr>
                </a:outerShdw>
              </a:effectLst>
            </a:endParaRPr>
          </a:p>
        </p:txBody>
      </p:sp>
      <p:sp>
        <p:nvSpPr>
          <p:cNvPr id="3" name="Rectangle : avec coin rogné 2">
            <a:extLst>
              <a:ext uri="{FF2B5EF4-FFF2-40B4-BE49-F238E27FC236}">
                <a16:creationId xmlns:a16="http://schemas.microsoft.com/office/drawing/2014/main" xmlns="" id="{1BF16290-0EE5-4751-AE9C-53D9468A1365}"/>
              </a:ext>
            </a:extLst>
          </p:cNvPr>
          <p:cNvSpPr/>
          <p:nvPr/>
        </p:nvSpPr>
        <p:spPr>
          <a:xfrm flipH="1">
            <a:off x="11171377" y="5943600"/>
            <a:ext cx="1020623" cy="914400"/>
          </a:xfrm>
          <a:prstGeom prst="snip1Rect">
            <a:avLst/>
          </a:prstGeom>
          <a:solidFill>
            <a:srgbClr val="27264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t>4</a:t>
            </a:r>
          </a:p>
        </p:txBody>
      </p:sp>
    </p:spTree>
    <p:extLst>
      <p:ext uri="{BB962C8B-B14F-4D97-AF65-F5344CB8AC3E}">
        <p14:creationId xmlns:p14="http://schemas.microsoft.com/office/powerpoint/2010/main" val="4203478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0"/>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63024" y="2019423"/>
            <a:ext cx="2451652" cy="2388916"/>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r>
              <a:rPr lang="fr-FR" dirty="0">
                <a:solidFill>
                  <a:schemeClr val="bg1">
                    <a:lumMod val="50000"/>
                  </a:schemeClr>
                </a:solidFill>
              </a:rPr>
              <a:t>Problématique</a:t>
            </a:r>
          </a:p>
          <a:p>
            <a:pPr marL="285750" indent="-285750" algn="ctr">
              <a:buFont typeface="Wingdings" panose="05000000000000000000" pitchFamily="2" charset="2"/>
              <a:buChar char="ü"/>
            </a:pPr>
            <a:r>
              <a:rPr lang="fr-FR" dirty="0">
                <a:solidFill>
                  <a:schemeClr val="bg1">
                    <a:lumMod val="50000"/>
                  </a:schemeClr>
                </a:solidFill>
              </a:rPr>
              <a:t>Solution adopté</a:t>
            </a:r>
          </a:p>
          <a:p>
            <a:pPr marL="285750" indent="-285750" algn="ctr">
              <a:buFont typeface="Wingdings" panose="05000000000000000000" pitchFamily="2" charset="2"/>
              <a:buChar char="ü"/>
            </a:pPr>
            <a:r>
              <a:rPr lang="fr-FR" b="1" dirty="0">
                <a:solidFill>
                  <a:srgbClr val="FF0000"/>
                </a:solidFill>
              </a:rPr>
              <a:t>Contexte du projet</a:t>
            </a:r>
          </a:p>
          <a:p>
            <a:pPr marL="285750" indent="-285750" algn="ctr">
              <a:buFont typeface="Wingdings" panose="05000000000000000000" pitchFamily="2" charset="2"/>
              <a:buChar char="ü"/>
            </a:pPr>
            <a:r>
              <a:rPr lang="fr-FR" dirty="0">
                <a:solidFill>
                  <a:schemeClr val="bg1">
                    <a:lumMod val="50000"/>
                  </a:schemeClr>
                </a:solidFill>
              </a:rPr>
              <a:t>Objectifs</a:t>
            </a:r>
          </a:p>
          <a:p>
            <a:pPr marL="285750" indent="-285750" algn="ctr">
              <a:buFont typeface="Wingdings" panose="05000000000000000000" pitchFamily="2" charset="2"/>
              <a:buChar char="ü"/>
            </a:pPr>
            <a:r>
              <a:rPr lang="fr-FR" dirty="0">
                <a:solidFill>
                  <a:schemeClr val="bg1">
                    <a:lumMod val="50000"/>
                  </a:schemeClr>
                </a:solidFill>
              </a:rPr>
              <a:t>Conduite du projet</a:t>
            </a: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p:txBody>
      </p:sp>
      <p:sp>
        <p:nvSpPr>
          <p:cNvPr id="16" name="Flèche : virage 15">
            <a:extLst>
              <a:ext uri="{FF2B5EF4-FFF2-40B4-BE49-F238E27FC236}">
                <a16:creationId xmlns:a16="http://schemas.microsoft.com/office/drawing/2014/main" xmlns="" id="{3D45598F-CE43-4F5D-89F7-4768B2A08E0F}"/>
              </a:ext>
            </a:extLst>
          </p:cNvPr>
          <p:cNvSpPr/>
          <p:nvPr/>
        </p:nvSpPr>
        <p:spPr>
          <a:xfrm rot="5400000">
            <a:off x="654675" y="1047863"/>
            <a:ext cx="1115794" cy="868680"/>
          </a:xfrm>
          <a:prstGeom prst="ben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 name="ZoneTexte 1">
            <a:extLst>
              <a:ext uri="{FF2B5EF4-FFF2-40B4-BE49-F238E27FC236}">
                <a16:creationId xmlns:a16="http://schemas.microsoft.com/office/drawing/2014/main" xmlns="" id="{8C39CCB6-AC38-4EB3-BEFD-3E97E1EDB4F0}"/>
              </a:ext>
            </a:extLst>
          </p:cNvPr>
          <p:cNvSpPr txBox="1"/>
          <p:nvPr/>
        </p:nvSpPr>
        <p:spPr>
          <a:xfrm>
            <a:off x="2738064" y="939390"/>
            <a:ext cx="8491663" cy="3077766"/>
          </a:xfrm>
          <a:prstGeom prst="rect">
            <a:avLst/>
          </a:prstGeom>
          <a:noFill/>
        </p:spPr>
        <p:txBody>
          <a:bodyPr wrap="square" rtlCol="0">
            <a:spAutoFit/>
          </a:bodyPr>
          <a:lstStyle/>
          <a:p>
            <a:pPr>
              <a:buClr>
                <a:srgbClr val="00B050"/>
              </a:buClr>
            </a:pPr>
            <a:r>
              <a:rPr lang="fr-FR" sz="3200" b="1" dirty="0">
                <a:solidFill>
                  <a:schemeClr val="tx2">
                    <a:lumMod val="60000"/>
                    <a:lumOff val="40000"/>
                  </a:schemeClr>
                </a:solidFill>
                <a:effectLst>
                  <a:outerShdw blurRad="38100" dist="38100" dir="2700000" algn="tl">
                    <a:srgbClr val="000000">
                      <a:alpha val="43137"/>
                    </a:srgbClr>
                  </a:outerShdw>
                </a:effectLst>
              </a:rPr>
              <a:t>Le travail collaboratif :</a:t>
            </a:r>
          </a:p>
          <a:p>
            <a:pPr>
              <a:buClr>
                <a:srgbClr val="00B050"/>
              </a:buClr>
            </a:pPr>
            <a:r>
              <a:rPr lang="fr-FR" b="0" i="0" dirty="0">
                <a:solidFill>
                  <a:srgbClr val="4B4D49"/>
                </a:solidFill>
                <a:effectLst/>
                <a:latin typeface="+mj-lt"/>
              </a:rPr>
              <a:t>Une équipe est un rassemblement d'individus qui </a:t>
            </a:r>
            <a:r>
              <a:rPr lang="fr-FR" b="1" i="0" dirty="0">
                <a:solidFill>
                  <a:srgbClr val="4B4D49"/>
                </a:solidFill>
                <a:effectLst/>
                <a:latin typeface="+mj-lt"/>
              </a:rPr>
              <a:t>se regroupe dans un but commun:</a:t>
            </a:r>
            <a:r>
              <a:rPr lang="fr-FR" b="0" i="0" dirty="0">
                <a:solidFill>
                  <a:srgbClr val="4B4D49"/>
                </a:solidFill>
                <a:effectLst/>
                <a:latin typeface="+mj-lt"/>
              </a:rPr>
              <a:t> travailler, progresser et réussir les uns avec les autres sur un même projet.</a:t>
            </a:r>
            <a:endParaRPr lang="fr-FR" b="1" dirty="0">
              <a:solidFill>
                <a:schemeClr val="tx2">
                  <a:lumMod val="60000"/>
                  <a:lumOff val="40000"/>
                </a:schemeClr>
              </a:solidFill>
              <a:effectLst>
                <a:outerShdw blurRad="38100" dist="38100" dir="2700000" algn="tl">
                  <a:srgbClr val="000000">
                    <a:alpha val="43137"/>
                  </a:srgbClr>
                </a:outerShdw>
              </a:effectLst>
              <a:latin typeface="+mj-lt"/>
            </a:endParaRPr>
          </a:p>
          <a:p>
            <a:pPr>
              <a:buClr>
                <a:srgbClr val="00B050"/>
              </a:buClr>
            </a:pPr>
            <a:r>
              <a:rPr lang="fr-FR" b="1" dirty="0">
                <a:effectLst>
                  <a:outerShdw blurRad="38100" dist="38100" dir="2700000" algn="tl">
                    <a:srgbClr val="000000">
                      <a:alpha val="43137"/>
                    </a:srgbClr>
                  </a:outerShdw>
                </a:effectLst>
              </a:rPr>
              <a:t> </a:t>
            </a:r>
          </a:p>
          <a:p>
            <a:pPr>
              <a:buClr>
                <a:srgbClr val="00B050"/>
              </a:buClr>
            </a:pPr>
            <a:endParaRPr lang="fr-FR" b="1" dirty="0">
              <a:effectLst>
                <a:outerShdw blurRad="38100" dist="38100" dir="2700000" algn="tl">
                  <a:srgbClr val="000000">
                    <a:alpha val="43137"/>
                  </a:srgbClr>
                </a:outerShdw>
              </a:effectLst>
            </a:endParaRPr>
          </a:p>
          <a:p>
            <a:pPr>
              <a:buClr>
                <a:srgbClr val="00B050"/>
              </a:buClr>
            </a:pPr>
            <a:endParaRPr lang="fr-FR" b="1" dirty="0">
              <a:effectLst>
                <a:outerShdw blurRad="38100" dist="38100" dir="2700000" algn="tl">
                  <a:srgbClr val="000000">
                    <a:alpha val="43137"/>
                  </a:srgbClr>
                </a:outerShdw>
              </a:effectLst>
            </a:endParaRPr>
          </a:p>
          <a:p>
            <a:pPr marL="457200" indent="-457200">
              <a:buClr>
                <a:srgbClr val="00B050"/>
              </a:buClr>
              <a:buFont typeface="Wingdings" panose="05000000000000000000" pitchFamily="2" charset="2"/>
              <a:buChar char="Ø"/>
            </a:pPr>
            <a:endParaRPr lang="fr-FR" b="1" dirty="0">
              <a:effectLst>
                <a:outerShdw blurRad="38100" dist="38100" dir="2700000" algn="tl">
                  <a:srgbClr val="000000">
                    <a:alpha val="43137"/>
                  </a:srgbClr>
                </a:outerShdw>
              </a:effectLst>
            </a:endParaRPr>
          </a:p>
          <a:p>
            <a:pPr marL="457200" indent="-457200">
              <a:buClr>
                <a:srgbClr val="00B050"/>
              </a:buClr>
              <a:buFont typeface="Wingdings" panose="05000000000000000000" pitchFamily="2" charset="2"/>
              <a:buChar char="Ø"/>
            </a:pPr>
            <a:endParaRPr lang="fr-FR" sz="3200" b="1" dirty="0">
              <a:solidFill>
                <a:schemeClr val="accent1">
                  <a:lumMod val="40000"/>
                  <a:lumOff val="60000"/>
                </a:schemeClr>
              </a:solidFill>
              <a:effectLst>
                <a:outerShdw blurRad="38100" dist="38100" dir="2700000" algn="tl">
                  <a:srgbClr val="000000">
                    <a:alpha val="43137"/>
                  </a:srgbClr>
                </a:outerShdw>
              </a:effectLst>
            </a:endParaRPr>
          </a:p>
        </p:txBody>
      </p:sp>
      <p:pic>
        <p:nvPicPr>
          <p:cNvPr id="4" name="Image 3">
            <a:extLst>
              <a:ext uri="{FF2B5EF4-FFF2-40B4-BE49-F238E27FC236}">
                <a16:creationId xmlns:a16="http://schemas.microsoft.com/office/drawing/2014/main" xmlns="" id="{3BA4A63E-3134-404E-B50D-A8CBA79CFB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5552" y="3308926"/>
            <a:ext cx="3143249" cy="2043868"/>
          </a:xfrm>
          <a:prstGeom prst="rect">
            <a:avLst/>
          </a:prstGeom>
        </p:spPr>
      </p:pic>
      <p:sp>
        <p:nvSpPr>
          <p:cNvPr id="7" name="Flèche : droite 6">
            <a:extLst>
              <a:ext uri="{FF2B5EF4-FFF2-40B4-BE49-F238E27FC236}">
                <a16:creationId xmlns:a16="http://schemas.microsoft.com/office/drawing/2014/main" xmlns="" id="{268E2FCB-26FA-43C3-AF09-9938A0AE1735}"/>
              </a:ext>
            </a:extLst>
          </p:cNvPr>
          <p:cNvSpPr/>
          <p:nvPr/>
        </p:nvSpPr>
        <p:spPr>
          <a:xfrm flipH="1">
            <a:off x="8309110" y="3978078"/>
            <a:ext cx="702366" cy="1076276"/>
          </a:xfrm>
          <a:prstGeom prst="rightArrow">
            <a:avLst/>
          </a:prstGeom>
          <a:solidFill>
            <a:srgbClr val="BCC1EE"/>
          </a:solidFill>
          <a:ln>
            <a:solidFill>
              <a:srgbClr val="BCC1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lèche : droite 13">
            <a:extLst>
              <a:ext uri="{FF2B5EF4-FFF2-40B4-BE49-F238E27FC236}">
                <a16:creationId xmlns:a16="http://schemas.microsoft.com/office/drawing/2014/main" xmlns="" id="{EE41AA31-0425-4A42-8C7C-A4BB852D5A91}"/>
              </a:ext>
            </a:extLst>
          </p:cNvPr>
          <p:cNvSpPr/>
          <p:nvPr/>
        </p:nvSpPr>
        <p:spPr>
          <a:xfrm>
            <a:off x="4684146" y="3848947"/>
            <a:ext cx="501097" cy="1549021"/>
          </a:xfrm>
          <a:prstGeom prst="rightArrow">
            <a:avLst>
              <a:gd name="adj1" fmla="val 50000"/>
              <a:gd name="adj2" fmla="val 47355"/>
            </a:avLst>
          </a:prstGeom>
          <a:solidFill>
            <a:srgbClr val="BCC1EE"/>
          </a:solidFill>
          <a:ln>
            <a:solidFill>
              <a:srgbClr val="BCC1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Flèche : bas 14">
            <a:extLst>
              <a:ext uri="{FF2B5EF4-FFF2-40B4-BE49-F238E27FC236}">
                <a16:creationId xmlns:a16="http://schemas.microsoft.com/office/drawing/2014/main" xmlns="" id="{538122ED-C709-446C-995D-F641959A499A}"/>
              </a:ext>
            </a:extLst>
          </p:cNvPr>
          <p:cNvSpPr/>
          <p:nvPr/>
        </p:nvSpPr>
        <p:spPr>
          <a:xfrm>
            <a:off x="6252854" y="2726692"/>
            <a:ext cx="484632" cy="612648"/>
          </a:xfrm>
          <a:prstGeom prst="downArrow">
            <a:avLst/>
          </a:prstGeom>
          <a:solidFill>
            <a:srgbClr val="BCC1EE"/>
          </a:solidFill>
          <a:ln>
            <a:solidFill>
              <a:srgbClr val="BCC1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lèche : bas 16">
            <a:extLst>
              <a:ext uri="{FF2B5EF4-FFF2-40B4-BE49-F238E27FC236}">
                <a16:creationId xmlns:a16="http://schemas.microsoft.com/office/drawing/2014/main" xmlns="" id="{3E800265-1659-4358-8F52-AD07D3B79691}"/>
              </a:ext>
            </a:extLst>
          </p:cNvPr>
          <p:cNvSpPr/>
          <p:nvPr/>
        </p:nvSpPr>
        <p:spPr>
          <a:xfrm flipV="1">
            <a:off x="6347903" y="5352794"/>
            <a:ext cx="635992" cy="594518"/>
          </a:xfrm>
          <a:prstGeom prst="downArrow">
            <a:avLst/>
          </a:prstGeom>
          <a:solidFill>
            <a:srgbClr val="BCC1EE"/>
          </a:solidFill>
          <a:ln>
            <a:solidFill>
              <a:srgbClr val="BCC1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rganigramme : Procédé 17">
            <a:extLst>
              <a:ext uri="{FF2B5EF4-FFF2-40B4-BE49-F238E27FC236}">
                <a16:creationId xmlns:a16="http://schemas.microsoft.com/office/drawing/2014/main" xmlns="" id="{31233005-9E2B-48F3-9B94-8893F74D94E5}"/>
              </a:ext>
            </a:extLst>
          </p:cNvPr>
          <p:cNvSpPr/>
          <p:nvPr/>
        </p:nvSpPr>
        <p:spPr>
          <a:xfrm>
            <a:off x="9011476" y="4240696"/>
            <a:ext cx="3180523" cy="551040"/>
          </a:xfrm>
          <a:prstGeom prst="flowChartProcess">
            <a:avLst/>
          </a:prstGeom>
          <a:solidFill>
            <a:srgbClr val="BCC1EE"/>
          </a:solidFill>
          <a:ln>
            <a:solidFill>
              <a:srgbClr val="BCC1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La communication : la clé de la performance</a:t>
            </a:r>
          </a:p>
        </p:txBody>
      </p:sp>
      <p:sp>
        <p:nvSpPr>
          <p:cNvPr id="19" name="Organigramme : Procédé 18">
            <a:extLst>
              <a:ext uri="{FF2B5EF4-FFF2-40B4-BE49-F238E27FC236}">
                <a16:creationId xmlns:a16="http://schemas.microsoft.com/office/drawing/2014/main" xmlns="" id="{96150540-3E8E-48A9-A805-0D5449D74D3B}"/>
              </a:ext>
            </a:extLst>
          </p:cNvPr>
          <p:cNvSpPr/>
          <p:nvPr/>
        </p:nvSpPr>
        <p:spPr>
          <a:xfrm>
            <a:off x="4406345" y="2114044"/>
            <a:ext cx="4253948" cy="612648"/>
          </a:xfrm>
          <a:prstGeom prst="flowChartProcess">
            <a:avLst/>
          </a:prstGeom>
          <a:solidFill>
            <a:srgbClr val="BCC1EE"/>
          </a:solidFill>
          <a:ln>
            <a:solidFill>
              <a:srgbClr val="BCC1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Booster la performance : développer et acquérir la confiance</a:t>
            </a:r>
          </a:p>
        </p:txBody>
      </p:sp>
      <p:sp>
        <p:nvSpPr>
          <p:cNvPr id="20" name="Rectangle 19">
            <a:extLst>
              <a:ext uri="{FF2B5EF4-FFF2-40B4-BE49-F238E27FC236}">
                <a16:creationId xmlns:a16="http://schemas.microsoft.com/office/drawing/2014/main" xmlns="" id="{0A7B6B94-620D-49BA-93AE-C2A6B82CA171}"/>
              </a:ext>
            </a:extLst>
          </p:cNvPr>
          <p:cNvSpPr/>
          <p:nvPr/>
        </p:nvSpPr>
        <p:spPr>
          <a:xfrm>
            <a:off x="2420257" y="4240696"/>
            <a:ext cx="2244505" cy="765924"/>
          </a:xfrm>
          <a:prstGeom prst="rect">
            <a:avLst/>
          </a:prstGeom>
          <a:solidFill>
            <a:srgbClr val="BCC1EE"/>
          </a:solidFill>
          <a:ln>
            <a:solidFill>
              <a:srgbClr val="BCC1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Une organisation précise et délimitée</a:t>
            </a:r>
          </a:p>
        </p:txBody>
      </p:sp>
      <p:sp>
        <p:nvSpPr>
          <p:cNvPr id="21" name="Organigramme : Procédé 20">
            <a:extLst>
              <a:ext uri="{FF2B5EF4-FFF2-40B4-BE49-F238E27FC236}">
                <a16:creationId xmlns:a16="http://schemas.microsoft.com/office/drawing/2014/main" xmlns="" id="{F1DE19EC-50BB-4F77-AA2C-056211E89724}"/>
              </a:ext>
            </a:extLst>
          </p:cNvPr>
          <p:cNvSpPr/>
          <p:nvPr/>
        </p:nvSpPr>
        <p:spPr>
          <a:xfrm>
            <a:off x="4876800" y="5947312"/>
            <a:ext cx="3481758" cy="786294"/>
          </a:xfrm>
          <a:prstGeom prst="flowChartProcess">
            <a:avLst/>
          </a:prstGeom>
          <a:solidFill>
            <a:srgbClr val="BCC1EE"/>
          </a:solidFill>
          <a:ln>
            <a:solidFill>
              <a:srgbClr val="BCC1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fr-FR" dirty="0">
                <a:solidFill>
                  <a:schemeClr val="tx1"/>
                </a:solidFill>
              </a:rPr>
              <a:t>Association des compétences, savoir-faire et expériences</a:t>
            </a:r>
          </a:p>
        </p:txBody>
      </p:sp>
      <p:sp>
        <p:nvSpPr>
          <p:cNvPr id="22" name="Rectangle : avec coin rogné 21">
            <a:extLst>
              <a:ext uri="{FF2B5EF4-FFF2-40B4-BE49-F238E27FC236}">
                <a16:creationId xmlns:a16="http://schemas.microsoft.com/office/drawing/2014/main" xmlns="" id="{FFF0D512-7AB9-4B51-97F9-A0B363AFA955}"/>
              </a:ext>
            </a:extLst>
          </p:cNvPr>
          <p:cNvSpPr/>
          <p:nvPr/>
        </p:nvSpPr>
        <p:spPr>
          <a:xfrm flipH="1">
            <a:off x="11229723" y="6071705"/>
            <a:ext cx="962273" cy="786294"/>
          </a:xfrm>
          <a:prstGeom prst="snip1Rect">
            <a:avLst/>
          </a:prstGeom>
          <a:solidFill>
            <a:srgbClr val="27264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t>5</a:t>
            </a:r>
          </a:p>
        </p:txBody>
      </p:sp>
    </p:spTree>
    <p:extLst>
      <p:ext uri="{BB962C8B-B14F-4D97-AF65-F5344CB8AC3E}">
        <p14:creationId xmlns:p14="http://schemas.microsoft.com/office/powerpoint/2010/main" val="1180372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0"/>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3255" y="2471531"/>
            <a:ext cx="2451652" cy="2388916"/>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r>
              <a:rPr lang="fr-FR" dirty="0">
                <a:solidFill>
                  <a:schemeClr val="bg1">
                    <a:lumMod val="50000"/>
                  </a:schemeClr>
                </a:solidFill>
              </a:rPr>
              <a:t>Problématique</a:t>
            </a:r>
          </a:p>
          <a:p>
            <a:pPr marL="285750" indent="-285750" algn="ctr">
              <a:buFont typeface="Wingdings" panose="05000000000000000000" pitchFamily="2" charset="2"/>
              <a:buChar char="ü"/>
            </a:pPr>
            <a:r>
              <a:rPr lang="fr-FR" dirty="0">
                <a:solidFill>
                  <a:schemeClr val="bg1">
                    <a:lumMod val="50000"/>
                  </a:schemeClr>
                </a:solidFill>
              </a:rPr>
              <a:t>Solution adopté</a:t>
            </a:r>
          </a:p>
          <a:p>
            <a:pPr marL="285750" indent="-285750" algn="ctr">
              <a:buFont typeface="Wingdings" panose="05000000000000000000" pitchFamily="2" charset="2"/>
              <a:buChar char="ü"/>
            </a:pPr>
            <a:r>
              <a:rPr lang="fr-FR" dirty="0">
                <a:solidFill>
                  <a:schemeClr val="bg1">
                    <a:lumMod val="50000"/>
                  </a:schemeClr>
                </a:solidFill>
              </a:rPr>
              <a:t>Contexte du projet</a:t>
            </a:r>
          </a:p>
          <a:p>
            <a:pPr marL="285750" indent="-285750" algn="ctr">
              <a:buFont typeface="Wingdings" panose="05000000000000000000" pitchFamily="2" charset="2"/>
              <a:buChar char="ü"/>
            </a:pPr>
            <a:r>
              <a:rPr lang="fr-FR" b="1" dirty="0">
                <a:solidFill>
                  <a:srgbClr val="FF0000"/>
                </a:solidFill>
              </a:rPr>
              <a:t>Objectifs</a:t>
            </a:r>
          </a:p>
          <a:p>
            <a:pPr marL="285750" indent="-285750" algn="ctr">
              <a:buFont typeface="Wingdings" panose="05000000000000000000" pitchFamily="2" charset="2"/>
              <a:buChar char="ü"/>
            </a:pPr>
            <a:r>
              <a:rPr lang="fr-FR" dirty="0">
                <a:solidFill>
                  <a:schemeClr val="bg1">
                    <a:lumMod val="50000"/>
                  </a:schemeClr>
                </a:solidFill>
              </a:rPr>
              <a:t>Conduite du projet</a:t>
            </a: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p:txBody>
      </p:sp>
      <p:sp>
        <p:nvSpPr>
          <p:cNvPr id="16" name="Flèche : virage 15">
            <a:extLst>
              <a:ext uri="{FF2B5EF4-FFF2-40B4-BE49-F238E27FC236}">
                <a16:creationId xmlns:a16="http://schemas.microsoft.com/office/drawing/2014/main" xmlns="" id="{3D45598F-CE43-4F5D-89F7-4768B2A08E0F}"/>
              </a:ext>
            </a:extLst>
          </p:cNvPr>
          <p:cNvSpPr/>
          <p:nvPr/>
        </p:nvSpPr>
        <p:spPr>
          <a:xfrm rot="5400000">
            <a:off x="416381" y="1240999"/>
            <a:ext cx="1592381" cy="868680"/>
          </a:xfrm>
          <a:prstGeom prst="ben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 name="ZoneTexte 1">
            <a:extLst>
              <a:ext uri="{FF2B5EF4-FFF2-40B4-BE49-F238E27FC236}">
                <a16:creationId xmlns:a16="http://schemas.microsoft.com/office/drawing/2014/main" xmlns="" id="{8C39CCB6-AC38-4EB3-BEFD-3E97E1EDB4F0}"/>
              </a:ext>
            </a:extLst>
          </p:cNvPr>
          <p:cNvSpPr txBox="1"/>
          <p:nvPr/>
        </p:nvSpPr>
        <p:spPr>
          <a:xfrm>
            <a:off x="4675121" y="1084861"/>
            <a:ext cx="7530881" cy="523220"/>
          </a:xfrm>
          <a:prstGeom prst="rect">
            <a:avLst/>
          </a:prstGeom>
          <a:noFill/>
        </p:spPr>
        <p:txBody>
          <a:bodyPr wrap="square" rtlCol="0">
            <a:spAutoFit/>
          </a:bodyPr>
          <a:lstStyle/>
          <a:p>
            <a:pPr>
              <a:buClr>
                <a:srgbClr val="00B050"/>
              </a:buClr>
            </a:pPr>
            <a:r>
              <a:rPr lang="fr-FR" sz="2800" b="1" dirty="0">
                <a:solidFill>
                  <a:schemeClr val="tx2">
                    <a:lumMod val="60000"/>
                    <a:lumOff val="40000"/>
                  </a:schemeClr>
                </a:solidFill>
                <a:effectLst>
                  <a:outerShdw blurRad="38100" dist="38100" dir="2700000" algn="tl">
                    <a:srgbClr val="000000">
                      <a:alpha val="43137"/>
                    </a:srgbClr>
                  </a:outerShdw>
                </a:effectLst>
              </a:rPr>
              <a:t>Objectifs: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6</a:t>
            </a:r>
          </a:p>
        </p:txBody>
      </p:sp>
      <p:sp>
        <p:nvSpPr>
          <p:cNvPr id="14" name="ZoneTexte 13">
            <a:extLst>
              <a:ext uri="{FF2B5EF4-FFF2-40B4-BE49-F238E27FC236}">
                <a16:creationId xmlns:a16="http://schemas.microsoft.com/office/drawing/2014/main" xmlns="" id="{D4E002A7-A08C-4348-0DEE-3ECFAA0C437C}"/>
              </a:ext>
            </a:extLst>
          </p:cNvPr>
          <p:cNvSpPr txBox="1"/>
          <p:nvPr/>
        </p:nvSpPr>
        <p:spPr>
          <a:xfrm>
            <a:off x="2438397" y="1790497"/>
            <a:ext cx="8574656" cy="555921"/>
          </a:xfrm>
          <a:prstGeom prst="rect">
            <a:avLst/>
          </a:prstGeom>
          <a:noFill/>
        </p:spPr>
        <p:txBody>
          <a:bodyPr wrap="square">
            <a:spAutoFit/>
          </a:bodyPr>
          <a:lstStyle/>
          <a:p>
            <a:pPr marL="342900" lvl="0" indent="-342900" algn="just" rtl="0">
              <a:lnSpc>
                <a:spcPct val="150000"/>
              </a:lnSpc>
              <a:spcAft>
                <a:spcPts val="600"/>
              </a:spcAft>
              <a:buFont typeface="Roboto" panose="02000000000000000000" pitchFamily="2" charset="0"/>
              <a:buChar char="-"/>
            </a:pPr>
            <a:endParaRPr lang="fr-FR" sz="2300" dirty="0"/>
          </a:p>
        </p:txBody>
      </p:sp>
      <p:sp>
        <p:nvSpPr>
          <p:cNvPr id="5" name="Rectangle : coins arrondis 4">
            <a:extLst>
              <a:ext uri="{FF2B5EF4-FFF2-40B4-BE49-F238E27FC236}">
                <a16:creationId xmlns:a16="http://schemas.microsoft.com/office/drawing/2014/main" xmlns="" id="{288DE7FC-3AA7-CE7C-D477-73781768CB57}"/>
              </a:ext>
            </a:extLst>
          </p:cNvPr>
          <p:cNvSpPr/>
          <p:nvPr/>
        </p:nvSpPr>
        <p:spPr>
          <a:xfrm>
            <a:off x="2685687" y="1789155"/>
            <a:ext cx="3861383" cy="5068843"/>
          </a:xfrm>
          <a:prstGeom prst="roundRect">
            <a:avLst/>
          </a:prstGeom>
          <a:solidFill>
            <a:srgbClr val="D7EDBD"/>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Arial" panose="020B0604020202020204" pitchFamily="34" charset="0"/>
              <a:buChar char="•"/>
            </a:pPr>
            <a:r>
              <a:rPr lang="fr-FR" sz="2000" b="0" dirty="0">
                <a:solidFill>
                  <a:schemeClr val="tx1"/>
                </a:solidFill>
                <a:effectLst/>
                <a:latin typeface="+mj-lt"/>
                <a:cs typeface="Times New Roman" panose="02020603050405020304" pitchFamily="18" charset="0"/>
              </a:rPr>
              <a:t>Un site facilite </a:t>
            </a:r>
            <a:r>
              <a:rPr lang="fr-FR" sz="2000" b="1" dirty="0">
                <a:solidFill>
                  <a:srgbClr val="FF0000"/>
                </a:solidFill>
                <a:effectLst/>
                <a:latin typeface="+mj-lt"/>
                <a:cs typeface="Times New Roman" panose="02020603050405020304" pitchFamily="18" charset="0"/>
              </a:rPr>
              <a:t>la gestion de la demande </a:t>
            </a:r>
            <a:r>
              <a:rPr lang="fr-FR" sz="2000" b="0" dirty="0">
                <a:solidFill>
                  <a:srgbClr val="FF0000"/>
                </a:solidFill>
                <a:effectLst/>
                <a:latin typeface="+mj-lt"/>
                <a:cs typeface="Times New Roman" panose="02020603050405020304" pitchFamily="18" charset="0"/>
              </a:rPr>
              <a:t>.</a:t>
            </a:r>
          </a:p>
          <a:p>
            <a:pPr marL="342900" indent="-342900" algn="ctr">
              <a:buFont typeface="Arial" panose="020B0604020202020204" pitchFamily="34" charset="0"/>
              <a:buChar char="•"/>
            </a:pPr>
            <a:r>
              <a:rPr lang="fr-FR" sz="2000" b="0" dirty="0">
                <a:solidFill>
                  <a:schemeClr val="tx1"/>
                </a:solidFill>
                <a:effectLst/>
                <a:latin typeface="+mj-lt"/>
                <a:cs typeface="Times New Roman" panose="02020603050405020304" pitchFamily="18" charset="0"/>
              </a:rPr>
              <a:t>une interface de stocker les données du </a:t>
            </a:r>
            <a:r>
              <a:rPr lang="fr-FR" sz="2000" b="1" dirty="0">
                <a:solidFill>
                  <a:srgbClr val="FF0000"/>
                </a:solidFill>
                <a:effectLst/>
                <a:latin typeface="+mj-lt"/>
                <a:cs typeface="Times New Roman" panose="02020603050405020304" pitchFamily="18" charset="0"/>
              </a:rPr>
              <a:t>résultat</a:t>
            </a:r>
            <a:r>
              <a:rPr lang="fr-FR" sz="2000" b="0" dirty="0">
                <a:solidFill>
                  <a:schemeClr val="tx1"/>
                </a:solidFill>
                <a:effectLst/>
                <a:latin typeface="+mj-lt"/>
                <a:cs typeface="Times New Roman" panose="02020603050405020304" pitchFamily="18" charset="0"/>
              </a:rPr>
              <a:t> et </a:t>
            </a:r>
            <a:r>
              <a:rPr lang="fr-FR" sz="2000" b="1" dirty="0">
                <a:solidFill>
                  <a:srgbClr val="FF0000"/>
                </a:solidFill>
                <a:effectLst/>
                <a:latin typeface="+mj-lt"/>
                <a:cs typeface="Times New Roman" panose="02020603050405020304" pitchFamily="18" charset="0"/>
              </a:rPr>
              <a:t>l'imprimer</a:t>
            </a:r>
            <a:endParaRPr lang="fr-FR" sz="2000" b="0" dirty="0">
              <a:solidFill>
                <a:srgbClr val="FF0000"/>
              </a:solidFill>
              <a:effectLst/>
              <a:latin typeface="+mj-lt"/>
              <a:cs typeface="Times New Roman" panose="02020603050405020304" pitchFamily="18" charset="0"/>
            </a:endParaRPr>
          </a:p>
          <a:p>
            <a:pPr marL="342900" indent="-342900" algn="ctr">
              <a:buFont typeface="Arial" panose="020B0604020202020204" pitchFamily="34" charset="0"/>
              <a:buChar char="•"/>
            </a:pPr>
            <a:r>
              <a:rPr lang="fr-FR" sz="2000" b="0" dirty="0">
                <a:solidFill>
                  <a:schemeClr val="tx1"/>
                </a:solidFill>
                <a:effectLst/>
                <a:latin typeface="+mj-lt"/>
                <a:cs typeface="Times New Roman" panose="02020603050405020304" pitchFamily="18" charset="0"/>
              </a:rPr>
              <a:t> recevoir </a:t>
            </a:r>
            <a:r>
              <a:rPr lang="fr-FR" sz="2000" b="1" dirty="0">
                <a:solidFill>
                  <a:srgbClr val="FF0000"/>
                </a:solidFill>
                <a:effectLst/>
                <a:latin typeface="+mj-lt"/>
                <a:cs typeface="Times New Roman" panose="02020603050405020304" pitchFamily="18" charset="0"/>
              </a:rPr>
              <a:t>des notifications </a:t>
            </a:r>
            <a:r>
              <a:rPr lang="fr-FR" sz="2000" b="0" dirty="0">
                <a:solidFill>
                  <a:schemeClr val="tx1"/>
                </a:solidFill>
                <a:effectLst/>
                <a:latin typeface="+mj-lt"/>
                <a:cs typeface="Times New Roman" panose="02020603050405020304" pitchFamily="18" charset="0"/>
              </a:rPr>
              <a:t>pour chaque nouvelle demande pour l'admin et recevoir des notifications pour chaque changement de statut de la demande pour le client</a:t>
            </a:r>
            <a:endParaRPr lang="fr-FR" sz="2000" dirty="0">
              <a:solidFill>
                <a:schemeClr val="tx1"/>
              </a:solidFill>
              <a:latin typeface="+mj-lt"/>
              <a:cs typeface="Times New Roman" panose="02020603050405020304" pitchFamily="18" charset="0"/>
            </a:endParaRPr>
          </a:p>
        </p:txBody>
      </p:sp>
      <p:sp>
        <p:nvSpPr>
          <p:cNvPr id="7" name="Rectangle : coins arrondis 6">
            <a:extLst>
              <a:ext uri="{FF2B5EF4-FFF2-40B4-BE49-F238E27FC236}">
                <a16:creationId xmlns:a16="http://schemas.microsoft.com/office/drawing/2014/main" xmlns="" id="{45ABC368-9BEE-AEE0-2F08-5566E266F19B}"/>
              </a:ext>
            </a:extLst>
          </p:cNvPr>
          <p:cNvSpPr/>
          <p:nvPr/>
        </p:nvSpPr>
        <p:spPr>
          <a:xfrm>
            <a:off x="7585845" y="2001328"/>
            <a:ext cx="3733333" cy="4743826"/>
          </a:xfrm>
          <a:prstGeom prst="roundRect">
            <a:avLst/>
          </a:prstGeom>
          <a:solidFill>
            <a:srgbClr val="BCC1EE"/>
          </a:solidFill>
          <a:ln>
            <a:solidFill>
              <a:srgbClr val="2726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41293" marR="0" lvl="0" indent="-241293" algn="l" rtl="0">
              <a:spcBef>
                <a:spcPts val="0"/>
              </a:spcBef>
              <a:spcAft>
                <a:spcPts val="0"/>
              </a:spcAft>
              <a:buClr>
                <a:srgbClr val="1C405D"/>
              </a:buClr>
              <a:buSzPts val="1867"/>
              <a:buFont typeface="Calibri"/>
              <a:buChar char="‐"/>
            </a:pPr>
            <a:r>
              <a:rPr lang="fr-FR" sz="2000" b="0" i="0" u="none" strike="noStrike" cap="none" dirty="0">
                <a:solidFill>
                  <a:srgbClr val="1C405D"/>
                </a:solidFill>
                <a:latin typeface="+mj-lt"/>
                <a:ea typeface="Arial"/>
                <a:cs typeface="Arial"/>
                <a:sym typeface="Arial"/>
              </a:rPr>
              <a:t>L</a:t>
            </a:r>
            <a:r>
              <a:rPr lang="fr-FR" sz="2000" dirty="0">
                <a:solidFill>
                  <a:srgbClr val="1C405D"/>
                </a:solidFill>
                <a:latin typeface="+mj-lt"/>
              </a:rPr>
              <a:t>a</a:t>
            </a:r>
            <a:r>
              <a:rPr lang="fr-FR" sz="2000" b="0" i="0" u="none" strike="noStrike" cap="none" dirty="0">
                <a:solidFill>
                  <a:srgbClr val="1C405D"/>
                </a:solidFill>
                <a:latin typeface="+mj-lt"/>
                <a:ea typeface="Arial"/>
                <a:cs typeface="Arial"/>
                <a:sym typeface="Arial"/>
              </a:rPr>
              <a:t> </a:t>
            </a:r>
            <a:r>
              <a:rPr lang="fr-FR" sz="2000" b="1" dirty="0">
                <a:solidFill>
                  <a:srgbClr val="C00000"/>
                </a:solidFill>
                <a:latin typeface="+mj-lt"/>
              </a:rPr>
              <a:t>gestion</a:t>
            </a:r>
            <a:r>
              <a:rPr lang="fr-FR" sz="2000" b="1" dirty="0">
                <a:solidFill>
                  <a:srgbClr val="C00000"/>
                </a:solidFill>
                <a:latin typeface="+mj-lt"/>
                <a:cs typeface="Arial"/>
                <a:sym typeface="Arial"/>
              </a:rPr>
              <a:t> </a:t>
            </a:r>
            <a:r>
              <a:rPr lang="fr-FR" sz="2000" b="1" dirty="0">
                <a:solidFill>
                  <a:srgbClr val="C00000"/>
                </a:solidFill>
                <a:latin typeface="+mj-lt"/>
              </a:rPr>
              <a:t>administrative</a:t>
            </a:r>
            <a:endParaRPr lang="fr-FR" sz="2000" b="1" dirty="0">
              <a:latin typeface="+mj-lt"/>
            </a:endParaRPr>
          </a:p>
          <a:p>
            <a:pPr marL="241293" marR="0" lvl="0" indent="-241293" algn="l" rtl="0">
              <a:spcBef>
                <a:spcPts val="2400"/>
              </a:spcBef>
              <a:spcAft>
                <a:spcPts val="0"/>
              </a:spcAft>
              <a:buClr>
                <a:srgbClr val="1C405D"/>
              </a:buClr>
              <a:buSzPts val="1867"/>
              <a:buFont typeface="Calibri"/>
              <a:buChar char="‐"/>
            </a:pPr>
            <a:r>
              <a:rPr lang="fr-FR" sz="2000" b="0" i="0" u="none" strike="noStrike" cap="none" dirty="0">
                <a:solidFill>
                  <a:srgbClr val="1C405D"/>
                </a:solidFill>
                <a:latin typeface="+mj-lt"/>
                <a:ea typeface="Arial"/>
                <a:cs typeface="Arial"/>
                <a:sym typeface="Arial"/>
              </a:rPr>
              <a:t>Le </a:t>
            </a:r>
            <a:r>
              <a:rPr lang="fr-FR" sz="2000" b="1" i="0" u="none" strike="noStrike" cap="none" dirty="0">
                <a:solidFill>
                  <a:srgbClr val="C00000"/>
                </a:solidFill>
                <a:latin typeface="+mj-lt"/>
                <a:ea typeface="Arial"/>
                <a:cs typeface="Arial"/>
                <a:sym typeface="Arial"/>
              </a:rPr>
              <a:t>gain du temps</a:t>
            </a:r>
            <a:endParaRPr lang="fr-FR" sz="2000" b="1" dirty="0">
              <a:latin typeface="+mj-lt"/>
            </a:endParaRPr>
          </a:p>
          <a:p>
            <a:pPr marL="241293" marR="0" lvl="0" indent="-241293" algn="l" rtl="0">
              <a:spcBef>
                <a:spcPts val="2400"/>
              </a:spcBef>
              <a:spcAft>
                <a:spcPts val="0"/>
              </a:spcAft>
              <a:buClr>
                <a:srgbClr val="1C405D"/>
              </a:buClr>
              <a:buSzPts val="1867"/>
              <a:buFont typeface="Calibri"/>
              <a:buChar char="‐"/>
            </a:pPr>
            <a:r>
              <a:rPr lang="fr-FR" sz="2000" b="0" i="0" u="none" strike="noStrike" cap="none" dirty="0">
                <a:solidFill>
                  <a:srgbClr val="1C405D"/>
                </a:solidFill>
                <a:latin typeface="+mj-lt"/>
                <a:ea typeface="Arial"/>
                <a:cs typeface="Arial"/>
                <a:sym typeface="Arial"/>
              </a:rPr>
              <a:t>Plus de </a:t>
            </a:r>
            <a:r>
              <a:rPr lang="fr-FR" sz="2000" b="1" i="0" u="none" strike="noStrike" cap="none" dirty="0">
                <a:solidFill>
                  <a:srgbClr val="C00000"/>
                </a:solidFill>
                <a:latin typeface="+mj-lt"/>
                <a:ea typeface="Arial"/>
                <a:cs typeface="Arial"/>
                <a:sym typeface="Arial"/>
              </a:rPr>
              <a:t>flexibilité</a:t>
            </a:r>
            <a:r>
              <a:rPr lang="fr-FR" sz="2000" b="0" i="0" u="none" strike="noStrike" cap="none" dirty="0">
                <a:solidFill>
                  <a:srgbClr val="C00000"/>
                </a:solidFill>
                <a:latin typeface="+mj-lt"/>
                <a:ea typeface="Arial"/>
                <a:cs typeface="Arial"/>
                <a:sym typeface="Arial"/>
              </a:rPr>
              <a:t> </a:t>
            </a:r>
            <a:r>
              <a:rPr lang="fr-FR" sz="2000" b="0" i="0" u="none" strike="noStrike" cap="none" dirty="0">
                <a:solidFill>
                  <a:srgbClr val="1C405D"/>
                </a:solidFill>
                <a:latin typeface="+mj-lt"/>
                <a:ea typeface="Arial"/>
                <a:cs typeface="Arial"/>
                <a:sym typeface="Arial"/>
              </a:rPr>
              <a:t>et de </a:t>
            </a:r>
            <a:r>
              <a:rPr lang="fr-FR" sz="2000" b="1" i="0" u="none" strike="noStrike" cap="none" dirty="0">
                <a:solidFill>
                  <a:srgbClr val="C00000"/>
                </a:solidFill>
                <a:latin typeface="+mj-lt"/>
                <a:ea typeface="Arial"/>
                <a:cs typeface="Arial"/>
                <a:sym typeface="Arial"/>
              </a:rPr>
              <a:t>réactivité</a:t>
            </a:r>
            <a:endParaRPr lang="fr-FR" sz="2000" b="1" dirty="0">
              <a:latin typeface="+mj-lt"/>
            </a:endParaRPr>
          </a:p>
          <a:p>
            <a:pPr marL="241293" marR="0" lvl="0" indent="-241293" algn="l" rtl="0">
              <a:spcBef>
                <a:spcPts val="2400"/>
              </a:spcBef>
              <a:spcAft>
                <a:spcPts val="0"/>
              </a:spcAft>
              <a:buClr>
                <a:srgbClr val="1C405D"/>
              </a:buClr>
              <a:buSzPts val="1867"/>
              <a:buFont typeface="Calibri"/>
              <a:buChar char="‐"/>
            </a:pPr>
            <a:r>
              <a:rPr lang="fr-FR" sz="2000" b="0" i="0" u="none" strike="noStrike" cap="none" dirty="0">
                <a:solidFill>
                  <a:srgbClr val="1C405D"/>
                </a:solidFill>
                <a:latin typeface="+mj-lt"/>
                <a:ea typeface="Arial"/>
                <a:cs typeface="Arial"/>
                <a:sym typeface="Arial"/>
              </a:rPr>
              <a:t>L'amélioration de </a:t>
            </a:r>
            <a:r>
              <a:rPr lang="fr-FR" sz="2000" b="1" i="0" u="none" strike="noStrike" cap="none" dirty="0">
                <a:solidFill>
                  <a:srgbClr val="C00000"/>
                </a:solidFill>
                <a:latin typeface="+mj-lt"/>
                <a:ea typeface="Arial"/>
                <a:cs typeface="Arial"/>
                <a:sym typeface="Arial"/>
              </a:rPr>
              <a:t>l’ambiance au travail </a:t>
            </a:r>
            <a:endParaRPr lang="fr-FR" sz="2000" b="1" dirty="0">
              <a:latin typeface="+mj-lt"/>
            </a:endParaRPr>
          </a:p>
          <a:p>
            <a:pPr marL="241294" marR="0" lvl="0" indent="-241294" algn="l" rtl="0">
              <a:spcBef>
                <a:spcPts val="2400"/>
              </a:spcBef>
              <a:spcAft>
                <a:spcPts val="0"/>
              </a:spcAft>
              <a:buClr>
                <a:srgbClr val="1C405D"/>
              </a:buClr>
              <a:buSzPts val="1867"/>
              <a:buFont typeface="Calibri"/>
              <a:buChar char="‐"/>
            </a:pPr>
            <a:r>
              <a:rPr lang="fr-FR" sz="2000" b="0" i="0" u="none" strike="noStrike" cap="none" dirty="0">
                <a:solidFill>
                  <a:srgbClr val="1C405D"/>
                </a:solidFill>
                <a:latin typeface="+mj-lt"/>
                <a:ea typeface="Arial"/>
                <a:cs typeface="Arial"/>
                <a:sym typeface="Arial"/>
              </a:rPr>
              <a:t>L'augmentation de la </a:t>
            </a:r>
            <a:r>
              <a:rPr lang="fr-FR" sz="2000" b="1" i="0" u="none" strike="noStrike" cap="none" dirty="0">
                <a:solidFill>
                  <a:srgbClr val="C00000"/>
                </a:solidFill>
                <a:latin typeface="+mj-lt"/>
                <a:ea typeface="Arial"/>
                <a:cs typeface="Arial"/>
                <a:sym typeface="Arial"/>
              </a:rPr>
              <a:t>productivité </a:t>
            </a:r>
            <a:endParaRPr lang="fr-FR" sz="2000" b="1" dirty="0">
              <a:latin typeface="+mj-lt"/>
            </a:endParaRPr>
          </a:p>
        </p:txBody>
      </p:sp>
    </p:spTree>
    <p:extLst>
      <p:ext uri="{BB962C8B-B14F-4D97-AF65-F5344CB8AC3E}">
        <p14:creationId xmlns:p14="http://schemas.microsoft.com/office/powerpoint/2010/main" val="3669006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0"/>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3255" y="2471531"/>
            <a:ext cx="2451652" cy="2388916"/>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r>
              <a:rPr lang="fr-FR" dirty="0">
                <a:solidFill>
                  <a:schemeClr val="bg1">
                    <a:lumMod val="50000"/>
                  </a:schemeClr>
                </a:solidFill>
              </a:rPr>
              <a:t>Problématique</a:t>
            </a:r>
          </a:p>
          <a:p>
            <a:pPr marL="285750" indent="-285750" algn="ctr">
              <a:buFont typeface="Wingdings" panose="05000000000000000000" pitchFamily="2" charset="2"/>
              <a:buChar char="ü"/>
            </a:pPr>
            <a:r>
              <a:rPr lang="fr-FR" dirty="0">
                <a:solidFill>
                  <a:schemeClr val="bg1">
                    <a:lumMod val="50000"/>
                  </a:schemeClr>
                </a:solidFill>
              </a:rPr>
              <a:t>Solution adopté</a:t>
            </a:r>
          </a:p>
          <a:p>
            <a:pPr marL="285750" indent="-285750" algn="ctr">
              <a:buFont typeface="Wingdings" panose="05000000000000000000" pitchFamily="2" charset="2"/>
              <a:buChar char="ü"/>
            </a:pPr>
            <a:r>
              <a:rPr lang="fr-FR" dirty="0">
                <a:solidFill>
                  <a:schemeClr val="bg1">
                    <a:lumMod val="50000"/>
                  </a:schemeClr>
                </a:solidFill>
              </a:rPr>
              <a:t>Contexte du projet</a:t>
            </a:r>
          </a:p>
          <a:p>
            <a:pPr marL="285750" indent="-285750" algn="ctr">
              <a:buFont typeface="Wingdings" panose="05000000000000000000" pitchFamily="2" charset="2"/>
              <a:buChar char="ü"/>
            </a:pPr>
            <a:r>
              <a:rPr lang="fr-FR" dirty="0">
                <a:solidFill>
                  <a:schemeClr val="bg1">
                    <a:lumMod val="50000"/>
                  </a:schemeClr>
                </a:solidFill>
              </a:rPr>
              <a:t>Objectifs</a:t>
            </a:r>
          </a:p>
          <a:p>
            <a:pPr marL="285750" indent="-285750" algn="ctr">
              <a:buFont typeface="Wingdings" panose="05000000000000000000" pitchFamily="2" charset="2"/>
              <a:buChar char="ü"/>
            </a:pPr>
            <a:r>
              <a:rPr lang="fr-FR" b="1" dirty="0">
                <a:solidFill>
                  <a:srgbClr val="FF0000"/>
                </a:solidFill>
                <a:effectLst>
                  <a:outerShdw blurRad="38100" dist="38100" dir="2700000" algn="tl">
                    <a:srgbClr val="000000">
                      <a:alpha val="43137"/>
                    </a:srgbClr>
                  </a:outerShdw>
                </a:effectLst>
              </a:rPr>
              <a:t>Conduite du projet</a:t>
            </a: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p:txBody>
      </p:sp>
      <p:sp>
        <p:nvSpPr>
          <p:cNvPr id="16" name="Flèche : virage 15">
            <a:extLst>
              <a:ext uri="{FF2B5EF4-FFF2-40B4-BE49-F238E27FC236}">
                <a16:creationId xmlns:a16="http://schemas.microsoft.com/office/drawing/2014/main" xmlns="" id="{3D45598F-CE43-4F5D-89F7-4768B2A08E0F}"/>
              </a:ext>
            </a:extLst>
          </p:cNvPr>
          <p:cNvSpPr/>
          <p:nvPr/>
        </p:nvSpPr>
        <p:spPr>
          <a:xfrm rot="5400000">
            <a:off x="416381" y="1240999"/>
            <a:ext cx="1592381" cy="868680"/>
          </a:xfrm>
          <a:prstGeom prst="ben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pic>
        <p:nvPicPr>
          <p:cNvPr id="4" name="Image 3">
            <a:extLst>
              <a:ext uri="{FF2B5EF4-FFF2-40B4-BE49-F238E27FC236}">
                <a16:creationId xmlns:a16="http://schemas.microsoft.com/office/drawing/2014/main" xmlns="" id="{A03791E3-E0E2-498C-BC0B-3654BF5D8C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2221" y="1010670"/>
            <a:ext cx="6134100" cy="5310637"/>
          </a:xfrm>
          <a:prstGeom prst="rect">
            <a:avLst/>
          </a:prstGeom>
        </p:spPr>
      </p:pic>
      <p:sp>
        <p:nvSpPr>
          <p:cNvPr id="5" name="ZoneTexte 4">
            <a:extLst>
              <a:ext uri="{FF2B5EF4-FFF2-40B4-BE49-F238E27FC236}">
                <a16:creationId xmlns:a16="http://schemas.microsoft.com/office/drawing/2014/main" xmlns="" id="{83E2D324-A051-4DD6-AA82-8823FCA1F7FF}"/>
              </a:ext>
            </a:extLst>
          </p:cNvPr>
          <p:cNvSpPr txBox="1"/>
          <p:nvPr/>
        </p:nvSpPr>
        <p:spPr>
          <a:xfrm>
            <a:off x="477282" y="5543690"/>
            <a:ext cx="3525079" cy="1107996"/>
          </a:xfrm>
          <a:prstGeom prst="rect">
            <a:avLst/>
          </a:prstGeom>
          <a:noFill/>
        </p:spPr>
        <p:txBody>
          <a:bodyPr wrap="square" rtlCol="0">
            <a:spAutoFit/>
          </a:bodyPr>
          <a:lstStyle/>
          <a:p>
            <a:r>
              <a:rPr lang="fr-FR" sz="2400" b="1" i="1" kern="0" dirty="0">
                <a:solidFill>
                  <a:schemeClr val="accent5">
                    <a:lumMod val="75000"/>
                  </a:schemeClr>
                </a:solidFill>
                <a:latin typeface="CIDFont+F3"/>
                <a:cs typeface="Arial"/>
                <a:sym typeface="Arial"/>
              </a:rPr>
              <a:t>Figure 1 : les étapes du processus 2TUP</a:t>
            </a:r>
            <a:endParaRPr lang="fr-FR" sz="2400" b="1" i="1" kern="0" dirty="0">
              <a:solidFill>
                <a:schemeClr val="accent5">
                  <a:lumMod val="75000"/>
                </a:schemeClr>
              </a:solidFill>
              <a:cs typeface="Arial"/>
              <a:sym typeface="Arial"/>
            </a:endParaRPr>
          </a:p>
          <a:p>
            <a:endParaRPr lang="fr-FR" dirty="0"/>
          </a:p>
        </p:txBody>
      </p:sp>
      <p:sp>
        <p:nvSpPr>
          <p:cNvPr id="7" name="Rectangle : avec coin rogné 6">
            <a:extLst>
              <a:ext uri="{FF2B5EF4-FFF2-40B4-BE49-F238E27FC236}">
                <a16:creationId xmlns:a16="http://schemas.microsoft.com/office/drawing/2014/main" xmlns="" id="{6B041974-723E-42DD-8648-6B4FC16715AE}"/>
              </a:ext>
            </a:extLst>
          </p:cNvPr>
          <p:cNvSpPr/>
          <p:nvPr/>
        </p:nvSpPr>
        <p:spPr>
          <a:xfrm flipH="1">
            <a:off x="11266434" y="5943600"/>
            <a:ext cx="924593"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7</a:t>
            </a:r>
          </a:p>
        </p:txBody>
      </p:sp>
    </p:spTree>
    <p:extLst>
      <p:ext uri="{BB962C8B-B14F-4D97-AF65-F5344CB8AC3E}">
        <p14:creationId xmlns:p14="http://schemas.microsoft.com/office/powerpoint/2010/main" val="2553351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56000">
              <a:schemeClr val="bg1"/>
            </a:gs>
            <a:gs pos="87000">
              <a:schemeClr val="bg1"/>
            </a:gs>
            <a:gs pos="40000">
              <a:schemeClr val="bg1"/>
            </a:gs>
            <a:gs pos="89080">
              <a:schemeClr val="tx2">
                <a:lumMod val="40000"/>
                <a:lumOff val="60000"/>
              </a:schemeClr>
            </a:gs>
            <a:gs pos="100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8" name="Parchemin : horizontal 7">
            <a:extLst>
              <a:ext uri="{FF2B5EF4-FFF2-40B4-BE49-F238E27FC236}">
                <a16:creationId xmlns:a16="http://schemas.microsoft.com/office/drawing/2014/main" xmlns="" id="{08919E59-182D-49A4-A2E8-5167A52F9062}"/>
              </a:ext>
            </a:extLst>
          </p:cNvPr>
          <p:cNvSpPr/>
          <p:nvPr/>
        </p:nvSpPr>
        <p:spPr>
          <a:xfrm>
            <a:off x="208843" y="135466"/>
            <a:ext cx="7172618" cy="6547556"/>
          </a:xfrm>
          <a:prstGeom prst="horizontalScroll">
            <a:avLst/>
          </a:prstGeom>
          <a:solidFill>
            <a:srgbClr val="D7EDBD"/>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Rectangle 8">
            <a:extLst>
              <a:ext uri="{FF2B5EF4-FFF2-40B4-BE49-F238E27FC236}">
                <a16:creationId xmlns:a16="http://schemas.microsoft.com/office/drawing/2014/main" xmlns="" id="{E9E36C50-979F-4D15-B165-0EF0445E3E7D}"/>
              </a:ext>
            </a:extLst>
          </p:cNvPr>
          <p:cNvSpPr/>
          <p:nvPr/>
        </p:nvSpPr>
        <p:spPr>
          <a:xfrm>
            <a:off x="835377" y="1557864"/>
            <a:ext cx="5949736" cy="3027387"/>
          </a:xfrm>
          <a:prstGeom prst="rect">
            <a:avLst/>
          </a:prstGeom>
          <a:solidFill>
            <a:schemeClr val="tx2">
              <a:lumMod val="20000"/>
              <a:lumOff val="8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solidFill>
                <a:schemeClr val="bg1">
                  <a:lumMod val="50000"/>
                </a:schemeClr>
              </a:solidFill>
              <a:latin typeface="Arial Black" panose="020B0A04020102020204" pitchFamily="34" charset="0"/>
            </a:endParaRPr>
          </a:p>
        </p:txBody>
      </p:sp>
      <p:sp>
        <p:nvSpPr>
          <p:cNvPr id="10" name="Triangle rectangle 9">
            <a:extLst>
              <a:ext uri="{FF2B5EF4-FFF2-40B4-BE49-F238E27FC236}">
                <a16:creationId xmlns:a16="http://schemas.microsoft.com/office/drawing/2014/main" xmlns="" id="{D9AD7515-0040-4F4F-AE3E-759409051CD7}"/>
              </a:ext>
            </a:extLst>
          </p:cNvPr>
          <p:cNvSpPr/>
          <p:nvPr/>
        </p:nvSpPr>
        <p:spPr>
          <a:xfrm flipV="1">
            <a:off x="6793209" y="1557863"/>
            <a:ext cx="1998137" cy="2965789"/>
          </a:xfrm>
          <a:prstGeom prst="rtTriangle">
            <a:avLst/>
          </a:prstGeom>
          <a:solidFill>
            <a:schemeClr val="tx2">
              <a:lumMod val="20000"/>
              <a:lumOff val="8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 name="ZoneTexte 11">
            <a:extLst>
              <a:ext uri="{FF2B5EF4-FFF2-40B4-BE49-F238E27FC236}">
                <a16:creationId xmlns:a16="http://schemas.microsoft.com/office/drawing/2014/main" xmlns="" id="{D92E7898-D461-450C-8E36-6A49AB1B4844}"/>
              </a:ext>
            </a:extLst>
          </p:cNvPr>
          <p:cNvSpPr txBox="1"/>
          <p:nvPr/>
        </p:nvSpPr>
        <p:spPr>
          <a:xfrm>
            <a:off x="1304114" y="1654917"/>
            <a:ext cx="5480999" cy="2492990"/>
          </a:xfrm>
          <a:prstGeom prst="rect">
            <a:avLst/>
          </a:prstGeom>
          <a:noFill/>
        </p:spPr>
        <p:txBody>
          <a:bodyPr wrap="square" rtlCol="0">
            <a:spAutoFit/>
          </a:bodyPr>
          <a:lstStyle/>
          <a:p>
            <a:r>
              <a:rPr lang="fr-FR" sz="4400" b="1" dirty="0">
                <a:solidFill>
                  <a:srgbClr val="0070C0"/>
                </a:solidFill>
                <a:effectLst>
                  <a:outerShdw blurRad="38100" dist="38100" dir="2700000" algn="tl">
                    <a:srgbClr val="000000">
                      <a:alpha val="43137"/>
                    </a:srgbClr>
                  </a:outerShdw>
                </a:effectLst>
                <a:latin typeface="Roboto Condensed Light"/>
                <a:ea typeface="Roboto Condensed Light"/>
                <a:cs typeface="Roboto Condensed Light"/>
                <a:sym typeface="Roboto Condensed Light"/>
              </a:rPr>
              <a:t>Analyse &amp; Conception</a:t>
            </a:r>
          </a:p>
          <a:p>
            <a:endParaRPr lang="fr-FR" sz="2000" dirty="0">
              <a:latin typeface="Bahnschrift SemiBold" panose="020B0502040204020203" pitchFamily="34" charset="0"/>
            </a:endParaRPr>
          </a:p>
          <a:p>
            <a:pPr marL="342900" indent="-342900">
              <a:buFont typeface="Wingdings" panose="05000000000000000000" pitchFamily="2" charset="2"/>
              <a:buChar char="Ø"/>
            </a:pPr>
            <a:r>
              <a:rPr lang="fr-FR" sz="2000" dirty="0">
                <a:latin typeface="Bahnschrift SemiBold" panose="020B0502040204020203" pitchFamily="34" charset="0"/>
              </a:rPr>
              <a:t>Spécification des besoins.</a:t>
            </a:r>
          </a:p>
          <a:p>
            <a:pPr marL="285750" indent="-285750">
              <a:buFont typeface="Wingdings" panose="05000000000000000000" pitchFamily="2" charset="2"/>
              <a:buChar char="Ø"/>
            </a:pPr>
            <a:r>
              <a:rPr lang="fr-FR" sz="1800" b="1" dirty="0">
                <a:latin typeface="Roboto Condensed"/>
                <a:ea typeface="Roboto Condensed"/>
                <a:cs typeface="Roboto Condensed"/>
                <a:sym typeface="Roboto Condensed"/>
              </a:rPr>
              <a:t>Diagrammes de cas d'utilisation.</a:t>
            </a:r>
          </a:p>
          <a:p>
            <a:pPr marL="285750" indent="-285750">
              <a:buFont typeface="Wingdings" panose="05000000000000000000" pitchFamily="2" charset="2"/>
              <a:buChar char="Ø"/>
            </a:pPr>
            <a:r>
              <a:rPr lang="fr-FR" sz="1800" b="1" dirty="0">
                <a:latin typeface="Roboto Condensed"/>
                <a:ea typeface="Roboto Condensed"/>
                <a:cs typeface="Roboto Condensed"/>
                <a:sym typeface="Roboto Condensed"/>
              </a:rPr>
              <a:t>Diagrammes de séquences.</a:t>
            </a:r>
          </a:p>
          <a:p>
            <a:pPr marL="285750" indent="-285750">
              <a:buFont typeface="Wingdings" panose="05000000000000000000" pitchFamily="2" charset="2"/>
              <a:buChar char="Ø"/>
            </a:pPr>
            <a:r>
              <a:rPr lang="fr-FR" sz="1800" b="1" dirty="0">
                <a:latin typeface="Roboto Condensed"/>
                <a:ea typeface="Roboto Condensed"/>
                <a:cs typeface="Roboto Condensed"/>
                <a:sym typeface="Roboto Condensed"/>
              </a:rPr>
              <a:t>Diagramme de classes.</a:t>
            </a:r>
          </a:p>
          <a:p>
            <a:pPr marL="285750" indent="-285750">
              <a:buFont typeface="Wingdings" panose="05000000000000000000" pitchFamily="2" charset="2"/>
              <a:buChar char="Ø"/>
            </a:pPr>
            <a:endParaRPr lang="fr-FR" dirty="0"/>
          </a:p>
        </p:txBody>
      </p:sp>
      <p:sp>
        <p:nvSpPr>
          <p:cNvPr id="13" name="Rectangle : avec coin rogné 12">
            <a:extLst>
              <a:ext uri="{FF2B5EF4-FFF2-40B4-BE49-F238E27FC236}">
                <a16:creationId xmlns:a16="http://schemas.microsoft.com/office/drawing/2014/main" xmlns="" id="{5A3BA6CC-1F83-4525-853E-E516F9B61BE7}"/>
              </a:ext>
            </a:extLst>
          </p:cNvPr>
          <p:cNvSpPr/>
          <p:nvPr/>
        </p:nvSpPr>
        <p:spPr>
          <a:xfrm flipH="1">
            <a:off x="11158329" y="6096000"/>
            <a:ext cx="1033670" cy="762000"/>
          </a:xfrm>
          <a:prstGeom prst="snip1Rect">
            <a:avLst/>
          </a:prstGeom>
          <a:solidFill>
            <a:srgbClr val="27264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effectLst>
                  <a:outerShdw blurRad="38100" dist="38100" dir="2700000" algn="tl">
                    <a:srgbClr val="000000">
                      <a:alpha val="43137"/>
                    </a:srgbClr>
                  </a:outerShdw>
                </a:effectLst>
              </a:rPr>
              <a:t>8</a:t>
            </a:r>
          </a:p>
        </p:txBody>
      </p:sp>
    </p:spTree>
    <p:extLst>
      <p:ext uri="{BB962C8B-B14F-4D97-AF65-F5344CB8AC3E}">
        <p14:creationId xmlns:p14="http://schemas.microsoft.com/office/powerpoint/2010/main" val="4216735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0"/>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59636" y="1261709"/>
            <a:ext cx="2451652" cy="2388916"/>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buClr>
                <a:srgbClr val="FF0000"/>
              </a:buClr>
              <a:buFont typeface="Wingdings" panose="05000000000000000000" pitchFamily="2" charset="2"/>
              <a:buChar char="Ø"/>
            </a:pPr>
            <a:r>
              <a:rPr lang="fr-FR" sz="1800" b="1" kern="0" dirty="0">
                <a:solidFill>
                  <a:srgbClr val="FF0000"/>
                </a:solidFill>
                <a:latin typeface="Calibri" panose="020F0502020204030204" pitchFamily="34" charset="0"/>
                <a:ea typeface="Verdana" panose="020B0604030504040204" pitchFamily="34" charset="0"/>
                <a:cs typeface="Calibri" panose="020F0502020204030204" pitchFamily="34" charset="0"/>
                <a:sym typeface="Arial"/>
              </a:rPr>
              <a:t>Spécification des besoins</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Diagrammes de cas d'utilisation</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Diagrammes de séquences</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 de classes</a:t>
            </a: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9</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347265" y="866517"/>
            <a:ext cx="1001660" cy="1285840"/>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5" name="Flèche : pentagone 4">
            <a:extLst>
              <a:ext uri="{FF2B5EF4-FFF2-40B4-BE49-F238E27FC236}">
                <a16:creationId xmlns:a16="http://schemas.microsoft.com/office/drawing/2014/main" xmlns="" id="{6833EAEA-1CC0-4B4A-B7A8-F1F31648F0DD}"/>
              </a:ext>
            </a:extLst>
          </p:cNvPr>
          <p:cNvSpPr/>
          <p:nvPr/>
        </p:nvSpPr>
        <p:spPr>
          <a:xfrm>
            <a:off x="4609445" y="1748574"/>
            <a:ext cx="7582555" cy="2206764"/>
          </a:xfrm>
          <a:prstGeom prst="homePlate">
            <a:avLst/>
          </a:prstGeom>
          <a:solidFill>
            <a:srgbClr val="E9F5D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FFFFFF"/>
              </a:buClr>
            </a:pPr>
            <a:r>
              <a:rPr lang="fr-FR" b="1" dirty="0">
                <a:solidFill>
                  <a:schemeClr val="accent5">
                    <a:lumMod val="75000"/>
                  </a:schemeClr>
                </a:solidFill>
                <a:latin typeface="Candara" panose="020E0502030303020204" pitchFamily="34" charset="0"/>
                <a:sym typeface="Arial"/>
              </a:rPr>
              <a:t>                                                               </a:t>
            </a:r>
          </a:p>
          <a:p>
            <a:pPr>
              <a:buClr>
                <a:srgbClr val="FFFFFF"/>
              </a:buClr>
            </a:pPr>
            <a:r>
              <a:rPr lang="fr-FR" b="1" dirty="0">
                <a:solidFill>
                  <a:schemeClr val="accent5">
                    <a:lumMod val="75000"/>
                  </a:schemeClr>
                </a:solidFill>
                <a:latin typeface="Candara" panose="020E0502030303020204" pitchFamily="34" charset="0"/>
                <a:sym typeface="Arial"/>
              </a:rPr>
              <a:t>                                </a:t>
            </a: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r>
              <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rPr>
              <a:t>                     </a:t>
            </a:r>
          </a:p>
          <a:p>
            <a:pPr>
              <a:buClr>
                <a:srgbClr val="FFFFFF"/>
              </a:buClr>
            </a:pP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r>
              <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rPr>
              <a:t>                                            </a:t>
            </a:r>
          </a:p>
          <a:p>
            <a:pPr>
              <a:buClr>
                <a:srgbClr val="FFFFFF"/>
              </a:buClr>
            </a:pPr>
            <a:r>
              <a:rPr lang="en-US" sz="1900" b="1" u="sng" dirty="0">
                <a:solidFill>
                  <a:schemeClr val="tx2">
                    <a:lumMod val="60000"/>
                    <a:lumOff val="40000"/>
                  </a:schemeClr>
                </a:solidFill>
                <a:latin typeface="Times New Roman" panose="02020603050405020304" pitchFamily="18" charset="0"/>
                <a:cs typeface="Times New Roman" panose="02020603050405020304" pitchFamily="18" charset="0"/>
                <a:sym typeface="Arial"/>
              </a:rPr>
              <a:t> </a:t>
            </a:r>
            <a:r>
              <a:rPr lang="en-US" sz="1900" b="1" dirty="0">
                <a:solidFill>
                  <a:schemeClr val="tx2">
                    <a:lumMod val="60000"/>
                    <a:lumOff val="40000"/>
                  </a:schemeClr>
                </a:solidFill>
                <a:latin typeface="Times New Roman" panose="02020603050405020304" pitchFamily="18" charset="0"/>
                <a:cs typeface="Times New Roman" panose="02020603050405020304" pitchFamily="18" charset="0"/>
                <a:sym typeface="Arial"/>
              </a:rPr>
              <a:t>                                            </a:t>
            </a:r>
          </a:p>
          <a:p>
            <a:pPr>
              <a:buClr>
                <a:srgbClr val="FFFFFF"/>
              </a:buClr>
            </a:pPr>
            <a:r>
              <a:rPr lang="en-US" sz="1900" b="1" dirty="0">
                <a:solidFill>
                  <a:schemeClr val="tx2">
                    <a:lumMod val="60000"/>
                    <a:lumOff val="40000"/>
                  </a:schemeClr>
                </a:solidFill>
                <a:latin typeface="Times New Roman" panose="02020603050405020304" pitchFamily="18" charset="0"/>
                <a:cs typeface="Times New Roman" panose="02020603050405020304" pitchFamily="18" charset="0"/>
                <a:sym typeface="Arial"/>
              </a:rPr>
              <a:t>                                              </a:t>
            </a:r>
          </a:p>
          <a:p>
            <a:pPr>
              <a:buClr>
                <a:srgbClr val="FFFFFF"/>
              </a:buClr>
            </a:pPr>
            <a:r>
              <a:rPr lang="en-US" sz="1900" b="1" dirty="0">
                <a:solidFill>
                  <a:schemeClr val="tx2">
                    <a:lumMod val="60000"/>
                    <a:lumOff val="40000"/>
                  </a:schemeClr>
                </a:solidFill>
                <a:latin typeface="Times New Roman" panose="02020603050405020304" pitchFamily="18" charset="0"/>
                <a:cs typeface="Times New Roman" panose="02020603050405020304" pitchFamily="18" charset="0"/>
                <a:sym typeface="Arial"/>
              </a:rPr>
              <a:t>                                         </a:t>
            </a:r>
          </a:p>
          <a:p>
            <a:pPr>
              <a:buClr>
                <a:srgbClr val="FFFFFF"/>
              </a:buClr>
            </a:pPr>
            <a:r>
              <a:rPr lang="en-US" sz="1900" b="1" dirty="0">
                <a:solidFill>
                  <a:schemeClr val="tx2">
                    <a:lumMod val="60000"/>
                    <a:lumOff val="40000"/>
                  </a:schemeClr>
                </a:solidFill>
                <a:latin typeface="Times New Roman" panose="02020603050405020304" pitchFamily="18" charset="0"/>
                <a:cs typeface="Times New Roman" panose="02020603050405020304" pitchFamily="18" charset="0"/>
                <a:sym typeface="Arial"/>
              </a:rPr>
              <a:t>                                     </a:t>
            </a:r>
          </a:p>
          <a:p>
            <a:pPr>
              <a:buClr>
                <a:srgbClr val="FFFFFF"/>
              </a:buClr>
            </a:pPr>
            <a:r>
              <a:rPr lang="en-US" sz="1900" b="1" dirty="0">
                <a:solidFill>
                  <a:schemeClr val="tx2">
                    <a:lumMod val="60000"/>
                    <a:lumOff val="40000"/>
                  </a:schemeClr>
                </a:solidFill>
                <a:latin typeface="Times New Roman" panose="02020603050405020304" pitchFamily="18" charset="0"/>
                <a:cs typeface="Times New Roman" panose="02020603050405020304" pitchFamily="18" charset="0"/>
                <a:sym typeface="Arial"/>
              </a:rPr>
              <a:t>                                         </a:t>
            </a:r>
            <a:r>
              <a:rPr lang="en-US" sz="1900" b="1" u="sng" dirty="0">
                <a:solidFill>
                  <a:schemeClr val="tx2">
                    <a:lumMod val="60000"/>
                    <a:lumOff val="40000"/>
                  </a:schemeClr>
                </a:solidFill>
                <a:latin typeface="Times New Roman" panose="02020603050405020304" pitchFamily="18" charset="0"/>
                <a:cs typeface="Times New Roman" panose="02020603050405020304" pitchFamily="18" charset="0"/>
                <a:sym typeface="Arial"/>
              </a:rPr>
              <a:t> Le client</a:t>
            </a: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r>
              <a:rPr lang="en-US" sz="1900" dirty="0">
                <a:solidFill>
                  <a:schemeClr val="tx1"/>
                </a:solidFill>
                <a:latin typeface="Times New Roman" panose="02020603050405020304" pitchFamily="18" charset="0"/>
                <a:cs typeface="Times New Roman" panose="02020603050405020304" pitchFamily="18" charset="0"/>
                <a:sym typeface="Arial"/>
              </a:rPr>
              <a:t>-  </a:t>
            </a:r>
            <a:r>
              <a:rPr lang="en-US" sz="1900" dirty="0">
                <a:solidFill>
                  <a:schemeClr val="tx1"/>
                </a:solidFill>
                <a:latin typeface="+mj-lt"/>
                <a:cs typeface="Times New Roman" panose="02020603050405020304" pitchFamily="18" charset="0"/>
                <a:sym typeface="Arial"/>
              </a:rPr>
              <a:t>Authentification .</a:t>
            </a:r>
          </a:p>
          <a:p>
            <a:pPr>
              <a:buClr>
                <a:srgbClr val="FFFFFF"/>
              </a:buClr>
            </a:pPr>
            <a:r>
              <a:rPr lang="en-US" sz="1900" dirty="0">
                <a:solidFill>
                  <a:schemeClr val="tx1"/>
                </a:solidFill>
                <a:latin typeface="+mj-lt"/>
                <a:cs typeface="Times New Roman" panose="02020603050405020304" pitchFamily="18" charset="0"/>
                <a:sym typeface="Arial"/>
              </a:rPr>
              <a:t>- Ajouter des demandes d’analyse et suivre leur statut.</a:t>
            </a:r>
          </a:p>
          <a:p>
            <a:pPr>
              <a:buClr>
                <a:srgbClr val="FFFFFF"/>
              </a:buClr>
            </a:pPr>
            <a:r>
              <a:rPr lang="en-US" sz="1900" dirty="0">
                <a:solidFill>
                  <a:schemeClr val="tx1"/>
                </a:solidFill>
                <a:latin typeface="+mj-lt"/>
                <a:cs typeface="Times New Roman" panose="02020603050405020304" pitchFamily="18" charset="0"/>
                <a:sym typeface="Arial"/>
              </a:rPr>
              <a:t> - Consulter les demandes d’analyse.                  </a:t>
            </a:r>
            <a:endParaRPr lang="fr-FR" sz="1800" dirty="0">
              <a:solidFill>
                <a:schemeClr val="tx1"/>
              </a:solidFill>
              <a:effectLst/>
              <a:latin typeface="+mj-lt"/>
              <a:ea typeface="Times New Roman" panose="02020603050405020304" pitchFamily="18" charset="0"/>
            </a:endParaRPr>
          </a:p>
          <a:p>
            <a:pPr>
              <a:buClr>
                <a:srgbClr val="FFFFFF"/>
              </a:buClr>
            </a:pPr>
            <a:r>
              <a:rPr lang="en-US" sz="1900" dirty="0">
                <a:solidFill>
                  <a:schemeClr val="tx1"/>
                </a:solidFill>
                <a:latin typeface="+mj-lt"/>
                <a:cs typeface="Times New Roman" panose="02020603050405020304" pitchFamily="18" charset="0"/>
                <a:sym typeface="Arial"/>
              </a:rPr>
              <a:t>- </a:t>
            </a:r>
            <a:r>
              <a:rPr lang="fr-FR" sz="1800" dirty="0">
                <a:solidFill>
                  <a:schemeClr val="tx1"/>
                </a:solidFill>
                <a:effectLst/>
                <a:latin typeface="+mj-lt"/>
                <a:ea typeface="Times New Roman" panose="02020603050405020304" pitchFamily="18" charset="0"/>
                <a:cs typeface="Times New Roman" panose="02020603050405020304" pitchFamily="18" charset="0"/>
              </a:rPr>
              <a:t>reçoit des notifications suite à un changement de statut de sa demande.</a:t>
            </a:r>
            <a:endParaRPr lang="fr-FR" sz="1800" dirty="0">
              <a:solidFill>
                <a:schemeClr val="tx1"/>
              </a:solidFill>
              <a:effectLst/>
              <a:latin typeface="+mj-lt"/>
              <a:ea typeface="Times New Roman" panose="02020603050405020304" pitchFamily="18" charset="0"/>
            </a:endParaRPr>
          </a:p>
          <a:p>
            <a:pPr>
              <a:buClr>
                <a:srgbClr val="FFFFFF"/>
              </a:buClr>
            </a:pPr>
            <a:r>
              <a:rPr lang="en-US" sz="1900" dirty="0">
                <a:solidFill>
                  <a:schemeClr val="tx1"/>
                </a:solidFill>
                <a:latin typeface="+mj-lt"/>
                <a:cs typeface="Times New Roman" panose="02020603050405020304" pitchFamily="18" charset="0"/>
                <a:sym typeface="Arial"/>
              </a:rPr>
              <a:t>- </a:t>
            </a:r>
            <a:r>
              <a:rPr lang="fr-FR" sz="1800" dirty="0">
                <a:solidFill>
                  <a:schemeClr val="tx1"/>
                </a:solidFill>
                <a:effectLst/>
                <a:latin typeface="+mj-lt"/>
                <a:ea typeface="Calibri" panose="020F0502020204030204" pitchFamily="34" charset="0"/>
              </a:rPr>
              <a:t>peut imprimer les résultats des analyses, les devis et les factures de ses commandes</a:t>
            </a:r>
            <a:endParaRPr lang="en-US" sz="1900" dirty="0">
              <a:solidFill>
                <a:schemeClr val="tx1"/>
              </a:solidFill>
              <a:latin typeface="+mj-lt"/>
              <a:cs typeface="Times New Roman" panose="02020603050405020304" pitchFamily="18" charset="0"/>
              <a:sym typeface="Arial"/>
            </a:endParaRPr>
          </a:p>
          <a:p>
            <a:pPr>
              <a:buClr>
                <a:srgbClr val="FFFFFF"/>
              </a:buClr>
            </a:pPr>
            <a:endParaRPr lang="en-US" sz="1900" dirty="0">
              <a:solidFill>
                <a:schemeClr val="tx1"/>
              </a:solidFill>
              <a:latin typeface="Times New Roman" panose="02020603050405020304" pitchFamily="18" charset="0"/>
              <a:cs typeface="Times New Roman" panose="02020603050405020304" pitchFamily="18" charset="0"/>
              <a:sym typeface="Arial"/>
            </a:endParaRPr>
          </a:p>
          <a:p>
            <a:pPr>
              <a:buClr>
                <a:srgbClr val="FFFFFF"/>
              </a:buClr>
            </a:pPr>
            <a:endParaRPr lang="en-US" sz="1900" dirty="0">
              <a:solidFill>
                <a:schemeClr val="tx1"/>
              </a:solidFill>
              <a:latin typeface="Times New Roman" panose="02020603050405020304" pitchFamily="18" charset="0"/>
              <a:cs typeface="Times New Roman" panose="02020603050405020304" pitchFamily="18" charset="0"/>
              <a:sym typeface="Arial"/>
            </a:endParaRPr>
          </a:p>
          <a:p>
            <a:pPr>
              <a:buClr>
                <a:srgbClr val="FFFFFF"/>
              </a:buClr>
            </a:pP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a:p>
            <a:pPr>
              <a:buClr>
                <a:srgbClr val="FFFFFF"/>
              </a:buClr>
            </a:pPr>
            <a:endParaRPr lang="en-US" sz="1900" dirty="0">
              <a:solidFill>
                <a:schemeClr val="tx2">
                  <a:lumMod val="60000"/>
                  <a:lumOff val="40000"/>
                </a:schemeClr>
              </a:solidFill>
              <a:latin typeface="Times New Roman" panose="02020603050405020304" pitchFamily="18" charset="0"/>
              <a:cs typeface="Times New Roman" panose="02020603050405020304" pitchFamily="18" charset="0"/>
              <a:sym typeface="Arial"/>
            </a:endParaRPr>
          </a:p>
        </p:txBody>
      </p:sp>
      <p:pic>
        <p:nvPicPr>
          <p:cNvPr id="14" name="Image 13">
            <a:extLst>
              <a:ext uri="{FF2B5EF4-FFF2-40B4-BE49-F238E27FC236}">
                <a16:creationId xmlns:a16="http://schemas.microsoft.com/office/drawing/2014/main" xmlns="" id="{1DEEEDF8-9E53-458A-BED5-74EA20BAAB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6080" y="1684470"/>
            <a:ext cx="1543365" cy="2502775"/>
          </a:xfrm>
          <a:prstGeom prst="rect">
            <a:avLst/>
          </a:prstGeom>
        </p:spPr>
      </p:pic>
      <p:sp>
        <p:nvSpPr>
          <p:cNvPr id="15" name="Flèche : pentagone 14">
            <a:extLst>
              <a:ext uri="{FF2B5EF4-FFF2-40B4-BE49-F238E27FC236}">
                <a16:creationId xmlns:a16="http://schemas.microsoft.com/office/drawing/2014/main" xmlns="" id="{EF2A0180-F3BE-4E52-99AE-C3C00DC49553}"/>
              </a:ext>
            </a:extLst>
          </p:cNvPr>
          <p:cNvSpPr/>
          <p:nvPr/>
        </p:nvSpPr>
        <p:spPr>
          <a:xfrm>
            <a:off x="3485072" y="4306583"/>
            <a:ext cx="8379753" cy="2551416"/>
          </a:xfrm>
          <a:prstGeom prst="homePlate">
            <a:avLst/>
          </a:prstGeom>
          <a:solidFill>
            <a:srgbClr val="E9F5D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u="sng" dirty="0">
              <a:solidFill>
                <a:schemeClr val="tx2">
                  <a:lumMod val="60000"/>
                  <a:lumOff val="40000"/>
                </a:schemeClr>
              </a:solidFill>
            </a:endParaRPr>
          </a:p>
          <a:p>
            <a:pPr algn="ctr"/>
            <a:endParaRPr lang="fr-FR" b="1" u="sng" dirty="0">
              <a:solidFill>
                <a:schemeClr val="tx2">
                  <a:lumMod val="60000"/>
                  <a:lumOff val="40000"/>
                </a:schemeClr>
              </a:solidFill>
            </a:endParaRPr>
          </a:p>
          <a:p>
            <a:pPr algn="ctr"/>
            <a:endParaRPr lang="fr-FR" b="1" u="sng" dirty="0">
              <a:solidFill>
                <a:schemeClr val="tx2">
                  <a:lumMod val="60000"/>
                  <a:lumOff val="40000"/>
                </a:schemeClr>
              </a:solidFill>
            </a:endParaRPr>
          </a:p>
          <a:p>
            <a:pPr algn="ctr"/>
            <a:endParaRPr lang="fr-FR" b="1" u="sng" dirty="0">
              <a:solidFill>
                <a:schemeClr val="tx2">
                  <a:lumMod val="60000"/>
                  <a:lumOff val="40000"/>
                </a:schemeClr>
              </a:solidFill>
            </a:endParaRPr>
          </a:p>
          <a:p>
            <a:pPr algn="ctr"/>
            <a:endParaRPr lang="fr-FR" b="1" u="sng" dirty="0">
              <a:solidFill>
                <a:schemeClr val="tx2">
                  <a:lumMod val="60000"/>
                  <a:lumOff val="40000"/>
                </a:schemeClr>
              </a:solidFill>
            </a:endParaRPr>
          </a:p>
        </p:txBody>
      </p:sp>
      <p:pic>
        <p:nvPicPr>
          <p:cNvPr id="18" name="Image 17">
            <a:extLst>
              <a:ext uri="{FF2B5EF4-FFF2-40B4-BE49-F238E27FC236}">
                <a16:creationId xmlns:a16="http://schemas.microsoft.com/office/drawing/2014/main" xmlns="" id="{BD0BED46-95E2-40E0-9E0E-5E83879DD5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7818" y="4232115"/>
            <a:ext cx="1411362" cy="2551415"/>
          </a:xfrm>
          <a:prstGeom prst="rect">
            <a:avLst/>
          </a:prstGeom>
        </p:spPr>
      </p:pic>
      <p:sp>
        <p:nvSpPr>
          <p:cNvPr id="20" name="ZoneTexte 19">
            <a:extLst>
              <a:ext uri="{FF2B5EF4-FFF2-40B4-BE49-F238E27FC236}">
                <a16:creationId xmlns:a16="http://schemas.microsoft.com/office/drawing/2014/main" xmlns="" id="{D14CB2F8-FB24-4A4F-B4BD-99EC596A24D5}"/>
              </a:ext>
            </a:extLst>
          </p:cNvPr>
          <p:cNvSpPr txBox="1"/>
          <p:nvPr/>
        </p:nvSpPr>
        <p:spPr>
          <a:xfrm>
            <a:off x="3711221" y="1071879"/>
            <a:ext cx="6133514" cy="461665"/>
          </a:xfrm>
          <a:prstGeom prst="rect">
            <a:avLst/>
          </a:prstGeom>
          <a:noFill/>
        </p:spPr>
        <p:txBody>
          <a:bodyPr wrap="square">
            <a:spAutoFit/>
          </a:bodyPr>
          <a:lstStyle/>
          <a:p>
            <a:pPr algn="r">
              <a:buClr>
                <a:srgbClr val="000000"/>
              </a:buClr>
              <a:buFont typeface="Arial"/>
              <a:buNone/>
            </a:pPr>
            <a:r>
              <a:rPr lang="fr-HT" sz="2400" b="1" kern="0" spc="400" dirty="0">
                <a:solidFill>
                  <a:schemeClr val="bg1"/>
                </a:solidFill>
                <a:highlight>
                  <a:srgbClr val="800000"/>
                </a:highlight>
                <a:cs typeface="Arial"/>
                <a:sym typeface="Arial"/>
              </a:rPr>
              <a:t>LES BESOINS FONCTIONNELS</a:t>
            </a:r>
            <a:endParaRPr lang="fr-FR" sz="2400" b="1" kern="0" spc="400" dirty="0">
              <a:solidFill>
                <a:schemeClr val="bg1"/>
              </a:solidFill>
              <a:highlight>
                <a:srgbClr val="800000"/>
              </a:highlight>
              <a:cs typeface="Arial"/>
              <a:sym typeface="Arial"/>
            </a:endParaRPr>
          </a:p>
        </p:txBody>
      </p:sp>
      <p:sp>
        <p:nvSpPr>
          <p:cNvPr id="16" name="ZoneTexte 15">
            <a:extLst>
              <a:ext uri="{FF2B5EF4-FFF2-40B4-BE49-F238E27FC236}">
                <a16:creationId xmlns:a16="http://schemas.microsoft.com/office/drawing/2014/main" xmlns="" id="{C2CC4609-476D-EFD6-058F-3972DAD641BF}"/>
              </a:ext>
            </a:extLst>
          </p:cNvPr>
          <p:cNvSpPr txBox="1"/>
          <p:nvPr/>
        </p:nvSpPr>
        <p:spPr>
          <a:xfrm>
            <a:off x="3727919" y="4366577"/>
            <a:ext cx="6485755" cy="2462213"/>
          </a:xfrm>
          <a:prstGeom prst="rect">
            <a:avLst/>
          </a:prstGeom>
          <a:noFill/>
        </p:spPr>
        <p:txBody>
          <a:bodyPr wrap="square" rtlCol="0">
            <a:spAutoFit/>
          </a:bodyPr>
          <a:lstStyle/>
          <a:p>
            <a:r>
              <a:rPr lang="fr-FR" dirty="0"/>
              <a:t>                                          </a:t>
            </a:r>
            <a:r>
              <a:rPr lang="fr-FR" b="1" u="sng" dirty="0">
                <a:solidFill>
                  <a:schemeClr val="tx2">
                    <a:lumMod val="60000"/>
                    <a:lumOff val="40000"/>
                  </a:schemeClr>
                </a:solidFill>
              </a:rPr>
              <a:t>L’administrateur</a:t>
            </a:r>
          </a:p>
          <a:p>
            <a:pPr marL="285750" indent="-285750">
              <a:buFontTx/>
              <a:buChar char="-"/>
            </a:pPr>
            <a:r>
              <a:rPr lang="fr-FR" sz="1700" dirty="0">
                <a:latin typeface="+mj-lt"/>
              </a:rPr>
              <a:t>Authentification.</a:t>
            </a:r>
          </a:p>
          <a:p>
            <a:pPr marL="285750" indent="-285750">
              <a:buFontTx/>
              <a:buChar char="-"/>
            </a:pPr>
            <a:r>
              <a:rPr lang="fr-FR" sz="1700" dirty="0">
                <a:effectLst/>
                <a:latin typeface="+mj-lt"/>
                <a:ea typeface="Times New Roman" panose="02020603050405020304" pitchFamily="18" charset="0"/>
                <a:cs typeface="Times New Roman" panose="02020603050405020304" pitchFamily="18" charset="0"/>
              </a:rPr>
              <a:t>Consulter les demandes des clients.</a:t>
            </a:r>
          </a:p>
          <a:p>
            <a:pPr marL="285750" indent="-285750">
              <a:buFontTx/>
              <a:buChar char="-"/>
            </a:pPr>
            <a:r>
              <a:rPr lang="fr-FR" sz="1700" dirty="0">
                <a:effectLst/>
                <a:latin typeface="+mj-lt"/>
                <a:ea typeface="Calibri" panose="020F0502020204030204" pitchFamily="34" charset="0"/>
              </a:rPr>
              <a:t>accepter les demandes d’analyses, suivre leur statut, modifier leur statut, supprimer une demande et clôturer une demande</a:t>
            </a:r>
          </a:p>
          <a:p>
            <a:pPr marL="285750" indent="-285750">
              <a:buFontTx/>
              <a:buChar char="-"/>
            </a:pPr>
            <a:r>
              <a:rPr lang="fr-FR" sz="1700" dirty="0">
                <a:effectLst/>
                <a:latin typeface="+mj-lt"/>
                <a:ea typeface="Times New Roman" panose="02020603050405020304" pitchFamily="18" charset="0"/>
                <a:cs typeface="Times New Roman" panose="02020603050405020304" pitchFamily="18" charset="0"/>
              </a:rPr>
              <a:t>recevoir des notifications suite à la réception d’une demande d’un client.</a:t>
            </a:r>
          </a:p>
          <a:p>
            <a:pPr marL="285750" indent="-285750">
              <a:buFontTx/>
              <a:buChar char="-"/>
            </a:pPr>
            <a:r>
              <a:rPr lang="fr-FR" sz="1700" dirty="0">
                <a:latin typeface="+mj-lt"/>
                <a:ea typeface="Times New Roman" panose="02020603050405020304" pitchFamily="18" charset="0"/>
                <a:cs typeface="Times New Roman" panose="02020603050405020304" pitchFamily="18" charset="0"/>
              </a:rPr>
              <a:t>Imprimer les résultats des analyses , les devis et la facture.</a:t>
            </a:r>
            <a:endParaRPr lang="fr-FR"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63670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0"/>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59636" y="1261709"/>
            <a:ext cx="2451652" cy="2388916"/>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buClr>
                <a:srgbClr val="FF0000"/>
              </a:buClr>
              <a:buFont typeface="Wingdings" panose="05000000000000000000" pitchFamily="2" charset="2"/>
              <a:buChar char="Ø"/>
            </a:pPr>
            <a:r>
              <a:rPr lang="fr-FR" sz="1800" b="1" kern="0" dirty="0">
                <a:solidFill>
                  <a:srgbClr val="FF0000"/>
                </a:solidFill>
                <a:latin typeface="Calibri" panose="020F0502020204030204" pitchFamily="34" charset="0"/>
                <a:ea typeface="Verdana" panose="020B0604030504040204" pitchFamily="34" charset="0"/>
                <a:cs typeface="Calibri" panose="020F0502020204030204" pitchFamily="34" charset="0"/>
                <a:sym typeface="Arial"/>
              </a:rPr>
              <a:t>Spécification des besoins</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Diagrammes de cas d'utilisation</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Diagrammes de séquences</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 de classes</a:t>
            </a: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10</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347265" y="866517"/>
            <a:ext cx="1001660" cy="1285840"/>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0" name="ZoneTexte 19">
            <a:extLst>
              <a:ext uri="{FF2B5EF4-FFF2-40B4-BE49-F238E27FC236}">
                <a16:creationId xmlns:a16="http://schemas.microsoft.com/office/drawing/2014/main" xmlns="" id="{D14CB2F8-FB24-4A4F-B4BD-99EC596A24D5}"/>
              </a:ext>
            </a:extLst>
          </p:cNvPr>
          <p:cNvSpPr txBox="1"/>
          <p:nvPr/>
        </p:nvSpPr>
        <p:spPr>
          <a:xfrm>
            <a:off x="3756967" y="1146970"/>
            <a:ext cx="6625883" cy="830997"/>
          </a:xfrm>
          <a:prstGeom prst="rect">
            <a:avLst/>
          </a:prstGeom>
          <a:noFill/>
        </p:spPr>
        <p:txBody>
          <a:bodyPr wrap="square">
            <a:spAutoFit/>
          </a:bodyPr>
          <a:lstStyle/>
          <a:p>
            <a:pPr algn="r">
              <a:buClr>
                <a:srgbClr val="000000"/>
              </a:buClr>
            </a:pPr>
            <a:r>
              <a:rPr lang="fr-HT" sz="2400" b="1" kern="0" spc="400" dirty="0">
                <a:solidFill>
                  <a:schemeClr val="bg1"/>
                </a:solidFill>
                <a:highlight>
                  <a:srgbClr val="800000"/>
                </a:highlight>
                <a:cs typeface="Arial"/>
                <a:sym typeface="Arial"/>
              </a:rPr>
              <a:t>LES BESOINS NON FONCTIONNELS</a:t>
            </a:r>
            <a:endParaRPr lang="fr-FR" sz="2400" b="1" kern="0" spc="400" dirty="0">
              <a:solidFill>
                <a:schemeClr val="bg1"/>
              </a:solidFill>
              <a:highlight>
                <a:srgbClr val="800000"/>
              </a:highlight>
              <a:cs typeface="Arial"/>
              <a:sym typeface="Arial"/>
            </a:endParaRPr>
          </a:p>
          <a:p>
            <a:pPr algn="r">
              <a:buClr>
                <a:srgbClr val="000000"/>
              </a:buClr>
              <a:buFont typeface="Arial"/>
              <a:buNone/>
            </a:pPr>
            <a:endParaRPr lang="fr-FR" sz="2400" b="1" kern="0" spc="400" dirty="0">
              <a:solidFill>
                <a:schemeClr val="bg1"/>
              </a:solidFill>
              <a:highlight>
                <a:srgbClr val="800000"/>
              </a:highlight>
              <a:cs typeface="Arial"/>
              <a:sym typeface="Arial"/>
            </a:endParaRPr>
          </a:p>
        </p:txBody>
      </p:sp>
      <p:pic>
        <p:nvPicPr>
          <p:cNvPr id="15" name="Image 14">
            <a:extLst>
              <a:ext uri="{FF2B5EF4-FFF2-40B4-BE49-F238E27FC236}">
                <a16:creationId xmlns:a16="http://schemas.microsoft.com/office/drawing/2014/main" xmlns="" id="{51697463-780A-222C-8102-693C733536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1918" y="1755206"/>
            <a:ext cx="7968163" cy="5102794"/>
          </a:xfrm>
          <a:prstGeom prst="rect">
            <a:avLst/>
          </a:prstGeom>
        </p:spPr>
      </p:pic>
    </p:spTree>
    <p:extLst>
      <p:ext uri="{BB962C8B-B14F-4D97-AF65-F5344CB8AC3E}">
        <p14:creationId xmlns:p14="http://schemas.microsoft.com/office/powerpoint/2010/main" val="4050071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3624"/>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114157"/>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94690"/>
            <a:ext cx="2451652" cy="914399"/>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94691"/>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8" y="-114157"/>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42170" y="-94691"/>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9880" y="1048846"/>
            <a:ext cx="2451652" cy="2368224"/>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endParaRPr>
          </a:p>
          <a:p>
            <a:pPr marL="285750" indent="-285750" algn="ct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Spécification des </a:t>
            </a:r>
          </a:p>
          <a:p>
            <a:pPr algn="ct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besoins</a:t>
            </a:r>
            <a:endParaRPr lang="fr-FR" b="1" dirty="0">
              <a:solidFill>
                <a:srgbClr val="FF0000"/>
              </a:solidFill>
            </a:endParaRPr>
          </a:p>
          <a:p>
            <a:pPr marL="285750" indent="-285750">
              <a:buClr>
                <a:srgbClr val="000000">
                  <a:lumMod val="50000"/>
                  <a:lumOff val="50000"/>
                </a:srgbClr>
              </a:buClr>
              <a:buFont typeface="Wingdings" panose="05000000000000000000" pitchFamily="2" charset="2"/>
              <a:buChar char="Ø"/>
            </a:pPr>
            <a:r>
              <a:rPr lang="fr-FR" sz="1800" b="1" kern="0" dirty="0">
                <a:solidFill>
                  <a:srgbClr val="FF0000"/>
                </a:solidFill>
                <a:latin typeface="Calibri" panose="020F0502020204030204" pitchFamily="34" charset="0"/>
                <a:ea typeface="Verdana" panose="020B0604030504040204" pitchFamily="34" charset="0"/>
                <a:cs typeface="Calibri" panose="020F0502020204030204" pitchFamily="34" charset="0"/>
                <a:sym typeface="Arial"/>
              </a:rPr>
              <a:t>Diagrammes de cas d'utilisation</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Diagrammes de séquences</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 de classes</a:t>
            </a: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r>
              <a:rPr lang="fr-FR" sz="2000" b="1" i="1" kern="0" dirty="0">
                <a:solidFill>
                  <a:srgbClr val="000000"/>
                </a:solidFill>
                <a:latin typeface="+mj-lt"/>
                <a:cs typeface="Arial"/>
                <a:sym typeface="Arial"/>
              </a:rPr>
              <a:t>Figure 1 : Diagramme de cas d’utilisation global</a:t>
            </a:r>
          </a:p>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11</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438398" y="780777"/>
            <a:ext cx="683811" cy="914400"/>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0" name="ZoneTexte 19">
            <a:extLst>
              <a:ext uri="{FF2B5EF4-FFF2-40B4-BE49-F238E27FC236}">
                <a16:creationId xmlns:a16="http://schemas.microsoft.com/office/drawing/2014/main" xmlns="" id="{D14CB2F8-FB24-4A4F-B4BD-99EC596A24D5}"/>
              </a:ext>
            </a:extLst>
          </p:cNvPr>
          <p:cNvSpPr txBox="1"/>
          <p:nvPr/>
        </p:nvSpPr>
        <p:spPr>
          <a:xfrm>
            <a:off x="3304601" y="819709"/>
            <a:ext cx="6625883" cy="646331"/>
          </a:xfrm>
          <a:prstGeom prst="rect">
            <a:avLst/>
          </a:prstGeom>
          <a:noFill/>
        </p:spPr>
        <p:txBody>
          <a:bodyPr wrap="square">
            <a:spAutoFit/>
          </a:bodyPr>
          <a:lstStyle/>
          <a:p>
            <a:pPr>
              <a:buClr>
                <a:srgbClr val="000000">
                  <a:lumMod val="50000"/>
                  <a:lumOff val="50000"/>
                </a:srgbClr>
              </a:buClr>
            </a:pPr>
            <a:r>
              <a:rPr lang="fr-FR" sz="3600" b="1" kern="0" dirty="0">
                <a:solidFill>
                  <a:schemeClr val="bg1"/>
                </a:solidFill>
                <a:highlight>
                  <a:srgbClr val="800000"/>
                </a:highlight>
                <a:latin typeface="Calibri" panose="020F0502020204030204" pitchFamily="34" charset="0"/>
                <a:ea typeface="Verdana" panose="020B0604030504040204" pitchFamily="34" charset="0"/>
                <a:cs typeface="Calibri" panose="020F0502020204030204" pitchFamily="34" charset="0"/>
                <a:sym typeface="Arial"/>
              </a:rPr>
              <a:t>Diagrammes de cas d'utilisation</a:t>
            </a:r>
          </a:p>
        </p:txBody>
      </p:sp>
      <p:pic>
        <p:nvPicPr>
          <p:cNvPr id="15" name="Image 14">
            <a:extLst>
              <a:ext uri="{FF2B5EF4-FFF2-40B4-BE49-F238E27FC236}">
                <a16:creationId xmlns:a16="http://schemas.microsoft.com/office/drawing/2014/main" xmlns="" id="{6DBE005A-A248-94A9-0AB0-953F84DF34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8695" y="1534527"/>
            <a:ext cx="8281358" cy="4857161"/>
          </a:xfrm>
          <a:prstGeom prst="rect">
            <a:avLst/>
          </a:prstGeom>
        </p:spPr>
      </p:pic>
    </p:spTree>
    <p:extLst>
      <p:ext uri="{BB962C8B-B14F-4D97-AF65-F5344CB8AC3E}">
        <p14:creationId xmlns:p14="http://schemas.microsoft.com/office/powerpoint/2010/main" val="1414450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3624"/>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114157"/>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94690"/>
            <a:ext cx="2451652" cy="914399"/>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94691"/>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8" y="-114157"/>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42170" y="-94691"/>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9880" y="858643"/>
            <a:ext cx="2451652" cy="2570357"/>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endParaRPr>
          </a:p>
          <a:p>
            <a:pPr marL="285750" indent="-285750" algn="ct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Spécification des </a:t>
            </a:r>
          </a:p>
          <a:p>
            <a:pPr algn="ct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besoins</a:t>
            </a:r>
            <a:endParaRPr lang="fr-FR" b="1" dirty="0">
              <a:solidFill>
                <a:srgbClr val="FF0000"/>
              </a:solidFill>
            </a:endParaRPr>
          </a:p>
          <a:p>
            <a:pPr marL="285750" indent="-285750">
              <a:buClr>
                <a:srgbClr val="000000">
                  <a:lumMod val="50000"/>
                  <a:lumOff val="50000"/>
                </a:srgbClr>
              </a:buClr>
              <a:buFont typeface="Wingdings" panose="05000000000000000000" pitchFamily="2" charset="2"/>
              <a:buChar char="Ø"/>
            </a:pPr>
            <a:r>
              <a:rPr lang="fr-FR" sz="1800" b="1" kern="0" dirty="0">
                <a:solidFill>
                  <a:srgbClr val="FF0000"/>
                </a:solidFill>
                <a:latin typeface="Calibri" panose="020F0502020204030204" pitchFamily="34" charset="0"/>
                <a:ea typeface="Verdana" panose="020B0604030504040204" pitchFamily="34" charset="0"/>
                <a:cs typeface="Calibri" panose="020F0502020204030204" pitchFamily="34" charset="0"/>
                <a:sym typeface="Arial"/>
              </a:rPr>
              <a:t>Diagrammes de cas d'utilisation</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Diagrammes de séquences</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 de classes</a:t>
            </a:r>
            <a:endParaRPr lang="fr-FR" b="1" dirty="0">
              <a:solidFill>
                <a:srgbClr val="FF0000"/>
              </a:solidFill>
            </a:endParaRPr>
          </a:p>
          <a:p>
            <a:pPr algn="ctr"/>
            <a:endParaRPr lang="fr-FR" sz="2000" b="1" i="1" kern="0" dirty="0">
              <a:solidFill>
                <a:schemeClr val="tx1"/>
              </a:solidFill>
              <a:latin typeface="CIDFont+F3"/>
              <a:cs typeface="Arial"/>
              <a:sym typeface="Arial"/>
            </a:endParaRPr>
          </a:p>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12</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438398" y="780777"/>
            <a:ext cx="683811" cy="914400"/>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0" name="ZoneTexte 19">
            <a:extLst>
              <a:ext uri="{FF2B5EF4-FFF2-40B4-BE49-F238E27FC236}">
                <a16:creationId xmlns:a16="http://schemas.microsoft.com/office/drawing/2014/main" xmlns="" id="{D14CB2F8-FB24-4A4F-B4BD-99EC596A24D5}"/>
              </a:ext>
            </a:extLst>
          </p:cNvPr>
          <p:cNvSpPr txBox="1"/>
          <p:nvPr/>
        </p:nvSpPr>
        <p:spPr>
          <a:xfrm>
            <a:off x="3304601" y="819709"/>
            <a:ext cx="6625883" cy="646331"/>
          </a:xfrm>
          <a:prstGeom prst="rect">
            <a:avLst/>
          </a:prstGeom>
          <a:noFill/>
        </p:spPr>
        <p:txBody>
          <a:bodyPr wrap="square">
            <a:spAutoFit/>
          </a:bodyPr>
          <a:lstStyle/>
          <a:p>
            <a:pPr>
              <a:buClr>
                <a:srgbClr val="000000">
                  <a:lumMod val="50000"/>
                  <a:lumOff val="50000"/>
                </a:srgbClr>
              </a:buClr>
            </a:pPr>
            <a:r>
              <a:rPr lang="fr-FR" sz="3600" b="1" kern="0" dirty="0">
                <a:solidFill>
                  <a:schemeClr val="bg1"/>
                </a:solidFill>
                <a:highlight>
                  <a:srgbClr val="800000"/>
                </a:highlight>
                <a:latin typeface="Calibri" panose="020F0502020204030204" pitchFamily="34" charset="0"/>
                <a:ea typeface="Verdana" panose="020B0604030504040204" pitchFamily="34" charset="0"/>
                <a:cs typeface="Calibri" panose="020F0502020204030204" pitchFamily="34" charset="0"/>
                <a:sym typeface="Arial"/>
              </a:rPr>
              <a:t>Diagrammes de cas d'utilisation</a:t>
            </a:r>
          </a:p>
        </p:txBody>
      </p:sp>
      <p:pic>
        <p:nvPicPr>
          <p:cNvPr id="5" name="Image 4">
            <a:extLst>
              <a:ext uri="{FF2B5EF4-FFF2-40B4-BE49-F238E27FC236}">
                <a16:creationId xmlns:a16="http://schemas.microsoft.com/office/drawing/2014/main" xmlns="" id="{C8A7538F-D0D1-1B0D-CB2F-E410032623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1223" y="1695177"/>
            <a:ext cx="7597345" cy="5096586"/>
          </a:xfrm>
          <a:prstGeom prst="rect">
            <a:avLst/>
          </a:prstGeom>
        </p:spPr>
      </p:pic>
      <p:sp>
        <p:nvSpPr>
          <p:cNvPr id="16" name="ZoneTexte 15">
            <a:extLst>
              <a:ext uri="{FF2B5EF4-FFF2-40B4-BE49-F238E27FC236}">
                <a16:creationId xmlns:a16="http://schemas.microsoft.com/office/drawing/2014/main" xmlns="" id="{CED49914-D026-0B35-4B62-EE915D292F32}"/>
              </a:ext>
            </a:extLst>
          </p:cNvPr>
          <p:cNvSpPr txBox="1"/>
          <p:nvPr/>
        </p:nvSpPr>
        <p:spPr>
          <a:xfrm>
            <a:off x="46008" y="4002657"/>
            <a:ext cx="2455653" cy="1508105"/>
          </a:xfrm>
          <a:prstGeom prst="rect">
            <a:avLst/>
          </a:prstGeom>
          <a:noFill/>
        </p:spPr>
        <p:txBody>
          <a:bodyPr wrap="square" rtlCol="0">
            <a:spAutoFit/>
          </a:bodyPr>
          <a:lstStyle/>
          <a:p>
            <a:pPr algn="ctr"/>
            <a:r>
              <a:rPr lang="fr-FR" sz="2000" b="1" i="1" kern="0" dirty="0">
                <a:solidFill>
                  <a:schemeClr val="tx1"/>
                </a:solidFill>
                <a:latin typeface="+mj-lt"/>
                <a:cs typeface="Arial"/>
                <a:sym typeface="Arial"/>
              </a:rPr>
              <a:t>Figure 2 : </a:t>
            </a:r>
            <a:r>
              <a:rPr lang="fr-FR" sz="1800" b="1" dirty="0">
                <a:solidFill>
                  <a:schemeClr val="tx1"/>
                </a:solidFill>
                <a:effectLst/>
                <a:latin typeface="+mj-lt"/>
                <a:ea typeface="Calibri" panose="020F0502020204030204" pitchFamily="34" charset="0"/>
              </a:rPr>
              <a:t> Cas d’utilisation «Gestion des demandes  pour l’administrateur </a:t>
            </a:r>
            <a:r>
              <a:rPr lang="fr-FR" sz="1800" b="1" dirty="0">
                <a:solidFill>
                  <a:schemeClr val="tx1"/>
                </a:solidFill>
                <a:effectLst/>
                <a:latin typeface="Times New Roman" panose="02020603050405020304" pitchFamily="18" charset="0"/>
                <a:ea typeface="Calibri" panose="020F0502020204030204" pitchFamily="34" charset="0"/>
              </a:rPr>
              <a:t>»</a:t>
            </a:r>
            <a:endParaRPr lang="fr-FR" sz="2000" b="1" i="1" kern="0" dirty="0">
              <a:solidFill>
                <a:schemeClr val="tx1"/>
              </a:solidFill>
              <a:cs typeface="Arial"/>
              <a:sym typeface="Arial"/>
            </a:endParaRPr>
          </a:p>
        </p:txBody>
      </p:sp>
    </p:spTree>
    <p:extLst>
      <p:ext uri="{BB962C8B-B14F-4D97-AF65-F5344CB8AC3E}">
        <p14:creationId xmlns:p14="http://schemas.microsoft.com/office/powerpoint/2010/main" val="3346969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3624"/>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114157"/>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94690"/>
            <a:ext cx="2451652" cy="914399"/>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94691"/>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8" y="-114157"/>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42170" y="-94691"/>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9880" y="1048846"/>
            <a:ext cx="2451652" cy="2380154"/>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endParaRPr>
          </a:p>
          <a:p>
            <a:pPr marL="285750" indent="-285750" algn="ct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Spécification des </a:t>
            </a:r>
          </a:p>
          <a:p>
            <a:pPr algn="ct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besoins</a:t>
            </a:r>
            <a:endParaRPr lang="fr-FR" b="1" dirty="0">
              <a:solidFill>
                <a:srgbClr val="FF0000"/>
              </a:solidFill>
            </a:endParaRPr>
          </a:p>
          <a:p>
            <a:pPr marL="285750" indent="-285750">
              <a:buClr>
                <a:srgbClr val="000000">
                  <a:lumMod val="50000"/>
                  <a:lumOff val="50000"/>
                </a:srgbClr>
              </a:buClr>
              <a:buFont typeface="Wingdings" panose="05000000000000000000" pitchFamily="2" charset="2"/>
              <a:buChar char="Ø"/>
            </a:pPr>
            <a:r>
              <a:rPr lang="fr-FR" sz="1800" b="1" kern="0" dirty="0">
                <a:solidFill>
                  <a:srgbClr val="FF0000"/>
                </a:solidFill>
                <a:latin typeface="Calibri" panose="020F0502020204030204" pitchFamily="34" charset="0"/>
                <a:ea typeface="Verdana" panose="020B0604030504040204" pitchFamily="34" charset="0"/>
                <a:cs typeface="Calibri" panose="020F0502020204030204" pitchFamily="34" charset="0"/>
                <a:sym typeface="Arial"/>
              </a:rPr>
              <a:t>Diagrammes de cas d'utilisation</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Diagrammes de séquences</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 de classes</a:t>
            </a: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r>
              <a:rPr lang="fr-FR" sz="2000" b="1" i="1" kern="0" dirty="0">
                <a:solidFill>
                  <a:srgbClr val="000000"/>
                </a:solidFill>
                <a:latin typeface="+mj-lt"/>
                <a:cs typeface="Arial"/>
                <a:sym typeface="Arial"/>
              </a:rPr>
              <a:t>Figure 3 :   cas d’utilisation « gestion des clients »</a:t>
            </a:r>
            <a:endParaRPr lang="fr-FR" sz="2000" b="1" dirty="0">
              <a:solidFill>
                <a:srgbClr val="FF0000"/>
              </a:solidFill>
              <a:latin typeface="+mj-lt"/>
            </a:endParaRPr>
          </a:p>
          <a:p>
            <a:pPr algn="ctr"/>
            <a:endParaRPr lang="fr-FR" b="1" dirty="0">
              <a:solidFill>
                <a:srgbClr val="FF0000"/>
              </a:solidFill>
              <a:latin typeface="+mj-lt"/>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13</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438398" y="780777"/>
            <a:ext cx="683811" cy="914400"/>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0" name="ZoneTexte 19">
            <a:extLst>
              <a:ext uri="{FF2B5EF4-FFF2-40B4-BE49-F238E27FC236}">
                <a16:creationId xmlns:a16="http://schemas.microsoft.com/office/drawing/2014/main" xmlns="" id="{D14CB2F8-FB24-4A4F-B4BD-99EC596A24D5}"/>
              </a:ext>
            </a:extLst>
          </p:cNvPr>
          <p:cNvSpPr txBox="1"/>
          <p:nvPr/>
        </p:nvSpPr>
        <p:spPr>
          <a:xfrm>
            <a:off x="3304601" y="819709"/>
            <a:ext cx="6625883" cy="646331"/>
          </a:xfrm>
          <a:prstGeom prst="rect">
            <a:avLst/>
          </a:prstGeom>
          <a:noFill/>
        </p:spPr>
        <p:txBody>
          <a:bodyPr wrap="square">
            <a:spAutoFit/>
          </a:bodyPr>
          <a:lstStyle/>
          <a:p>
            <a:pPr>
              <a:buClr>
                <a:srgbClr val="000000">
                  <a:lumMod val="50000"/>
                  <a:lumOff val="50000"/>
                </a:srgbClr>
              </a:buClr>
            </a:pPr>
            <a:r>
              <a:rPr lang="fr-FR" sz="3600" b="1" kern="0" dirty="0">
                <a:solidFill>
                  <a:schemeClr val="bg1"/>
                </a:solidFill>
                <a:highlight>
                  <a:srgbClr val="800000"/>
                </a:highlight>
                <a:latin typeface="Calibri" panose="020F0502020204030204" pitchFamily="34" charset="0"/>
                <a:ea typeface="Verdana" panose="020B0604030504040204" pitchFamily="34" charset="0"/>
                <a:cs typeface="Calibri" panose="020F0502020204030204" pitchFamily="34" charset="0"/>
                <a:sym typeface="Arial"/>
              </a:rPr>
              <a:t>Diagrammes de cas d'utilisation</a:t>
            </a:r>
          </a:p>
        </p:txBody>
      </p:sp>
      <p:pic>
        <p:nvPicPr>
          <p:cNvPr id="5" name="Image 4">
            <a:extLst>
              <a:ext uri="{FF2B5EF4-FFF2-40B4-BE49-F238E27FC236}">
                <a16:creationId xmlns:a16="http://schemas.microsoft.com/office/drawing/2014/main" xmlns="" id="{A8D5D876-04DE-28F5-83BC-0EA958C521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2209" y="1675096"/>
            <a:ext cx="8040222" cy="3983832"/>
          </a:xfrm>
          <a:prstGeom prst="rect">
            <a:avLst/>
          </a:prstGeom>
        </p:spPr>
      </p:pic>
    </p:spTree>
    <p:extLst>
      <p:ext uri="{BB962C8B-B14F-4D97-AF65-F5344CB8AC3E}">
        <p14:creationId xmlns:p14="http://schemas.microsoft.com/office/powerpoint/2010/main" val="2622478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3624"/>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114157"/>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94690"/>
            <a:ext cx="2451652" cy="914399"/>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94691"/>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8" y="-114157"/>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42170" y="-94691"/>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9880" y="1048846"/>
            <a:ext cx="2451652" cy="2368224"/>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endParaRPr>
          </a:p>
          <a:p>
            <a:pPr marL="285750" indent="-285750" algn="ct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Spécification des </a:t>
            </a:r>
          </a:p>
          <a:p>
            <a:pPr algn="ct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besoins</a:t>
            </a:r>
            <a:endParaRPr lang="fr-FR" b="1" dirty="0">
              <a:solidFill>
                <a:srgbClr val="FF0000"/>
              </a:solidFill>
            </a:endParaRPr>
          </a:p>
          <a:p>
            <a:pPr marL="285750" indent="-285750">
              <a:buClr>
                <a:srgbClr val="000000">
                  <a:lumMod val="50000"/>
                  <a:lumOff val="50000"/>
                </a:srgbClr>
              </a:buClr>
              <a:buFont typeface="Wingdings" panose="05000000000000000000" pitchFamily="2" charset="2"/>
              <a:buChar char="Ø"/>
            </a:pPr>
            <a:r>
              <a:rPr lang="fr-FR" sz="1800" b="1" kern="0" dirty="0">
                <a:solidFill>
                  <a:srgbClr val="FF0000"/>
                </a:solidFill>
                <a:latin typeface="Calibri" panose="020F0502020204030204" pitchFamily="34" charset="0"/>
                <a:ea typeface="Verdana" panose="020B0604030504040204" pitchFamily="34" charset="0"/>
                <a:cs typeface="Calibri" panose="020F0502020204030204" pitchFamily="34" charset="0"/>
                <a:sym typeface="Arial"/>
              </a:rPr>
              <a:t>Diagrammes de cas d'utilisation</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Diagrammes de séquences</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 de classes</a:t>
            </a: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r>
              <a:rPr lang="fr-FR" sz="2000" b="1" i="1" kern="0" dirty="0">
                <a:solidFill>
                  <a:srgbClr val="000000"/>
                </a:solidFill>
                <a:latin typeface="+mj-lt"/>
                <a:cs typeface="Arial"/>
                <a:sym typeface="Arial"/>
              </a:rPr>
              <a:t>Figure 4:  cas d’utilisation « Ajouter une demande»</a:t>
            </a:r>
            <a:endParaRPr lang="fr-FR" b="1" dirty="0">
              <a:solidFill>
                <a:srgbClr val="FF0000"/>
              </a:solidFill>
              <a:latin typeface="+mj-lt"/>
            </a:endParaRPr>
          </a:p>
          <a:p>
            <a:pPr marL="285750" indent="-285750" algn="ctr">
              <a:buFont typeface="Wingdings" panose="05000000000000000000" pitchFamily="2" charset="2"/>
              <a:buChar char="ü"/>
            </a:pPr>
            <a:endParaRPr lang="fr-FR" b="1" dirty="0">
              <a:solidFill>
                <a:srgbClr val="FF0000"/>
              </a:solidFill>
              <a:latin typeface="+mj-lt"/>
            </a:endParaRPr>
          </a:p>
          <a:p>
            <a:pPr marL="285750" indent="-285750" algn="ctr">
              <a:buFont typeface="Wingdings" panose="05000000000000000000" pitchFamily="2" charset="2"/>
              <a:buChar char="ü"/>
            </a:pPr>
            <a:endParaRPr lang="fr-FR" b="1" dirty="0">
              <a:solidFill>
                <a:srgbClr val="FF0000"/>
              </a:solidFill>
            </a:endParaRP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14</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438398" y="780777"/>
            <a:ext cx="683811" cy="914400"/>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0" name="ZoneTexte 19">
            <a:extLst>
              <a:ext uri="{FF2B5EF4-FFF2-40B4-BE49-F238E27FC236}">
                <a16:creationId xmlns:a16="http://schemas.microsoft.com/office/drawing/2014/main" xmlns="" id="{D14CB2F8-FB24-4A4F-B4BD-99EC596A24D5}"/>
              </a:ext>
            </a:extLst>
          </p:cNvPr>
          <p:cNvSpPr txBox="1"/>
          <p:nvPr/>
        </p:nvSpPr>
        <p:spPr>
          <a:xfrm>
            <a:off x="3304601" y="819709"/>
            <a:ext cx="6625883" cy="646331"/>
          </a:xfrm>
          <a:prstGeom prst="rect">
            <a:avLst/>
          </a:prstGeom>
          <a:noFill/>
        </p:spPr>
        <p:txBody>
          <a:bodyPr wrap="square">
            <a:spAutoFit/>
          </a:bodyPr>
          <a:lstStyle/>
          <a:p>
            <a:pPr>
              <a:buClr>
                <a:srgbClr val="000000">
                  <a:lumMod val="50000"/>
                  <a:lumOff val="50000"/>
                </a:srgbClr>
              </a:buClr>
            </a:pPr>
            <a:r>
              <a:rPr lang="fr-FR" sz="3600" b="1" kern="0" dirty="0">
                <a:solidFill>
                  <a:schemeClr val="bg1"/>
                </a:solidFill>
                <a:highlight>
                  <a:srgbClr val="800000"/>
                </a:highlight>
                <a:latin typeface="Calibri" panose="020F0502020204030204" pitchFamily="34" charset="0"/>
                <a:ea typeface="Verdana" panose="020B0604030504040204" pitchFamily="34" charset="0"/>
                <a:cs typeface="Calibri" panose="020F0502020204030204" pitchFamily="34" charset="0"/>
                <a:sym typeface="Arial"/>
              </a:rPr>
              <a:t>Diagrammes de cas d'utilisation</a:t>
            </a:r>
          </a:p>
        </p:txBody>
      </p:sp>
      <p:pic>
        <p:nvPicPr>
          <p:cNvPr id="5" name="Image 4">
            <a:extLst>
              <a:ext uri="{FF2B5EF4-FFF2-40B4-BE49-F238E27FC236}">
                <a16:creationId xmlns:a16="http://schemas.microsoft.com/office/drawing/2014/main" xmlns="" id="{AD66259A-7F2E-7598-4E6D-BD408553D1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6734" y="1630142"/>
            <a:ext cx="7303098" cy="5207266"/>
          </a:xfrm>
          <a:prstGeom prst="rect">
            <a:avLst/>
          </a:prstGeom>
        </p:spPr>
      </p:pic>
    </p:spTree>
    <p:extLst>
      <p:ext uri="{BB962C8B-B14F-4D97-AF65-F5344CB8AC3E}">
        <p14:creationId xmlns:p14="http://schemas.microsoft.com/office/powerpoint/2010/main" val="2528746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23111"/>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9874" y="-66812"/>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266122" y="-120370"/>
            <a:ext cx="2643806" cy="914399"/>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93364" y="-66812"/>
            <a:ext cx="2849219" cy="859471"/>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11110" y="27798"/>
            <a:ext cx="1948069" cy="769728"/>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659179" y="8578"/>
            <a:ext cx="2425147" cy="74322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9880" y="1048846"/>
            <a:ext cx="2286002" cy="2368224"/>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endParaRPr>
          </a:p>
          <a:p>
            <a:pPr marL="285750" indent="-285750" algn="ct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Spécification des </a:t>
            </a:r>
          </a:p>
          <a:p>
            <a:pPr algn="ct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besoins</a:t>
            </a:r>
            <a:endParaRPr lang="fr-FR" b="1" dirty="0">
              <a:solidFill>
                <a:srgbClr val="FF0000"/>
              </a:solidFill>
            </a:endParaRP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Diagrammes de cas d'utilisation</a:t>
            </a:r>
          </a:p>
          <a:p>
            <a:pPr marL="285750" indent="-285750">
              <a:buClr>
                <a:srgbClr val="000000">
                  <a:lumMod val="50000"/>
                  <a:lumOff val="50000"/>
                </a:srgbClr>
              </a:buClr>
              <a:buFont typeface="Wingdings" panose="05000000000000000000" pitchFamily="2" charset="2"/>
              <a:buChar char="Ø"/>
            </a:pPr>
            <a:r>
              <a:rPr lang="fr-FR" sz="1800" b="1" kern="0" dirty="0">
                <a:solidFill>
                  <a:srgbClr val="FF0000"/>
                </a:solidFill>
                <a:latin typeface="Calibri" panose="020F0502020204030204" pitchFamily="34" charset="0"/>
                <a:ea typeface="Verdana" panose="020B0604030504040204" pitchFamily="34" charset="0"/>
                <a:cs typeface="Calibri" panose="020F0502020204030204" pitchFamily="34" charset="0"/>
                <a:sym typeface="Arial"/>
              </a:rPr>
              <a:t>Diagrammes de séquences</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 de classes</a:t>
            </a: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15</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168855" y="570393"/>
            <a:ext cx="486993" cy="771056"/>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0" name="ZoneTexte 19">
            <a:extLst>
              <a:ext uri="{FF2B5EF4-FFF2-40B4-BE49-F238E27FC236}">
                <a16:creationId xmlns:a16="http://schemas.microsoft.com/office/drawing/2014/main" xmlns="" id="{D14CB2F8-FB24-4A4F-B4BD-99EC596A24D5}"/>
              </a:ext>
            </a:extLst>
          </p:cNvPr>
          <p:cNvSpPr txBox="1"/>
          <p:nvPr/>
        </p:nvSpPr>
        <p:spPr>
          <a:xfrm>
            <a:off x="3588025" y="895388"/>
            <a:ext cx="6593228" cy="769441"/>
          </a:xfrm>
          <a:prstGeom prst="rect">
            <a:avLst/>
          </a:prstGeom>
          <a:noFill/>
        </p:spPr>
        <p:txBody>
          <a:bodyPr wrap="square">
            <a:spAutoFit/>
          </a:bodyPr>
          <a:lstStyle/>
          <a:p>
            <a:pPr>
              <a:buClr>
                <a:srgbClr val="000000">
                  <a:lumMod val="50000"/>
                  <a:lumOff val="50000"/>
                </a:srgbClr>
              </a:buClr>
            </a:pPr>
            <a:r>
              <a:rPr lang="fr-FR" sz="4400" b="1" kern="0" dirty="0">
                <a:solidFill>
                  <a:schemeClr val="bg1"/>
                </a:solidFill>
                <a:highlight>
                  <a:srgbClr val="800000"/>
                </a:highlight>
                <a:latin typeface="Calibri" panose="020F0502020204030204" pitchFamily="34" charset="0"/>
                <a:ea typeface="Verdana" panose="020B0604030504040204" pitchFamily="34" charset="0"/>
                <a:cs typeface="Calibri" panose="020F0502020204030204" pitchFamily="34" charset="0"/>
                <a:sym typeface="Arial"/>
              </a:rPr>
              <a:t>Diagrammes de séquences</a:t>
            </a:r>
          </a:p>
        </p:txBody>
      </p:sp>
      <p:pic>
        <p:nvPicPr>
          <p:cNvPr id="17" name="Image 16">
            <a:extLst>
              <a:ext uri="{FF2B5EF4-FFF2-40B4-BE49-F238E27FC236}">
                <a16:creationId xmlns:a16="http://schemas.microsoft.com/office/drawing/2014/main" xmlns="" id="{C496C110-4DA2-FF08-6E83-6AF55E3714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5509" y="1870782"/>
            <a:ext cx="7919049" cy="4830395"/>
          </a:xfrm>
          <a:prstGeom prst="rect">
            <a:avLst/>
          </a:prstGeom>
        </p:spPr>
      </p:pic>
      <p:sp>
        <p:nvSpPr>
          <p:cNvPr id="19" name="ZoneTexte 18">
            <a:extLst>
              <a:ext uri="{FF2B5EF4-FFF2-40B4-BE49-F238E27FC236}">
                <a16:creationId xmlns:a16="http://schemas.microsoft.com/office/drawing/2014/main" xmlns="" id="{1CEC136A-2525-AE8C-5B02-CEDEAEE0101A}"/>
              </a:ext>
            </a:extLst>
          </p:cNvPr>
          <p:cNvSpPr txBox="1"/>
          <p:nvPr/>
        </p:nvSpPr>
        <p:spPr>
          <a:xfrm flipH="1">
            <a:off x="258792" y="3906757"/>
            <a:ext cx="2007330" cy="1200329"/>
          </a:xfrm>
          <a:prstGeom prst="rect">
            <a:avLst/>
          </a:prstGeom>
          <a:noFill/>
        </p:spPr>
        <p:txBody>
          <a:bodyPr wrap="square" rtlCol="0">
            <a:spAutoFit/>
          </a:bodyPr>
          <a:lstStyle/>
          <a:p>
            <a:pPr algn="ctr"/>
            <a:r>
              <a:rPr lang="fr-FR" b="1" dirty="0">
                <a:solidFill>
                  <a:schemeClr val="tx1"/>
                </a:solidFill>
              </a:rPr>
              <a:t>Figure 5 Diagramme de séquence « s’authentifier »</a:t>
            </a:r>
          </a:p>
        </p:txBody>
      </p:sp>
    </p:spTree>
    <p:extLst>
      <p:ext uri="{BB962C8B-B14F-4D97-AF65-F5344CB8AC3E}">
        <p14:creationId xmlns:p14="http://schemas.microsoft.com/office/powerpoint/2010/main" val="256234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23111"/>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9874" y="-66812"/>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266122" y="-120370"/>
            <a:ext cx="2643806" cy="914399"/>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93364" y="-66812"/>
            <a:ext cx="2849219" cy="859471"/>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11110" y="27798"/>
            <a:ext cx="1948069" cy="769728"/>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659179" y="8578"/>
            <a:ext cx="2425147" cy="74322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9880" y="1048846"/>
            <a:ext cx="2286002" cy="2368224"/>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endParaRPr>
          </a:p>
          <a:p>
            <a:pPr marL="285750" indent="-285750" algn="ct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Spécification des </a:t>
            </a:r>
          </a:p>
          <a:p>
            <a:pPr algn="ct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besoins</a:t>
            </a:r>
            <a:endParaRPr lang="fr-FR" b="1" dirty="0">
              <a:solidFill>
                <a:srgbClr val="FF0000"/>
              </a:solidFill>
            </a:endParaRP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Diagrammes de cas d'utilisation</a:t>
            </a:r>
          </a:p>
          <a:p>
            <a:pPr marL="285750" indent="-285750">
              <a:buClr>
                <a:srgbClr val="000000">
                  <a:lumMod val="50000"/>
                  <a:lumOff val="50000"/>
                </a:srgbClr>
              </a:buClr>
              <a:buFont typeface="Wingdings" panose="05000000000000000000" pitchFamily="2" charset="2"/>
              <a:buChar char="Ø"/>
            </a:pPr>
            <a:r>
              <a:rPr lang="fr-FR" sz="1800" b="1" kern="0" dirty="0">
                <a:solidFill>
                  <a:srgbClr val="FF0000"/>
                </a:solidFill>
                <a:latin typeface="Calibri" panose="020F0502020204030204" pitchFamily="34" charset="0"/>
                <a:ea typeface="Verdana" panose="020B0604030504040204" pitchFamily="34" charset="0"/>
                <a:cs typeface="Calibri" panose="020F0502020204030204" pitchFamily="34" charset="0"/>
                <a:sym typeface="Arial"/>
              </a:rPr>
              <a:t>Diagrammes de séquences</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 de classes</a:t>
            </a: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16</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168855" y="570393"/>
            <a:ext cx="486993" cy="771056"/>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0" name="ZoneTexte 19">
            <a:extLst>
              <a:ext uri="{FF2B5EF4-FFF2-40B4-BE49-F238E27FC236}">
                <a16:creationId xmlns:a16="http://schemas.microsoft.com/office/drawing/2014/main" xmlns="" id="{D14CB2F8-FB24-4A4F-B4BD-99EC596A24D5}"/>
              </a:ext>
            </a:extLst>
          </p:cNvPr>
          <p:cNvSpPr txBox="1"/>
          <p:nvPr/>
        </p:nvSpPr>
        <p:spPr>
          <a:xfrm>
            <a:off x="3588025" y="895388"/>
            <a:ext cx="6593228" cy="769441"/>
          </a:xfrm>
          <a:prstGeom prst="rect">
            <a:avLst/>
          </a:prstGeom>
          <a:noFill/>
        </p:spPr>
        <p:txBody>
          <a:bodyPr wrap="square">
            <a:spAutoFit/>
          </a:bodyPr>
          <a:lstStyle/>
          <a:p>
            <a:pPr>
              <a:buClr>
                <a:srgbClr val="000000">
                  <a:lumMod val="50000"/>
                  <a:lumOff val="50000"/>
                </a:srgbClr>
              </a:buClr>
            </a:pPr>
            <a:r>
              <a:rPr lang="fr-FR" sz="4400" b="1" kern="0" dirty="0">
                <a:solidFill>
                  <a:schemeClr val="bg1"/>
                </a:solidFill>
                <a:highlight>
                  <a:srgbClr val="800000"/>
                </a:highlight>
                <a:latin typeface="Calibri" panose="020F0502020204030204" pitchFamily="34" charset="0"/>
                <a:ea typeface="Verdana" panose="020B0604030504040204" pitchFamily="34" charset="0"/>
                <a:cs typeface="Calibri" panose="020F0502020204030204" pitchFamily="34" charset="0"/>
                <a:sym typeface="Arial"/>
              </a:rPr>
              <a:t>Diagrammes de séquences</a:t>
            </a:r>
          </a:p>
        </p:txBody>
      </p:sp>
      <p:sp>
        <p:nvSpPr>
          <p:cNvPr id="19" name="ZoneTexte 18">
            <a:extLst>
              <a:ext uri="{FF2B5EF4-FFF2-40B4-BE49-F238E27FC236}">
                <a16:creationId xmlns:a16="http://schemas.microsoft.com/office/drawing/2014/main" xmlns="" id="{1CEC136A-2525-AE8C-5B02-CEDEAEE0101A}"/>
              </a:ext>
            </a:extLst>
          </p:cNvPr>
          <p:cNvSpPr txBox="1"/>
          <p:nvPr/>
        </p:nvSpPr>
        <p:spPr>
          <a:xfrm flipH="1">
            <a:off x="258792" y="3906757"/>
            <a:ext cx="2007330" cy="1477328"/>
          </a:xfrm>
          <a:prstGeom prst="rect">
            <a:avLst/>
          </a:prstGeom>
          <a:noFill/>
        </p:spPr>
        <p:txBody>
          <a:bodyPr wrap="square" rtlCol="0">
            <a:spAutoFit/>
          </a:bodyPr>
          <a:lstStyle/>
          <a:p>
            <a:pPr algn="ctr"/>
            <a:r>
              <a:rPr lang="fr-FR" b="1" dirty="0">
                <a:solidFill>
                  <a:schemeClr val="tx1"/>
                </a:solidFill>
              </a:rPr>
              <a:t>Figure </a:t>
            </a:r>
            <a:r>
              <a:rPr lang="fr-FR" b="1" dirty="0"/>
              <a:t>6</a:t>
            </a:r>
            <a:r>
              <a:rPr lang="fr-FR" b="1" dirty="0">
                <a:solidFill>
                  <a:schemeClr val="tx1"/>
                </a:solidFill>
              </a:rPr>
              <a:t> Diagramme de séquence « </a:t>
            </a:r>
            <a:r>
              <a:rPr lang="fr-FR" b="1" dirty="0"/>
              <a:t>Ajouter une demande</a:t>
            </a:r>
            <a:r>
              <a:rPr lang="fr-FR" b="1" dirty="0">
                <a:solidFill>
                  <a:schemeClr val="tx1"/>
                </a:solidFill>
              </a:rPr>
              <a:t> »</a:t>
            </a:r>
          </a:p>
        </p:txBody>
      </p:sp>
      <p:pic>
        <p:nvPicPr>
          <p:cNvPr id="5" name="Image 4">
            <a:extLst>
              <a:ext uri="{FF2B5EF4-FFF2-40B4-BE49-F238E27FC236}">
                <a16:creationId xmlns:a16="http://schemas.microsoft.com/office/drawing/2014/main" xmlns="" id="{AC5885AD-1627-73F6-DBCD-2D76A6DC62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8661" y="1762691"/>
            <a:ext cx="6092592" cy="4972744"/>
          </a:xfrm>
          <a:prstGeom prst="rect">
            <a:avLst/>
          </a:prstGeom>
        </p:spPr>
      </p:pic>
    </p:spTree>
    <p:extLst>
      <p:ext uri="{BB962C8B-B14F-4D97-AF65-F5344CB8AC3E}">
        <p14:creationId xmlns:p14="http://schemas.microsoft.com/office/powerpoint/2010/main" val="4088311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23111"/>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9874" y="-66812"/>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266122" y="-120370"/>
            <a:ext cx="2643806" cy="914399"/>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93364" y="-66812"/>
            <a:ext cx="2849219" cy="859471"/>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11110" y="27798"/>
            <a:ext cx="1948069" cy="769728"/>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659179" y="8578"/>
            <a:ext cx="2425147" cy="74322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9880" y="1048846"/>
            <a:ext cx="2286002" cy="2368224"/>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endParaRPr>
          </a:p>
          <a:p>
            <a:pPr marL="285750" indent="-285750" algn="ct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Spécification des </a:t>
            </a:r>
          </a:p>
          <a:p>
            <a:pPr algn="ct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besoins</a:t>
            </a:r>
            <a:endParaRPr lang="fr-FR" b="1" dirty="0">
              <a:solidFill>
                <a:srgbClr val="FF0000"/>
              </a:solidFill>
            </a:endParaRP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Diagrammes de cas d'utilisation</a:t>
            </a:r>
          </a:p>
          <a:p>
            <a:pPr marL="285750" indent="-285750">
              <a:buClr>
                <a:srgbClr val="000000">
                  <a:lumMod val="50000"/>
                  <a:lumOff val="50000"/>
                </a:srgbClr>
              </a:buClr>
              <a:buFont typeface="Wingdings" panose="05000000000000000000" pitchFamily="2" charset="2"/>
              <a:buChar char="Ø"/>
            </a:pPr>
            <a:r>
              <a:rPr lang="fr-FR" sz="1800" b="1" kern="0" dirty="0">
                <a:solidFill>
                  <a:srgbClr val="FF0000"/>
                </a:solidFill>
                <a:latin typeface="Calibri" panose="020F0502020204030204" pitchFamily="34" charset="0"/>
                <a:ea typeface="Verdana" panose="020B0604030504040204" pitchFamily="34" charset="0"/>
                <a:cs typeface="Calibri" panose="020F0502020204030204" pitchFamily="34" charset="0"/>
                <a:sym typeface="Arial"/>
              </a:rPr>
              <a:t>Diagrammes de séquences</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 de classes</a:t>
            </a: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17</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168855" y="570393"/>
            <a:ext cx="486993" cy="771056"/>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0" name="ZoneTexte 19">
            <a:extLst>
              <a:ext uri="{FF2B5EF4-FFF2-40B4-BE49-F238E27FC236}">
                <a16:creationId xmlns:a16="http://schemas.microsoft.com/office/drawing/2014/main" xmlns="" id="{D14CB2F8-FB24-4A4F-B4BD-99EC596A24D5}"/>
              </a:ext>
            </a:extLst>
          </p:cNvPr>
          <p:cNvSpPr txBox="1"/>
          <p:nvPr/>
        </p:nvSpPr>
        <p:spPr>
          <a:xfrm>
            <a:off x="3588025" y="895388"/>
            <a:ext cx="6593228" cy="769441"/>
          </a:xfrm>
          <a:prstGeom prst="rect">
            <a:avLst/>
          </a:prstGeom>
          <a:noFill/>
        </p:spPr>
        <p:txBody>
          <a:bodyPr wrap="square">
            <a:spAutoFit/>
          </a:bodyPr>
          <a:lstStyle/>
          <a:p>
            <a:pPr>
              <a:buClr>
                <a:srgbClr val="000000">
                  <a:lumMod val="50000"/>
                  <a:lumOff val="50000"/>
                </a:srgbClr>
              </a:buClr>
            </a:pPr>
            <a:r>
              <a:rPr lang="fr-FR" sz="4400" b="1" kern="0" dirty="0">
                <a:solidFill>
                  <a:schemeClr val="bg1"/>
                </a:solidFill>
                <a:highlight>
                  <a:srgbClr val="800000"/>
                </a:highlight>
                <a:latin typeface="Calibri" panose="020F0502020204030204" pitchFamily="34" charset="0"/>
                <a:ea typeface="Verdana" panose="020B0604030504040204" pitchFamily="34" charset="0"/>
                <a:cs typeface="Calibri" panose="020F0502020204030204" pitchFamily="34" charset="0"/>
                <a:sym typeface="Arial"/>
              </a:rPr>
              <a:t>Diagrammes de séquences</a:t>
            </a:r>
          </a:p>
        </p:txBody>
      </p:sp>
      <p:sp>
        <p:nvSpPr>
          <p:cNvPr id="19" name="ZoneTexte 18">
            <a:extLst>
              <a:ext uri="{FF2B5EF4-FFF2-40B4-BE49-F238E27FC236}">
                <a16:creationId xmlns:a16="http://schemas.microsoft.com/office/drawing/2014/main" xmlns="" id="{1CEC136A-2525-AE8C-5B02-CEDEAEE0101A}"/>
              </a:ext>
            </a:extLst>
          </p:cNvPr>
          <p:cNvSpPr txBox="1"/>
          <p:nvPr/>
        </p:nvSpPr>
        <p:spPr>
          <a:xfrm flipH="1">
            <a:off x="258792" y="3820493"/>
            <a:ext cx="2007330" cy="1154162"/>
          </a:xfrm>
          <a:prstGeom prst="rect">
            <a:avLst/>
          </a:prstGeom>
          <a:noFill/>
        </p:spPr>
        <p:txBody>
          <a:bodyPr wrap="square" rtlCol="0">
            <a:spAutoFit/>
          </a:bodyPr>
          <a:lstStyle/>
          <a:p>
            <a:pPr algn="ctr"/>
            <a:r>
              <a:rPr lang="fr-FR" b="1" dirty="0">
                <a:solidFill>
                  <a:schemeClr val="tx1"/>
                </a:solidFill>
                <a:latin typeface="+mj-lt"/>
              </a:rPr>
              <a:t>Figure </a:t>
            </a:r>
            <a:r>
              <a:rPr lang="fr-FR" b="1" dirty="0">
                <a:latin typeface="+mj-lt"/>
              </a:rPr>
              <a:t>7</a:t>
            </a:r>
            <a:r>
              <a:rPr lang="fr-FR" b="1" dirty="0">
                <a:solidFill>
                  <a:schemeClr val="tx1"/>
                </a:solidFill>
                <a:latin typeface="+mj-lt"/>
              </a:rPr>
              <a:t> </a:t>
            </a:r>
            <a:r>
              <a:rPr lang="fr-FR" sz="1700" b="1" i="1" dirty="0">
                <a:solidFill>
                  <a:srgbClr val="000000"/>
                </a:solidFill>
                <a:effectLst/>
                <a:latin typeface="+mj-lt"/>
                <a:ea typeface="Calibri" panose="020F0502020204030204" pitchFamily="34" charset="0"/>
                <a:cs typeface="Times New Roman" panose="02020603050405020304" pitchFamily="18" charset="0"/>
              </a:rPr>
              <a:t>Diagramme de séquence « facturation »</a:t>
            </a:r>
            <a:endParaRPr lang="fr-FR" sz="1700" b="1" dirty="0">
              <a:solidFill>
                <a:schemeClr val="tx1"/>
              </a:solidFill>
              <a:latin typeface="+mj-lt"/>
              <a:cs typeface="Times New Roman" panose="02020603050405020304" pitchFamily="18" charset="0"/>
            </a:endParaRPr>
          </a:p>
        </p:txBody>
      </p:sp>
      <p:pic>
        <p:nvPicPr>
          <p:cNvPr id="7" name="Image 6">
            <a:extLst>
              <a:ext uri="{FF2B5EF4-FFF2-40B4-BE49-F238E27FC236}">
                <a16:creationId xmlns:a16="http://schemas.microsoft.com/office/drawing/2014/main" xmlns="" id="{A1911C92-6CC5-A421-96E5-1CD1E7DD48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5848" y="1664829"/>
            <a:ext cx="7690235" cy="5106113"/>
          </a:xfrm>
          <a:prstGeom prst="rect">
            <a:avLst/>
          </a:prstGeom>
        </p:spPr>
      </p:pic>
    </p:spTree>
    <p:extLst>
      <p:ext uri="{BB962C8B-B14F-4D97-AF65-F5344CB8AC3E}">
        <p14:creationId xmlns:p14="http://schemas.microsoft.com/office/powerpoint/2010/main" val="3973435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23111"/>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9874" y="-66812"/>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266122" y="-120370"/>
            <a:ext cx="2643806" cy="914399"/>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93364" y="-66812"/>
            <a:ext cx="2849219" cy="859471"/>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11110" y="27798"/>
            <a:ext cx="1948069" cy="769728"/>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659179" y="8578"/>
            <a:ext cx="2425147" cy="74322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9880" y="1048846"/>
            <a:ext cx="2286002" cy="2368224"/>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algn="ctr"/>
            <a:endParaRPr lang="fr-FR"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endParaRPr>
          </a:p>
          <a:p>
            <a:pPr marL="285750" indent="-285750" algn="ct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Spécification des </a:t>
            </a:r>
          </a:p>
          <a:p>
            <a:pPr algn="ct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besoins</a:t>
            </a:r>
            <a:endParaRPr lang="fr-FR" b="1" dirty="0">
              <a:solidFill>
                <a:srgbClr val="FF0000"/>
              </a:solidFill>
            </a:endParaRP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Diagrammes de cas d'utilisation</a:t>
            </a:r>
          </a:p>
          <a:p>
            <a:pPr marL="285750" indent="-285750">
              <a:buClr>
                <a:srgbClr val="000000">
                  <a:lumMod val="50000"/>
                  <a:lumOff val="50000"/>
                </a:srgbClr>
              </a:buClr>
              <a:buFont typeface="Wingdings" panose="05000000000000000000" pitchFamily="2" charset="2"/>
              <a:buChar char="Ø"/>
            </a:pPr>
            <a:r>
              <a:rPr lang="fr-FR" sz="1800" kern="0" dirty="0">
                <a:solidFill>
                  <a:schemeClr val="bg1">
                    <a:lumMod val="50000"/>
                  </a:schemeClr>
                </a:solidFill>
                <a:latin typeface="Calibri" panose="020F0502020204030204" pitchFamily="34" charset="0"/>
                <a:ea typeface="Verdana" panose="020B0604030504040204" pitchFamily="34" charset="0"/>
                <a:cs typeface="Calibri" panose="020F0502020204030204" pitchFamily="34" charset="0"/>
                <a:sym typeface="Arial"/>
              </a:rPr>
              <a:t>Diagrammes de séquences</a:t>
            </a:r>
          </a:p>
          <a:p>
            <a:pPr marL="285750" indent="-285750">
              <a:buClr>
                <a:srgbClr val="000000">
                  <a:lumMod val="50000"/>
                  <a:lumOff val="50000"/>
                </a:srgbClr>
              </a:buClr>
              <a:buFont typeface="Wingdings" panose="05000000000000000000" pitchFamily="2" charset="2"/>
              <a:buChar char="Ø"/>
            </a:pPr>
            <a:r>
              <a:rPr lang="fr-FR" sz="1800" kern="0" dirty="0">
                <a:solidFill>
                  <a:srgbClr val="FF0000"/>
                </a:solidFill>
                <a:latin typeface="Calibri" panose="020F0502020204030204" pitchFamily="34" charset="0"/>
                <a:ea typeface="Verdana" panose="020B0604030504040204" pitchFamily="34" charset="0"/>
                <a:cs typeface="Calibri" panose="020F0502020204030204" pitchFamily="34" charset="0"/>
                <a:sym typeface="Arial"/>
              </a:rPr>
              <a:t>Diagramme de classes</a:t>
            </a: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a:p>
            <a:pPr marL="285750" indent="-285750" algn="ctr">
              <a:buFont typeface="Wingdings" panose="05000000000000000000" pitchFamily="2" charset="2"/>
              <a:buChar char="ü"/>
            </a:pPr>
            <a:endParaRPr lang="fr-FR" b="1" dirty="0">
              <a:solidFill>
                <a:srgbClr val="FF0000"/>
              </a:solidFill>
            </a:endParaRP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18</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168855" y="570393"/>
            <a:ext cx="486993" cy="771056"/>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0" name="ZoneTexte 19">
            <a:extLst>
              <a:ext uri="{FF2B5EF4-FFF2-40B4-BE49-F238E27FC236}">
                <a16:creationId xmlns:a16="http://schemas.microsoft.com/office/drawing/2014/main" xmlns="" id="{D14CB2F8-FB24-4A4F-B4BD-99EC596A24D5}"/>
              </a:ext>
            </a:extLst>
          </p:cNvPr>
          <p:cNvSpPr txBox="1"/>
          <p:nvPr/>
        </p:nvSpPr>
        <p:spPr>
          <a:xfrm>
            <a:off x="3588025" y="895388"/>
            <a:ext cx="6593228" cy="769441"/>
          </a:xfrm>
          <a:prstGeom prst="rect">
            <a:avLst/>
          </a:prstGeom>
          <a:noFill/>
        </p:spPr>
        <p:txBody>
          <a:bodyPr wrap="square">
            <a:spAutoFit/>
          </a:bodyPr>
          <a:lstStyle/>
          <a:p>
            <a:pPr>
              <a:buClr>
                <a:srgbClr val="000000">
                  <a:lumMod val="50000"/>
                  <a:lumOff val="50000"/>
                </a:srgbClr>
              </a:buClr>
            </a:pPr>
            <a:r>
              <a:rPr lang="fr-FR" sz="4400" b="1" kern="0" dirty="0">
                <a:solidFill>
                  <a:schemeClr val="bg1"/>
                </a:solidFill>
                <a:highlight>
                  <a:srgbClr val="800000"/>
                </a:highlight>
                <a:latin typeface="Calibri" panose="020F0502020204030204" pitchFamily="34" charset="0"/>
                <a:ea typeface="Verdana" panose="020B0604030504040204" pitchFamily="34" charset="0"/>
                <a:cs typeface="Calibri" panose="020F0502020204030204" pitchFamily="34" charset="0"/>
                <a:sym typeface="Arial"/>
              </a:rPr>
              <a:t>Diagrammes de Classe</a:t>
            </a:r>
          </a:p>
        </p:txBody>
      </p:sp>
      <p:sp>
        <p:nvSpPr>
          <p:cNvPr id="19" name="ZoneTexte 18">
            <a:extLst>
              <a:ext uri="{FF2B5EF4-FFF2-40B4-BE49-F238E27FC236}">
                <a16:creationId xmlns:a16="http://schemas.microsoft.com/office/drawing/2014/main" xmlns="" id="{1CEC136A-2525-AE8C-5B02-CEDEAEE0101A}"/>
              </a:ext>
            </a:extLst>
          </p:cNvPr>
          <p:cNvSpPr txBox="1"/>
          <p:nvPr/>
        </p:nvSpPr>
        <p:spPr>
          <a:xfrm flipH="1">
            <a:off x="258792" y="3906757"/>
            <a:ext cx="2007330" cy="892552"/>
          </a:xfrm>
          <a:prstGeom prst="rect">
            <a:avLst/>
          </a:prstGeom>
          <a:noFill/>
        </p:spPr>
        <p:txBody>
          <a:bodyPr wrap="square" rtlCol="0">
            <a:spAutoFit/>
          </a:bodyPr>
          <a:lstStyle/>
          <a:p>
            <a:pPr algn="ctr"/>
            <a:r>
              <a:rPr lang="fr-FR" b="1" dirty="0">
                <a:solidFill>
                  <a:schemeClr val="tx1"/>
                </a:solidFill>
                <a:latin typeface="+mj-lt"/>
              </a:rPr>
              <a:t>Figure 8 </a:t>
            </a:r>
            <a:r>
              <a:rPr lang="fr-FR" sz="1700" b="1" i="1" dirty="0">
                <a:solidFill>
                  <a:srgbClr val="000000"/>
                </a:solidFill>
                <a:effectLst/>
                <a:latin typeface="+mj-lt"/>
                <a:ea typeface="Calibri" panose="020F0502020204030204" pitchFamily="34" charset="0"/>
                <a:cs typeface="Times New Roman" panose="02020603050405020304" pitchFamily="18" charset="0"/>
              </a:rPr>
              <a:t>Diagramme de classe</a:t>
            </a:r>
            <a:endParaRPr lang="fr-FR" sz="1700" b="1" dirty="0">
              <a:solidFill>
                <a:schemeClr val="tx1"/>
              </a:solidFill>
              <a:latin typeface="+mj-lt"/>
              <a:cs typeface="Times New Roman" panose="02020603050405020304" pitchFamily="18" charset="0"/>
            </a:endParaRPr>
          </a:p>
        </p:txBody>
      </p:sp>
      <p:pic>
        <p:nvPicPr>
          <p:cNvPr id="15" name="Image 14">
            <a:extLst>
              <a:ext uri="{FF2B5EF4-FFF2-40B4-BE49-F238E27FC236}">
                <a16:creationId xmlns:a16="http://schemas.microsoft.com/office/drawing/2014/main" xmlns="" id="{5498CBBD-9733-1A57-5508-872708FA99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5848" y="1812532"/>
            <a:ext cx="8760297" cy="5045468"/>
          </a:xfrm>
          <a:prstGeom prst="rect">
            <a:avLst/>
          </a:prstGeom>
        </p:spPr>
      </p:pic>
    </p:spTree>
    <p:extLst>
      <p:ext uri="{BB962C8B-B14F-4D97-AF65-F5344CB8AC3E}">
        <p14:creationId xmlns:p14="http://schemas.microsoft.com/office/powerpoint/2010/main" val="3946868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56000">
              <a:schemeClr val="bg1"/>
            </a:gs>
            <a:gs pos="87000">
              <a:schemeClr val="bg1"/>
            </a:gs>
            <a:gs pos="40000">
              <a:schemeClr val="bg1"/>
            </a:gs>
            <a:gs pos="89080">
              <a:schemeClr val="tx2">
                <a:lumMod val="40000"/>
                <a:lumOff val="60000"/>
              </a:schemeClr>
            </a:gs>
            <a:gs pos="100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8" name="Parchemin : horizontal 7">
            <a:extLst>
              <a:ext uri="{FF2B5EF4-FFF2-40B4-BE49-F238E27FC236}">
                <a16:creationId xmlns:a16="http://schemas.microsoft.com/office/drawing/2014/main" xmlns="" id="{08919E59-182D-49A4-A2E8-5167A52F9062}"/>
              </a:ext>
            </a:extLst>
          </p:cNvPr>
          <p:cNvSpPr/>
          <p:nvPr/>
        </p:nvSpPr>
        <p:spPr>
          <a:xfrm>
            <a:off x="208843" y="135466"/>
            <a:ext cx="7172618" cy="6547556"/>
          </a:xfrm>
          <a:prstGeom prst="horizontalScroll">
            <a:avLst/>
          </a:prstGeom>
          <a:solidFill>
            <a:srgbClr val="D7EDBD"/>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Rectangle 8">
            <a:extLst>
              <a:ext uri="{FF2B5EF4-FFF2-40B4-BE49-F238E27FC236}">
                <a16:creationId xmlns:a16="http://schemas.microsoft.com/office/drawing/2014/main" xmlns="" id="{E9E36C50-979F-4D15-B165-0EF0445E3E7D}"/>
              </a:ext>
            </a:extLst>
          </p:cNvPr>
          <p:cNvSpPr/>
          <p:nvPr/>
        </p:nvSpPr>
        <p:spPr>
          <a:xfrm>
            <a:off x="835377" y="1276710"/>
            <a:ext cx="5949736" cy="3607930"/>
          </a:xfrm>
          <a:prstGeom prst="rect">
            <a:avLst/>
          </a:prstGeom>
          <a:solidFill>
            <a:schemeClr val="tx2">
              <a:lumMod val="20000"/>
              <a:lumOff val="8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rtl="0">
              <a:lnSpc>
                <a:spcPct val="200000"/>
              </a:lnSpc>
              <a:buSzPts val="1200"/>
              <a:buFont typeface="Wingdings" panose="05000000000000000000" pitchFamily="2" charset="2"/>
              <a:buChar char="§"/>
            </a:pPr>
            <a:r>
              <a:rPr lang="fr-FR" sz="1700" b="1" dirty="0">
                <a:solidFill>
                  <a:schemeClr val="tx1"/>
                </a:solidFill>
                <a:effectLst/>
                <a:latin typeface="+mj-lt"/>
                <a:ea typeface="Times New Roman" panose="02020603050405020304" pitchFamily="18" charset="0"/>
                <a:cs typeface="Times New Roman" panose="02020603050405020304" pitchFamily="18" charset="0"/>
              </a:rPr>
              <a:t>Langages de développement et de SGBD </a:t>
            </a:r>
          </a:p>
          <a:p>
            <a:pPr marL="285750" lvl="0" indent="-285750" rtl="0">
              <a:lnSpc>
                <a:spcPct val="200000"/>
              </a:lnSpc>
              <a:buSzPts val="1200"/>
              <a:buFont typeface="Wingdings" panose="05000000000000000000" pitchFamily="2" charset="2"/>
              <a:buChar char="§"/>
            </a:pPr>
            <a:r>
              <a:rPr lang="fr-FR" sz="1700" b="1" dirty="0">
                <a:solidFill>
                  <a:schemeClr val="tx1"/>
                </a:solidFill>
                <a:effectLst/>
                <a:latin typeface="+mj-lt"/>
                <a:ea typeface="Times New Roman" panose="02020603050405020304" pitchFamily="18" charset="0"/>
                <a:cs typeface="Times New Roman" panose="02020603050405020304" pitchFamily="18" charset="0"/>
              </a:rPr>
              <a:t>Langages de design </a:t>
            </a:r>
          </a:p>
          <a:p>
            <a:pPr marL="285750" lvl="0" indent="-285750" rtl="0">
              <a:lnSpc>
                <a:spcPct val="200000"/>
              </a:lnSpc>
              <a:buSzPts val="1200"/>
              <a:buFont typeface="Wingdings" panose="05000000000000000000" pitchFamily="2" charset="2"/>
              <a:buChar char="§"/>
            </a:pPr>
            <a:r>
              <a:rPr lang="fr-FR" sz="1700" b="1" dirty="0">
                <a:solidFill>
                  <a:schemeClr val="tx1"/>
                </a:solidFill>
                <a:effectLst/>
                <a:latin typeface="+mj-lt"/>
                <a:ea typeface="Times New Roman" panose="02020603050405020304" pitchFamily="18" charset="0"/>
                <a:cs typeface="Times New Roman" panose="02020603050405020304" pitchFamily="18" charset="0"/>
              </a:rPr>
              <a:t>Frameworks utilisés</a:t>
            </a:r>
          </a:p>
          <a:p>
            <a:pPr marL="285750" lvl="0" indent="-285750" rtl="0">
              <a:lnSpc>
                <a:spcPct val="200000"/>
              </a:lnSpc>
              <a:buSzPts val="1200"/>
              <a:buFont typeface="Wingdings" panose="05000000000000000000" pitchFamily="2" charset="2"/>
              <a:buChar char="§"/>
            </a:pPr>
            <a:r>
              <a:rPr lang="fr-FR" sz="1700" b="1" dirty="0">
                <a:solidFill>
                  <a:schemeClr val="tx1"/>
                </a:solidFill>
                <a:effectLst/>
                <a:latin typeface="+mj-lt"/>
                <a:ea typeface="Times New Roman" panose="02020603050405020304" pitchFamily="18" charset="0"/>
                <a:cs typeface="Times New Roman" panose="02020603050405020304" pitchFamily="18" charset="0"/>
              </a:rPr>
              <a:t>Environnement logiciel</a:t>
            </a:r>
          </a:p>
          <a:p>
            <a:pPr marL="285750" lvl="0" indent="-285750" rtl="0">
              <a:lnSpc>
                <a:spcPct val="200000"/>
              </a:lnSpc>
              <a:buSzPts val="1200"/>
              <a:buFont typeface="Wingdings" panose="05000000000000000000" pitchFamily="2" charset="2"/>
              <a:buChar char="§"/>
            </a:pPr>
            <a:r>
              <a:rPr lang="fr-FR" sz="1700" b="1" dirty="0">
                <a:solidFill>
                  <a:schemeClr val="tx1"/>
                </a:solidFill>
                <a:effectLst/>
                <a:latin typeface="+mj-lt"/>
                <a:ea typeface="Times New Roman" panose="02020603050405020304" pitchFamily="18" charset="0"/>
                <a:cs typeface="Times New Roman" panose="02020603050405020304" pitchFamily="18" charset="0"/>
              </a:rPr>
              <a:t>Architecture adoptée</a:t>
            </a:r>
          </a:p>
        </p:txBody>
      </p:sp>
      <p:sp>
        <p:nvSpPr>
          <p:cNvPr id="10" name="Triangle rectangle 9">
            <a:extLst>
              <a:ext uri="{FF2B5EF4-FFF2-40B4-BE49-F238E27FC236}">
                <a16:creationId xmlns:a16="http://schemas.microsoft.com/office/drawing/2014/main" xmlns="" id="{D9AD7515-0040-4F4F-AE3E-759409051CD7}"/>
              </a:ext>
            </a:extLst>
          </p:cNvPr>
          <p:cNvSpPr/>
          <p:nvPr/>
        </p:nvSpPr>
        <p:spPr>
          <a:xfrm flipV="1">
            <a:off x="6793209" y="1276710"/>
            <a:ext cx="1998137" cy="3607930"/>
          </a:xfrm>
          <a:prstGeom prst="rtTriangle">
            <a:avLst/>
          </a:prstGeom>
          <a:solidFill>
            <a:schemeClr val="tx2">
              <a:lumMod val="20000"/>
              <a:lumOff val="8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 name="ZoneTexte 11">
            <a:extLst>
              <a:ext uri="{FF2B5EF4-FFF2-40B4-BE49-F238E27FC236}">
                <a16:creationId xmlns:a16="http://schemas.microsoft.com/office/drawing/2014/main" xmlns="" id="{D92E7898-D461-450C-8E36-6A49AB1B4844}"/>
              </a:ext>
            </a:extLst>
          </p:cNvPr>
          <p:cNvSpPr txBox="1"/>
          <p:nvPr/>
        </p:nvSpPr>
        <p:spPr>
          <a:xfrm>
            <a:off x="1304114" y="1276710"/>
            <a:ext cx="5480999" cy="553998"/>
          </a:xfrm>
          <a:prstGeom prst="rect">
            <a:avLst/>
          </a:prstGeom>
          <a:noFill/>
        </p:spPr>
        <p:txBody>
          <a:bodyPr wrap="square" rtlCol="0">
            <a:spAutoFit/>
          </a:bodyPr>
          <a:lstStyle/>
          <a:p>
            <a:r>
              <a:rPr lang="fr-FR" sz="3000" b="1" dirty="0">
                <a:solidFill>
                  <a:srgbClr val="0070C0"/>
                </a:solidFill>
                <a:effectLst>
                  <a:outerShdw blurRad="38100" dist="38100" dir="2700000" algn="tl">
                    <a:srgbClr val="000000">
                      <a:alpha val="43137"/>
                    </a:srgbClr>
                  </a:outerShdw>
                </a:effectLst>
                <a:latin typeface="Roboto Condensed Light"/>
                <a:ea typeface="Roboto Condensed Light"/>
                <a:cs typeface="Roboto Condensed Light"/>
                <a:sym typeface="Roboto Condensed Light"/>
              </a:rPr>
              <a:t>Etude technique et environnement</a:t>
            </a:r>
            <a:endParaRPr lang="fr-FR" sz="2400" dirty="0">
              <a:latin typeface="Bahnschrift SemiBold" panose="020B0502040204020203" pitchFamily="34" charset="0"/>
            </a:endParaRPr>
          </a:p>
        </p:txBody>
      </p:sp>
      <p:sp>
        <p:nvSpPr>
          <p:cNvPr id="13" name="Rectangle : avec coin rogné 12">
            <a:extLst>
              <a:ext uri="{FF2B5EF4-FFF2-40B4-BE49-F238E27FC236}">
                <a16:creationId xmlns:a16="http://schemas.microsoft.com/office/drawing/2014/main" xmlns="" id="{5A3BA6CC-1F83-4525-853E-E516F9B61BE7}"/>
              </a:ext>
            </a:extLst>
          </p:cNvPr>
          <p:cNvSpPr/>
          <p:nvPr/>
        </p:nvSpPr>
        <p:spPr>
          <a:xfrm flipH="1">
            <a:off x="10834777" y="5865962"/>
            <a:ext cx="1357222" cy="992038"/>
          </a:xfrm>
          <a:prstGeom prst="snip1Rect">
            <a:avLst/>
          </a:prstGeom>
          <a:solidFill>
            <a:srgbClr val="27264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effectLst>
                  <a:outerShdw blurRad="38100" dist="38100" dir="2700000" algn="tl">
                    <a:srgbClr val="000000">
                      <a:alpha val="43137"/>
                    </a:srgbClr>
                  </a:outerShdw>
                </a:effectLst>
              </a:rPr>
              <a:t>19</a:t>
            </a:r>
          </a:p>
        </p:txBody>
      </p:sp>
    </p:spTree>
    <p:extLst>
      <p:ext uri="{BB962C8B-B14F-4D97-AF65-F5344CB8AC3E}">
        <p14:creationId xmlns:p14="http://schemas.microsoft.com/office/powerpoint/2010/main" val="7972046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9880" y="1048845"/>
            <a:ext cx="2451652" cy="3233021"/>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43411" indent="-243411">
              <a:buClr>
                <a:srgbClr val="000000">
                  <a:lumMod val="50000"/>
                  <a:lumOff val="50000"/>
                </a:srgbClr>
              </a:buClr>
              <a:buFont typeface="Wingdings" panose="05000000000000000000" pitchFamily="2" charset="2"/>
              <a:buChar char="§"/>
            </a:pPr>
            <a:r>
              <a:rPr lang="fr-FR" sz="1800" kern="0" dirty="0">
                <a:solidFill>
                  <a:srgbClr val="FF0000"/>
                </a:solidFill>
                <a:latin typeface="+mj-lt"/>
                <a:ea typeface="Verdana" panose="020B0604030504040204" pitchFamily="34" charset="0"/>
                <a:cs typeface="Calibri" panose="020F0502020204030204" pitchFamily="34" charset="0"/>
                <a:sym typeface="Arial"/>
              </a:rPr>
              <a:t>Langage de développement et SGBD</a:t>
            </a:r>
          </a:p>
          <a:p>
            <a:pPr marL="243411" indent="-243411">
              <a:buClr>
                <a:srgbClr val="000000">
                  <a:lumMod val="50000"/>
                  <a:lumOff val="50000"/>
                </a:srgbClr>
              </a:buClr>
              <a:buFont typeface="Wingdings" panose="05000000000000000000" pitchFamily="2" charset="2"/>
              <a:buChar char="§"/>
            </a:pPr>
            <a:r>
              <a:rPr lang="fr-FR" kern="0" dirty="0">
                <a:solidFill>
                  <a:schemeClr val="tx2"/>
                </a:solidFill>
                <a:latin typeface="+mj-lt"/>
                <a:ea typeface="Verdana" panose="020B0604030504040204" pitchFamily="34" charset="0"/>
                <a:cs typeface="Calibri" panose="020F0502020204030204" pitchFamily="34" charset="0"/>
                <a:sym typeface="Arial"/>
              </a:rPr>
              <a:t>Langages de design</a:t>
            </a:r>
            <a:endParaRPr lang="fr-FR" sz="1800" kern="0" dirty="0">
              <a:solidFill>
                <a:schemeClr val="tx2"/>
              </a:solidFill>
              <a:latin typeface="+mj-lt"/>
              <a:ea typeface="Verdana" panose="020B0604030504040204" pitchFamily="34" charset="0"/>
              <a:cs typeface="Calibri" panose="020F0502020204030204" pitchFamily="34" charset="0"/>
              <a:sym typeface="Arial"/>
            </a:endParaRPr>
          </a:p>
          <a:p>
            <a:pPr marL="243411" indent="-243411">
              <a:buClr>
                <a:srgbClr val="000000">
                  <a:lumMod val="50000"/>
                  <a:lumOff val="50000"/>
                </a:srgbClr>
              </a:buClr>
              <a:buFont typeface="Wingdings" panose="05000000000000000000" pitchFamily="2" charset="2"/>
              <a:buChar char="§"/>
            </a:pPr>
            <a:r>
              <a:rPr lang="fr-FR" sz="1800" kern="0" dirty="0">
                <a:solidFill>
                  <a:schemeClr val="tx2"/>
                </a:solidFill>
                <a:latin typeface="+mj-lt"/>
                <a:ea typeface="Verdana" panose="020B0604030504040204" pitchFamily="34" charset="0"/>
                <a:cs typeface="Calibri" panose="020F0502020204030204" pitchFamily="34" charset="0"/>
                <a:sym typeface="Arial"/>
              </a:rPr>
              <a:t>Framework utilisés</a:t>
            </a:r>
          </a:p>
          <a:p>
            <a:pPr marL="243411" indent="-243411">
              <a:buClr>
                <a:srgbClr val="000000">
                  <a:lumMod val="50000"/>
                  <a:lumOff val="50000"/>
                </a:srgbClr>
              </a:buClr>
              <a:buFont typeface="Wingdings" panose="05000000000000000000" pitchFamily="2" charset="2"/>
              <a:buChar char="§"/>
            </a:pPr>
            <a:r>
              <a:rPr lang="fr-FR" sz="1800" kern="0" dirty="0">
                <a:solidFill>
                  <a:srgbClr val="3A81BA">
                    <a:lumMod val="50000"/>
                  </a:srgbClr>
                </a:solidFill>
                <a:latin typeface="+mj-lt"/>
                <a:ea typeface="Verdana" panose="020B0604030504040204" pitchFamily="34" charset="0"/>
                <a:cs typeface="Calibri" panose="020F0502020204030204" pitchFamily="34" charset="0"/>
                <a:sym typeface="Arial"/>
              </a:rPr>
              <a:t>Environnement logiciel</a:t>
            </a:r>
          </a:p>
          <a:p>
            <a:pPr marL="243411" indent="-243411">
              <a:buClr>
                <a:srgbClr val="000000">
                  <a:lumMod val="50000"/>
                  <a:lumOff val="50000"/>
                </a:srgbClr>
              </a:buClr>
              <a:buFont typeface="Wingdings" panose="05000000000000000000" pitchFamily="2" charset="2"/>
              <a:buChar char="§"/>
            </a:pPr>
            <a:r>
              <a:rPr lang="fr-FR" sz="1800" kern="0" dirty="0">
                <a:solidFill>
                  <a:srgbClr val="3A81BA">
                    <a:lumMod val="50000"/>
                  </a:srgbClr>
                </a:solidFill>
                <a:latin typeface="+mj-lt"/>
                <a:ea typeface="Verdana" panose="020B0604030504040204" pitchFamily="34" charset="0"/>
                <a:cs typeface="Calibri" panose="020F0502020204030204" pitchFamily="34" charset="0"/>
                <a:sym typeface="Arial"/>
              </a:rPr>
              <a:t>Architecture adoptée</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20</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425146" y="914398"/>
            <a:ext cx="3352802" cy="463114"/>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 name="ZoneTexte 1">
            <a:extLst>
              <a:ext uri="{FF2B5EF4-FFF2-40B4-BE49-F238E27FC236}">
                <a16:creationId xmlns:a16="http://schemas.microsoft.com/office/drawing/2014/main" xmlns="" id="{EBC48C64-4064-478E-B051-A8E6B3F5BC26}"/>
              </a:ext>
            </a:extLst>
          </p:cNvPr>
          <p:cNvSpPr txBox="1"/>
          <p:nvPr/>
        </p:nvSpPr>
        <p:spPr>
          <a:xfrm>
            <a:off x="5103539" y="1733177"/>
            <a:ext cx="5875887" cy="861774"/>
          </a:xfrm>
          <a:prstGeom prst="rect">
            <a:avLst/>
          </a:prstGeom>
          <a:noFill/>
        </p:spPr>
        <p:txBody>
          <a:bodyPr wrap="square" rtlCol="0">
            <a:spAutoFit/>
          </a:bodyPr>
          <a:lstStyle/>
          <a:p>
            <a:r>
              <a:rPr lang="fr-FR" sz="3000" b="1" dirty="0">
                <a:solidFill>
                  <a:schemeClr val="bg1"/>
                </a:solidFill>
                <a:effectLst/>
                <a:highlight>
                  <a:srgbClr val="2F6495"/>
                </a:highlight>
                <a:latin typeface="Times New Roman" panose="02020603050405020304" pitchFamily="18" charset="0"/>
                <a:ea typeface="Times New Roman" panose="02020603050405020304" pitchFamily="18" charset="0"/>
              </a:rPr>
              <a:t>Langages de développement  </a:t>
            </a:r>
            <a:endParaRPr lang="fr-FR" sz="3000" dirty="0">
              <a:solidFill>
                <a:schemeClr val="bg1"/>
              </a:solidFill>
              <a:effectLst/>
              <a:highlight>
                <a:srgbClr val="2F6495"/>
              </a:highlight>
              <a:latin typeface="Times New Roman" panose="02020603050405020304" pitchFamily="18" charset="0"/>
              <a:ea typeface="Times New Roman" panose="02020603050405020304" pitchFamily="18" charset="0"/>
            </a:endParaRPr>
          </a:p>
          <a:p>
            <a:endParaRPr lang="fr-FR" sz="2000" b="1" dirty="0">
              <a:solidFill>
                <a:schemeClr val="bg1"/>
              </a:solidFill>
              <a:highlight>
                <a:srgbClr val="2F6495"/>
              </a:highlight>
            </a:endParaRPr>
          </a:p>
        </p:txBody>
      </p:sp>
      <p:sp>
        <p:nvSpPr>
          <p:cNvPr id="24" name="ZoneTexte 23">
            <a:extLst>
              <a:ext uri="{FF2B5EF4-FFF2-40B4-BE49-F238E27FC236}">
                <a16:creationId xmlns:a16="http://schemas.microsoft.com/office/drawing/2014/main" xmlns="" id="{4C342D7B-EDB6-4DB4-A665-AD8C73BE8319}"/>
              </a:ext>
            </a:extLst>
          </p:cNvPr>
          <p:cNvSpPr txBox="1"/>
          <p:nvPr/>
        </p:nvSpPr>
        <p:spPr>
          <a:xfrm>
            <a:off x="5777948" y="4744980"/>
            <a:ext cx="2305878" cy="584775"/>
          </a:xfrm>
          <a:prstGeom prst="rect">
            <a:avLst/>
          </a:prstGeom>
          <a:noFill/>
        </p:spPr>
        <p:txBody>
          <a:bodyPr wrap="square" rtlCol="0">
            <a:spAutoFit/>
          </a:bodyPr>
          <a:lstStyle/>
          <a:p>
            <a:r>
              <a:rPr lang="fr-FR" sz="1800" b="1" dirty="0">
                <a:solidFill>
                  <a:schemeClr val="bg1"/>
                </a:solidFill>
                <a:highlight>
                  <a:srgbClr val="2F6495"/>
                </a:highlight>
              </a:rPr>
              <a:t> </a:t>
            </a:r>
            <a:r>
              <a:rPr lang="fr-FR" sz="3200" b="1" dirty="0">
                <a:solidFill>
                  <a:schemeClr val="bg1"/>
                </a:solidFill>
                <a:highlight>
                  <a:srgbClr val="2F6495"/>
                </a:highlight>
              </a:rPr>
              <a:t>SGBD</a:t>
            </a:r>
          </a:p>
        </p:txBody>
      </p:sp>
      <p:pic>
        <p:nvPicPr>
          <p:cNvPr id="26" name="Image 25">
            <a:extLst>
              <a:ext uri="{FF2B5EF4-FFF2-40B4-BE49-F238E27FC236}">
                <a16:creationId xmlns:a16="http://schemas.microsoft.com/office/drawing/2014/main" xmlns="" id="{3F2934CC-008F-4A4B-AA87-F3EB506110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5142" y="5566794"/>
            <a:ext cx="2091109" cy="944962"/>
          </a:xfrm>
          <a:prstGeom prst="rect">
            <a:avLst/>
          </a:prstGeom>
        </p:spPr>
      </p:pic>
      <p:pic>
        <p:nvPicPr>
          <p:cNvPr id="14" name="Image 13">
            <a:extLst>
              <a:ext uri="{FF2B5EF4-FFF2-40B4-BE49-F238E27FC236}">
                <a16:creationId xmlns:a16="http://schemas.microsoft.com/office/drawing/2014/main" xmlns="" id="{FE3BD049-2612-6499-4CFA-DF6DC0D38D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92691" y="3098482"/>
            <a:ext cx="1586735" cy="1075478"/>
          </a:xfrm>
          <a:prstGeom prst="rect">
            <a:avLst/>
          </a:prstGeom>
        </p:spPr>
      </p:pic>
      <p:pic>
        <p:nvPicPr>
          <p:cNvPr id="27" name="Image 26">
            <a:extLst>
              <a:ext uri="{FF2B5EF4-FFF2-40B4-BE49-F238E27FC236}">
                <a16:creationId xmlns:a16="http://schemas.microsoft.com/office/drawing/2014/main" xmlns="" id="{FC09278A-9F83-3173-5876-4C97E1E4BE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80249" y="2990576"/>
            <a:ext cx="2305878" cy="1291291"/>
          </a:xfrm>
          <a:prstGeom prst="rect">
            <a:avLst/>
          </a:prstGeom>
        </p:spPr>
      </p:pic>
      <p:pic>
        <p:nvPicPr>
          <p:cNvPr id="31" name="Image 30">
            <a:extLst>
              <a:ext uri="{FF2B5EF4-FFF2-40B4-BE49-F238E27FC236}">
                <a16:creationId xmlns:a16="http://schemas.microsoft.com/office/drawing/2014/main" xmlns="" id="{4C46B907-BF50-F416-416E-5F0BAFB8CCF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86428" y="2826507"/>
            <a:ext cx="2030238" cy="1291291"/>
          </a:xfrm>
          <a:prstGeom prst="rect">
            <a:avLst/>
          </a:prstGeom>
        </p:spPr>
      </p:pic>
    </p:spTree>
    <p:extLst>
      <p:ext uri="{BB962C8B-B14F-4D97-AF65-F5344CB8AC3E}">
        <p14:creationId xmlns:p14="http://schemas.microsoft.com/office/powerpoint/2010/main" val="3794863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9880" y="1048845"/>
            <a:ext cx="2451652" cy="3195351"/>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43411" indent="-243411">
              <a:buClr>
                <a:srgbClr val="000000">
                  <a:lumMod val="50000"/>
                  <a:lumOff val="50000"/>
                </a:srgbClr>
              </a:buClr>
              <a:buFont typeface="Wingdings" panose="05000000000000000000" pitchFamily="2" charset="2"/>
              <a:buChar char="§"/>
            </a:pPr>
            <a:r>
              <a:rPr lang="fr-FR" sz="1800" kern="0" dirty="0">
                <a:solidFill>
                  <a:schemeClr val="tx2"/>
                </a:solidFill>
                <a:latin typeface="+mj-lt"/>
                <a:ea typeface="Verdana" panose="020B0604030504040204" pitchFamily="34" charset="0"/>
                <a:cs typeface="Calibri" panose="020F0502020204030204" pitchFamily="34" charset="0"/>
                <a:sym typeface="Arial"/>
              </a:rPr>
              <a:t>Langage de développement et SGBD</a:t>
            </a:r>
          </a:p>
          <a:p>
            <a:pPr marL="243411" indent="-243411">
              <a:buClr>
                <a:srgbClr val="000000">
                  <a:lumMod val="50000"/>
                  <a:lumOff val="50000"/>
                </a:srgbClr>
              </a:buClr>
              <a:buFont typeface="Wingdings" panose="05000000000000000000" pitchFamily="2" charset="2"/>
              <a:buChar char="§"/>
            </a:pPr>
            <a:r>
              <a:rPr lang="fr-FR" kern="0" dirty="0">
                <a:solidFill>
                  <a:srgbClr val="FF0000"/>
                </a:solidFill>
                <a:latin typeface="+mj-lt"/>
                <a:ea typeface="Verdana" panose="020B0604030504040204" pitchFamily="34" charset="0"/>
                <a:cs typeface="Calibri" panose="020F0502020204030204" pitchFamily="34" charset="0"/>
                <a:sym typeface="Arial"/>
              </a:rPr>
              <a:t>Langages de design</a:t>
            </a:r>
            <a:endParaRPr lang="fr-FR" sz="1800" kern="0" dirty="0">
              <a:solidFill>
                <a:srgbClr val="FF0000"/>
              </a:solidFill>
              <a:latin typeface="+mj-lt"/>
              <a:ea typeface="Verdana" panose="020B0604030504040204" pitchFamily="34" charset="0"/>
              <a:cs typeface="Calibri" panose="020F0502020204030204" pitchFamily="34" charset="0"/>
              <a:sym typeface="Arial"/>
            </a:endParaRPr>
          </a:p>
          <a:p>
            <a:pPr marL="243411" indent="-243411">
              <a:buClr>
                <a:srgbClr val="000000">
                  <a:lumMod val="50000"/>
                  <a:lumOff val="50000"/>
                </a:srgbClr>
              </a:buClr>
              <a:buFont typeface="Wingdings" panose="05000000000000000000" pitchFamily="2" charset="2"/>
              <a:buChar char="§"/>
            </a:pPr>
            <a:r>
              <a:rPr lang="fr-FR" sz="1800" kern="0" dirty="0">
                <a:solidFill>
                  <a:schemeClr val="tx2"/>
                </a:solidFill>
                <a:latin typeface="+mj-lt"/>
                <a:ea typeface="Verdana" panose="020B0604030504040204" pitchFamily="34" charset="0"/>
                <a:cs typeface="Calibri" panose="020F0502020204030204" pitchFamily="34" charset="0"/>
                <a:sym typeface="Arial"/>
              </a:rPr>
              <a:t>Framework utilisés</a:t>
            </a:r>
          </a:p>
          <a:p>
            <a:pPr marL="243411" indent="-243411">
              <a:buClr>
                <a:srgbClr val="000000">
                  <a:lumMod val="50000"/>
                  <a:lumOff val="50000"/>
                </a:srgbClr>
              </a:buClr>
              <a:buFont typeface="Wingdings" panose="05000000000000000000" pitchFamily="2" charset="2"/>
              <a:buChar char="§"/>
            </a:pPr>
            <a:r>
              <a:rPr lang="fr-FR" sz="1800" kern="0" dirty="0">
                <a:solidFill>
                  <a:srgbClr val="3A81BA">
                    <a:lumMod val="50000"/>
                  </a:srgbClr>
                </a:solidFill>
                <a:latin typeface="+mj-lt"/>
                <a:ea typeface="Verdana" panose="020B0604030504040204" pitchFamily="34" charset="0"/>
                <a:cs typeface="Calibri" panose="020F0502020204030204" pitchFamily="34" charset="0"/>
                <a:sym typeface="Arial"/>
              </a:rPr>
              <a:t>Environnement logiciel</a:t>
            </a:r>
          </a:p>
          <a:p>
            <a:pPr marL="243411" indent="-243411">
              <a:buClr>
                <a:srgbClr val="000000">
                  <a:lumMod val="50000"/>
                  <a:lumOff val="50000"/>
                </a:srgbClr>
              </a:buClr>
              <a:buFont typeface="Wingdings" panose="05000000000000000000" pitchFamily="2" charset="2"/>
              <a:buChar char="§"/>
            </a:pPr>
            <a:r>
              <a:rPr lang="fr-FR" sz="1800" kern="0" dirty="0">
                <a:solidFill>
                  <a:srgbClr val="3A81BA">
                    <a:lumMod val="50000"/>
                  </a:srgbClr>
                </a:solidFill>
                <a:latin typeface="+mj-lt"/>
                <a:ea typeface="Verdana" panose="020B0604030504040204" pitchFamily="34" charset="0"/>
                <a:cs typeface="Calibri" panose="020F0502020204030204" pitchFamily="34" charset="0"/>
                <a:sym typeface="Arial"/>
              </a:rPr>
              <a:t>Architecture adoptée</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21</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425146" y="914398"/>
            <a:ext cx="3352802" cy="463114"/>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 name="ZoneTexte 1">
            <a:extLst>
              <a:ext uri="{FF2B5EF4-FFF2-40B4-BE49-F238E27FC236}">
                <a16:creationId xmlns:a16="http://schemas.microsoft.com/office/drawing/2014/main" xmlns="" id="{EBC48C64-4064-478E-B051-A8E6B3F5BC26}"/>
              </a:ext>
            </a:extLst>
          </p:cNvPr>
          <p:cNvSpPr txBox="1"/>
          <p:nvPr/>
        </p:nvSpPr>
        <p:spPr>
          <a:xfrm>
            <a:off x="5103539" y="1685407"/>
            <a:ext cx="5875887" cy="1400383"/>
          </a:xfrm>
          <a:prstGeom prst="rect">
            <a:avLst/>
          </a:prstGeom>
          <a:noFill/>
        </p:spPr>
        <p:txBody>
          <a:bodyPr wrap="square" rtlCol="0">
            <a:spAutoFit/>
          </a:bodyPr>
          <a:lstStyle/>
          <a:p>
            <a:r>
              <a:rPr lang="fr-FR" sz="3500" b="1" dirty="0">
                <a:solidFill>
                  <a:schemeClr val="bg1"/>
                </a:solidFill>
                <a:effectLst/>
                <a:highlight>
                  <a:srgbClr val="2F6495"/>
                </a:highlight>
                <a:latin typeface="Times New Roman" panose="02020603050405020304" pitchFamily="18" charset="0"/>
                <a:ea typeface="Times New Roman" panose="02020603050405020304" pitchFamily="18" charset="0"/>
              </a:rPr>
              <a:t>Langages de design </a:t>
            </a:r>
            <a:endParaRPr lang="fr-FR" sz="3500" dirty="0">
              <a:solidFill>
                <a:schemeClr val="bg1"/>
              </a:solidFill>
              <a:effectLst/>
              <a:highlight>
                <a:srgbClr val="2F6495"/>
              </a:highlight>
              <a:latin typeface="Times New Roman" panose="02020603050405020304" pitchFamily="18" charset="0"/>
              <a:ea typeface="Times New Roman" panose="02020603050405020304" pitchFamily="18" charset="0"/>
            </a:endParaRPr>
          </a:p>
          <a:p>
            <a:endParaRPr lang="fr-FR" sz="3000" dirty="0">
              <a:solidFill>
                <a:schemeClr val="bg1"/>
              </a:solidFill>
              <a:effectLst/>
              <a:highlight>
                <a:srgbClr val="2F6495"/>
              </a:highlight>
              <a:latin typeface="Times New Roman" panose="02020603050405020304" pitchFamily="18" charset="0"/>
              <a:ea typeface="Times New Roman" panose="02020603050405020304" pitchFamily="18" charset="0"/>
            </a:endParaRPr>
          </a:p>
          <a:p>
            <a:endParaRPr lang="fr-FR" sz="2000" b="1" dirty="0">
              <a:solidFill>
                <a:schemeClr val="bg1"/>
              </a:solidFill>
              <a:highlight>
                <a:srgbClr val="2F6495"/>
              </a:highlight>
            </a:endParaRPr>
          </a:p>
        </p:txBody>
      </p:sp>
      <p:pic>
        <p:nvPicPr>
          <p:cNvPr id="7" name="Image 6">
            <a:extLst>
              <a:ext uri="{FF2B5EF4-FFF2-40B4-BE49-F238E27FC236}">
                <a16:creationId xmlns:a16="http://schemas.microsoft.com/office/drawing/2014/main" xmlns="" id="{25DAE11D-7817-A02A-88C0-6091022885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3206" y="3085790"/>
            <a:ext cx="1743593" cy="1743593"/>
          </a:xfrm>
          <a:prstGeom prst="rect">
            <a:avLst/>
          </a:prstGeom>
        </p:spPr>
      </p:pic>
      <p:pic>
        <p:nvPicPr>
          <p:cNvPr id="16" name="Image 15">
            <a:extLst>
              <a:ext uri="{FF2B5EF4-FFF2-40B4-BE49-F238E27FC236}">
                <a16:creationId xmlns:a16="http://schemas.microsoft.com/office/drawing/2014/main" xmlns="" id="{56B11B73-D247-E18E-5CE6-03171F9F22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4250" y="3200400"/>
            <a:ext cx="1259227" cy="1778908"/>
          </a:xfrm>
          <a:prstGeom prst="rect">
            <a:avLst/>
          </a:prstGeom>
        </p:spPr>
      </p:pic>
    </p:spTree>
    <p:extLst>
      <p:ext uri="{BB962C8B-B14F-4D97-AF65-F5344CB8AC3E}">
        <p14:creationId xmlns:p14="http://schemas.microsoft.com/office/powerpoint/2010/main" val="2482080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9880" y="1048845"/>
            <a:ext cx="2451652" cy="3091833"/>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43411" indent="-243411">
              <a:buClr>
                <a:srgbClr val="000000">
                  <a:lumMod val="50000"/>
                  <a:lumOff val="50000"/>
                </a:srgbClr>
              </a:buClr>
              <a:buFont typeface="Wingdings" panose="05000000000000000000" pitchFamily="2" charset="2"/>
              <a:buChar char="§"/>
            </a:pPr>
            <a:r>
              <a:rPr lang="fr-FR" sz="1800" kern="0" dirty="0">
                <a:solidFill>
                  <a:schemeClr val="tx2"/>
                </a:solidFill>
                <a:latin typeface="+mj-lt"/>
                <a:ea typeface="Verdana" panose="020B0604030504040204" pitchFamily="34" charset="0"/>
                <a:cs typeface="Calibri" panose="020F0502020204030204" pitchFamily="34" charset="0"/>
                <a:sym typeface="Arial"/>
              </a:rPr>
              <a:t>Langage de développement et SGBD</a:t>
            </a:r>
          </a:p>
          <a:p>
            <a:pPr marL="243411" indent="-243411">
              <a:buClr>
                <a:srgbClr val="000000">
                  <a:lumMod val="50000"/>
                  <a:lumOff val="50000"/>
                </a:srgbClr>
              </a:buClr>
              <a:buFont typeface="Wingdings" panose="05000000000000000000" pitchFamily="2" charset="2"/>
              <a:buChar char="§"/>
            </a:pPr>
            <a:r>
              <a:rPr lang="fr-FR" kern="0" dirty="0">
                <a:solidFill>
                  <a:schemeClr val="tx2"/>
                </a:solidFill>
                <a:latin typeface="+mj-lt"/>
                <a:ea typeface="Verdana" panose="020B0604030504040204" pitchFamily="34" charset="0"/>
                <a:cs typeface="Calibri" panose="020F0502020204030204" pitchFamily="34" charset="0"/>
                <a:sym typeface="Arial"/>
              </a:rPr>
              <a:t>Langages de design</a:t>
            </a:r>
            <a:endParaRPr lang="fr-FR" sz="1800" kern="0" dirty="0">
              <a:solidFill>
                <a:schemeClr val="tx2"/>
              </a:solidFill>
              <a:latin typeface="+mj-lt"/>
              <a:ea typeface="Verdana" panose="020B0604030504040204" pitchFamily="34" charset="0"/>
              <a:cs typeface="Calibri" panose="020F0502020204030204" pitchFamily="34" charset="0"/>
              <a:sym typeface="Arial"/>
            </a:endParaRPr>
          </a:p>
          <a:p>
            <a:pPr marL="243411" indent="-243411">
              <a:buClr>
                <a:srgbClr val="000000">
                  <a:lumMod val="50000"/>
                  <a:lumOff val="50000"/>
                </a:srgbClr>
              </a:buClr>
              <a:buFont typeface="Wingdings" panose="05000000000000000000" pitchFamily="2" charset="2"/>
              <a:buChar char="§"/>
            </a:pPr>
            <a:r>
              <a:rPr lang="fr-FR" sz="1800" kern="0" dirty="0">
                <a:solidFill>
                  <a:srgbClr val="FF0000"/>
                </a:solidFill>
                <a:latin typeface="+mj-lt"/>
                <a:ea typeface="Verdana" panose="020B0604030504040204" pitchFamily="34" charset="0"/>
                <a:cs typeface="Calibri" panose="020F0502020204030204" pitchFamily="34" charset="0"/>
                <a:sym typeface="Arial"/>
              </a:rPr>
              <a:t>Framework utilisés</a:t>
            </a:r>
          </a:p>
          <a:p>
            <a:pPr marL="243411" indent="-243411">
              <a:buClr>
                <a:srgbClr val="000000">
                  <a:lumMod val="50000"/>
                  <a:lumOff val="50000"/>
                </a:srgbClr>
              </a:buClr>
              <a:buFont typeface="Wingdings" panose="05000000000000000000" pitchFamily="2" charset="2"/>
              <a:buChar char="§"/>
            </a:pPr>
            <a:r>
              <a:rPr lang="fr-FR" sz="1800" kern="0" dirty="0">
                <a:solidFill>
                  <a:srgbClr val="3A81BA">
                    <a:lumMod val="50000"/>
                  </a:srgbClr>
                </a:solidFill>
                <a:latin typeface="+mj-lt"/>
                <a:ea typeface="Verdana" panose="020B0604030504040204" pitchFamily="34" charset="0"/>
                <a:cs typeface="Calibri" panose="020F0502020204030204" pitchFamily="34" charset="0"/>
                <a:sym typeface="Arial"/>
              </a:rPr>
              <a:t>Environnement logiciel</a:t>
            </a:r>
          </a:p>
          <a:p>
            <a:pPr marL="243411" indent="-243411">
              <a:buClr>
                <a:srgbClr val="000000">
                  <a:lumMod val="50000"/>
                  <a:lumOff val="50000"/>
                </a:srgbClr>
              </a:buClr>
              <a:buFont typeface="Wingdings" panose="05000000000000000000" pitchFamily="2" charset="2"/>
              <a:buChar char="§"/>
            </a:pPr>
            <a:r>
              <a:rPr lang="fr-FR" sz="1800" kern="0" dirty="0">
                <a:solidFill>
                  <a:srgbClr val="3A81BA">
                    <a:lumMod val="50000"/>
                  </a:srgbClr>
                </a:solidFill>
                <a:latin typeface="+mj-lt"/>
                <a:ea typeface="Verdana" panose="020B0604030504040204" pitchFamily="34" charset="0"/>
                <a:cs typeface="Calibri" panose="020F0502020204030204" pitchFamily="34" charset="0"/>
                <a:sym typeface="Arial"/>
              </a:rPr>
              <a:t>Architecture adoptée</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22</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425146" y="914398"/>
            <a:ext cx="3352802" cy="463114"/>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 name="ZoneTexte 1">
            <a:extLst>
              <a:ext uri="{FF2B5EF4-FFF2-40B4-BE49-F238E27FC236}">
                <a16:creationId xmlns:a16="http://schemas.microsoft.com/office/drawing/2014/main" xmlns="" id="{EBC48C64-4064-478E-B051-A8E6B3F5BC26}"/>
              </a:ext>
            </a:extLst>
          </p:cNvPr>
          <p:cNvSpPr txBox="1"/>
          <p:nvPr/>
        </p:nvSpPr>
        <p:spPr>
          <a:xfrm>
            <a:off x="5103539" y="1685407"/>
            <a:ext cx="5875887" cy="1446550"/>
          </a:xfrm>
          <a:prstGeom prst="rect">
            <a:avLst/>
          </a:prstGeom>
          <a:noFill/>
        </p:spPr>
        <p:txBody>
          <a:bodyPr wrap="square" rtlCol="0">
            <a:spAutoFit/>
          </a:bodyPr>
          <a:lstStyle/>
          <a:p>
            <a:r>
              <a:rPr lang="fr-FR" sz="3500" b="1" dirty="0">
                <a:solidFill>
                  <a:schemeClr val="bg1"/>
                </a:solidFill>
                <a:effectLst/>
                <a:highlight>
                  <a:srgbClr val="2F6495"/>
                </a:highlight>
                <a:latin typeface="Times New Roman" panose="02020603050405020304" pitchFamily="18" charset="0"/>
                <a:ea typeface="Times New Roman" panose="02020603050405020304" pitchFamily="18" charset="0"/>
                <a:cs typeface="Times New Roman" panose="02020603050405020304" pitchFamily="18" charset="0"/>
              </a:rPr>
              <a:t>Frameworks utilisés</a:t>
            </a:r>
            <a:endParaRPr lang="fr-FR" sz="3500" dirty="0">
              <a:solidFill>
                <a:schemeClr val="bg1"/>
              </a:solidFill>
              <a:effectLst/>
              <a:highlight>
                <a:srgbClr val="2F6495"/>
              </a:highlight>
              <a:latin typeface="Times New Roman" panose="02020603050405020304" pitchFamily="18" charset="0"/>
              <a:ea typeface="Times New Roman" panose="02020603050405020304" pitchFamily="18" charset="0"/>
            </a:endParaRPr>
          </a:p>
          <a:p>
            <a:endParaRPr lang="fr-FR" sz="3000" dirty="0">
              <a:solidFill>
                <a:schemeClr val="bg1"/>
              </a:solidFill>
              <a:effectLst/>
              <a:highlight>
                <a:srgbClr val="2F6495"/>
              </a:highlight>
              <a:latin typeface="Times New Roman" panose="02020603050405020304" pitchFamily="18" charset="0"/>
              <a:ea typeface="Times New Roman" panose="02020603050405020304" pitchFamily="18" charset="0"/>
            </a:endParaRPr>
          </a:p>
          <a:p>
            <a:endParaRPr lang="fr-FR" sz="2000" b="1" dirty="0">
              <a:solidFill>
                <a:schemeClr val="bg1"/>
              </a:solidFill>
              <a:highlight>
                <a:srgbClr val="2F6495"/>
              </a:highlight>
            </a:endParaRPr>
          </a:p>
        </p:txBody>
      </p:sp>
      <p:pic>
        <p:nvPicPr>
          <p:cNvPr id="17" name="Graphique 16">
            <a:extLst>
              <a:ext uri="{FF2B5EF4-FFF2-40B4-BE49-F238E27FC236}">
                <a16:creationId xmlns:a16="http://schemas.microsoft.com/office/drawing/2014/main" xmlns="" id="{80C45B75-5CFD-3CB1-318D-705F45D3DFC6}"/>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3485070" y="3004420"/>
            <a:ext cx="3308336" cy="898544"/>
          </a:xfrm>
          <a:prstGeom prst="rect">
            <a:avLst/>
          </a:prstGeom>
        </p:spPr>
      </p:pic>
      <p:pic>
        <p:nvPicPr>
          <p:cNvPr id="19" name="Image 18">
            <a:extLst>
              <a:ext uri="{FF2B5EF4-FFF2-40B4-BE49-F238E27FC236}">
                <a16:creationId xmlns:a16="http://schemas.microsoft.com/office/drawing/2014/main" xmlns="" id="{BCB85659-E6A1-CECB-EFFD-7A574F70DC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69384" y="3070510"/>
            <a:ext cx="2510042" cy="1311068"/>
          </a:xfrm>
          <a:prstGeom prst="rect">
            <a:avLst/>
          </a:prstGeom>
        </p:spPr>
      </p:pic>
    </p:spTree>
    <p:extLst>
      <p:ext uri="{BB962C8B-B14F-4D97-AF65-F5344CB8AC3E}">
        <p14:creationId xmlns:p14="http://schemas.microsoft.com/office/powerpoint/2010/main" val="15805464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9880" y="1048846"/>
            <a:ext cx="2451652" cy="3049926"/>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43411" indent="-243411">
              <a:buClr>
                <a:srgbClr val="000000">
                  <a:lumMod val="50000"/>
                  <a:lumOff val="50000"/>
                </a:srgbClr>
              </a:buClr>
              <a:buFont typeface="Wingdings" panose="05000000000000000000" pitchFamily="2" charset="2"/>
              <a:buChar char="§"/>
            </a:pPr>
            <a:r>
              <a:rPr lang="fr-FR" sz="1800" kern="0" dirty="0">
                <a:solidFill>
                  <a:schemeClr val="tx2"/>
                </a:solidFill>
                <a:latin typeface="+mj-lt"/>
                <a:ea typeface="Verdana" panose="020B0604030504040204" pitchFamily="34" charset="0"/>
                <a:cs typeface="Calibri" panose="020F0502020204030204" pitchFamily="34" charset="0"/>
                <a:sym typeface="Arial"/>
              </a:rPr>
              <a:t>Langage de développement et SGBD</a:t>
            </a:r>
          </a:p>
          <a:p>
            <a:pPr marL="243411" indent="-243411">
              <a:buClr>
                <a:srgbClr val="000000">
                  <a:lumMod val="50000"/>
                  <a:lumOff val="50000"/>
                </a:srgbClr>
              </a:buClr>
              <a:buFont typeface="Wingdings" panose="05000000000000000000" pitchFamily="2" charset="2"/>
              <a:buChar char="§"/>
            </a:pPr>
            <a:r>
              <a:rPr lang="fr-FR" kern="0" dirty="0">
                <a:solidFill>
                  <a:schemeClr val="tx2"/>
                </a:solidFill>
                <a:latin typeface="+mj-lt"/>
                <a:ea typeface="Verdana" panose="020B0604030504040204" pitchFamily="34" charset="0"/>
                <a:cs typeface="Calibri" panose="020F0502020204030204" pitchFamily="34" charset="0"/>
                <a:sym typeface="Arial"/>
              </a:rPr>
              <a:t>Langages de design</a:t>
            </a:r>
            <a:endParaRPr lang="fr-FR" sz="1800" kern="0" dirty="0">
              <a:solidFill>
                <a:schemeClr val="tx2"/>
              </a:solidFill>
              <a:latin typeface="+mj-lt"/>
              <a:ea typeface="Verdana" panose="020B0604030504040204" pitchFamily="34" charset="0"/>
              <a:cs typeface="Calibri" panose="020F0502020204030204" pitchFamily="34" charset="0"/>
              <a:sym typeface="Arial"/>
            </a:endParaRPr>
          </a:p>
          <a:p>
            <a:pPr marL="243411" indent="-243411">
              <a:buClr>
                <a:srgbClr val="000000">
                  <a:lumMod val="50000"/>
                  <a:lumOff val="50000"/>
                </a:srgbClr>
              </a:buClr>
              <a:buFont typeface="Wingdings" panose="05000000000000000000" pitchFamily="2" charset="2"/>
              <a:buChar char="§"/>
            </a:pPr>
            <a:r>
              <a:rPr lang="fr-FR" sz="1800" kern="0" dirty="0">
                <a:solidFill>
                  <a:schemeClr val="tx2"/>
                </a:solidFill>
                <a:latin typeface="+mj-lt"/>
                <a:ea typeface="Verdana" panose="020B0604030504040204" pitchFamily="34" charset="0"/>
                <a:cs typeface="Calibri" panose="020F0502020204030204" pitchFamily="34" charset="0"/>
                <a:sym typeface="Arial"/>
              </a:rPr>
              <a:t>Framework utilisés</a:t>
            </a:r>
          </a:p>
          <a:p>
            <a:pPr marL="243411" indent="-243411">
              <a:buClr>
                <a:srgbClr val="000000">
                  <a:lumMod val="50000"/>
                  <a:lumOff val="50000"/>
                </a:srgbClr>
              </a:buClr>
              <a:buFont typeface="Wingdings" panose="05000000000000000000" pitchFamily="2" charset="2"/>
              <a:buChar char="§"/>
            </a:pPr>
            <a:r>
              <a:rPr lang="fr-FR" sz="1800" kern="0" dirty="0">
                <a:solidFill>
                  <a:srgbClr val="FF0000"/>
                </a:solidFill>
                <a:latin typeface="+mj-lt"/>
                <a:ea typeface="Verdana" panose="020B0604030504040204" pitchFamily="34" charset="0"/>
                <a:cs typeface="Calibri" panose="020F0502020204030204" pitchFamily="34" charset="0"/>
                <a:sym typeface="Arial"/>
              </a:rPr>
              <a:t>Environnement logiciel</a:t>
            </a:r>
          </a:p>
          <a:p>
            <a:pPr marL="243411" indent="-243411">
              <a:buClr>
                <a:srgbClr val="000000">
                  <a:lumMod val="50000"/>
                  <a:lumOff val="50000"/>
                </a:srgbClr>
              </a:buClr>
              <a:buFont typeface="Wingdings" panose="05000000000000000000" pitchFamily="2" charset="2"/>
              <a:buChar char="§"/>
            </a:pPr>
            <a:r>
              <a:rPr lang="fr-FR" sz="1800" kern="0" dirty="0">
                <a:solidFill>
                  <a:srgbClr val="3A81BA">
                    <a:lumMod val="50000"/>
                  </a:srgbClr>
                </a:solidFill>
                <a:latin typeface="+mj-lt"/>
                <a:ea typeface="Verdana" panose="020B0604030504040204" pitchFamily="34" charset="0"/>
                <a:cs typeface="Calibri" panose="020F0502020204030204" pitchFamily="34" charset="0"/>
                <a:sym typeface="Arial"/>
              </a:rPr>
              <a:t>Architecture adoptée</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23</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425146" y="914398"/>
            <a:ext cx="3352802" cy="755375"/>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2" name="ZoneTexte 1">
            <a:extLst>
              <a:ext uri="{FF2B5EF4-FFF2-40B4-BE49-F238E27FC236}">
                <a16:creationId xmlns:a16="http://schemas.microsoft.com/office/drawing/2014/main" xmlns="" id="{EBC48C64-4064-478E-B051-A8E6B3F5BC26}"/>
              </a:ext>
            </a:extLst>
          </p:cNvPr>
          <p:cNvSpPr txBox="1"/>
          <p:nvPr/>
        </p:nvSpPr>
        <p:spPr>
          <a:xfrm>
            <a:off x="5009321" y="1715541"/>
            <a:ext cx="5115340" cy="892552"/>
          </a:xfrm>
          <a:prstGeom prst="rect">
            <a:avLst/>
          </a:prstGeom>
          <a:noFill/>
        </p:spPr>
        <p:txBody>
          <a:bodyPr wrap="square" rtlCol="0">
            <a:spAutoFit/>
          </a:bodyPr>
          <a:lstStyle/>
          <a:p>
            <a:r>
              <a:rPr lang="fr-FR" sz="3200" b="1" kern="0" dirty="0">
                <a:solidFill>
                  <a:schemeClr val="bg1"/>
                </a:solidFill>
                <a:highlight>
                  <a:srgbClr val="4D194D"/>
                </a:highlight>
                <a:latin typeface="Calibri" panose="020F0502020204030204" pitchFamily="34" charset="0"/>
                <a:ea typeface="Verdana" panose="020B0604030504040204" pitchFamily="34" charset="0"/>
                <a:cs typeface="Calibri" panose="020F0502020204030204" pitchFamily="34" charset="0"/>
                <a:sym typeface="Arial"/>
              </a:rPr>
              <a:t>Environnement logiciel</a:t>
            </a:r>
          </a:p>
          <a:p>
            <a:endParaRPr lang="fr-FR" sz="2000" b="1" dirty="0">
              <a:solidFill>
                <a:schemeClr val="bg1"/>
              </a:solidFill>
              <a:highlight>
                <a:srgbClr val="2F6495"/>
              </a:highlight>
            </a:endParaRP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pic>
        <p:nvPicPr>
          <p:cNvPr id="14" name="Image 13">
            <a:extLst>
              <a:ext uri="{FF2B5EF4-FFF2-40B4-BE49-F238E27FC236}">
                <a16:creationId xmlns:a16="http://schemas.microsoft.com/office/drawing/2014/main" xmlns="" id="{840C4501-48D8-4A71-BFE2-B1502A2EBB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7167" y="2933380"/>
            <a:ext cx="1028759" cy="820037"/>
          </a:xfrm>
          <a:prstGeom prst="rect">
            <a:avLst/>
          </a:prstGeom>
        </p:spPr>
      </p:pic>
      <p:pic>
        <p:nvPicPr>
          <p:cNvPr id="19" name="Image 18">
            <a:extLst>
              <a:ext uri="{FF2B5EF4-FFF2-40B4-BE49-F238E27FC236}">
                <a16:creationId xmlns:a16="http://schemas.microsoft.com/office/drawing/2014/main" xmlns="" id="{67AC9145-CAE2-4835-B218-134EA497EE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4267" y="2856880"/>
            <a:ext cx="1000265" cy="1009791"/>
          </a:xfrm>
          <a:prstGeom prst="rect">
            <a:avLst/>
          </a:prstGeom>
        </p:spPr>
      </p:pic>
      <p:pic>
        <p:nvPicPr>
          <p:cNvPr id="22" name="Image 21">
            <a:extLst>
              <a:ext uri="{FF2B5EF4-FFF2-40B4-BE49-F238E27FC236}">
                <a16:creationId xmlns:a16="http://schemas.microsoft.com/office/drawing/2014/main" xmlns="" id="{1E9048A3-13CA-43D5-ABD2-29D48BE9AE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91590" y="4498383"/>
            <a:ext cx="2219635" cy="1571844"/>
          </a:xfrm>
          <a:prstGeom prst="rect">
            <a:avLst/>
          </a:prstGeom>
        </p:spPr>
      </p:pic>
    </p:spTree>
    <p:extLst>
      <p:ext uri="{BB962C8B-B14F-4D97-AF65-F5344CB8AC3E}">
        <p14:creationId xmlns:p14="http://schemas.microsoft.com/office/powerpoint/2010/main" val="3235809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13" name="Rectangle : coins arrondis 12">
            <a:extLst>
              <a:ext uri="{FF2B5EF4-FFF2-40B4-BE49-F238E27FC236}">
                <a16:creationId xmlns:a16="http://schemas.microsoft.com/office/drawing/2014/main" xmlns="" id="{E0796BC0-9488-4B9A-91FF-29825022B22A}"/>
              </a:ext>
            </a:extLst>
          </p:cNvPr>
          <p:cNvSpPr/>
          <p:nvPr/>
        </p:nvSpPr>
        <p:spPr>
          <a:xfrm>
            <a:off x="-19880" y="1048846"/>
            <a:ext cx="2451652" cy="3049926"/>
          </a:xfrm>
          <a:prstGeom prst="roundRect">
            <a:avLst/>
          </a:prstGeom>
          <a:solidFill>
            <a:srgbClr val="E4EBE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43411" indent="-243411">
              <a:buClr>
                <a:srgbClr val="000000">
                  <a:lumMod val="50000"/>
                  <a:lumOff val="50000"/>
                </a:srgbClr>
              </a:buClr>
              <a:buFont typeface="Wingdings" panose="05000000000000000000" pitchFamily="2" charset="2"/>
              <a:buChar char="§"/>
            </a:pPr>
            <a:r>
              <a:rPr lang="fr-FR" sz="1800" kern="0" dirty="0">
                <a:solidFill>
                  <a:schemeClr val="tx1"/>
                </a:solidFill>
                <a:latin typeface="+mj-lt"/>
                <a:ea typeface="Verdana" panose="020B0604030504040204" pitchFamily="34" charset="0"/>
                <a:cs typeface="Calibri" panose="020F0502020204030204" pitchFamily="34" charset="0"/>
                <a:sym typeface="Arial"/>
              </a:rPr>
              <a:t>Langage de développement et SGBD</a:t>
            </a:r>
          </a:p>
          <a:p>
            <a:pPr marL="243411" indent="-243411">
              <a:buClr>
                <a:srgbClr val="000000">
                  <a:lumMod val="50000"/>
                  <a:lumOff val="50000"/>
                </a:srgbClr>
              </a:buClr>
              <a:buFont typeface="Wingdings" panose="05000000000000000000" pitchFamily="2" charset="2"/>
              <a:buChar char="§"/>
            </a:pPr>
            <a:r>
              <a:rPr lang="fr-FR" kern="0" dirty="0">
                <a:solidFill>
                  <a:schemeClr val="tx2"/>
                </a:solidFill>
                <a:latin typeface="+mj-lt"/>
                <a:ea typeface="Verdana" panose="020B0604030504040204" pitchFamily="34" charset="0"/>
                <a:cs typeface="Calibri" panose="020F0502020204030204" pitchFamily="34" charset="0"/>
                <a:sym typeface="Arial"/>
              </a:rPr>
              <a:t>Langages de design</a:t>
            </a:r>
            <a:endParaRPr lang="fr-FR" sz="1800" kern="0" dirty="0">
              <a:solidFill>
                <a:schemeClr val="tx2"/>
              </a:solidFill>
              <a:latin typeface="+mj-lt"/>
              <a:ea typeface="Verdana" panose="020B0604030504040204" pitchFamily="34" charset="0"/>
              <a:cs typeface="Calibri" panose="020F0502020204030204" pitchFamily="34" charset="0"/>
              <a:sym typeface="Arial"/>
            </a:endParaRPr>
          </a:p>
          <a:p>
            <a:pPr marL="243411" indent="-243411">
              <a:buClr>
                <a:srgbClr val="000000">
                  <a:lumMod val="50000"/>
                  <a:lumOff val="50000"/>
                </a:srgbClr>
              </a:buClr>
              <a:buFont typeface="Wingdings" panose="05000000000000000000" pitchFamily="2" charset="2"/>
              <a:buChar char="§"/>
            </a:pPr>
            <a:r>
              <a:rPr lang="fr-FR" sz="1800" kern="0" dirty="0">
                <a:solidFill>
                  <a:schemeClr val="tx2"/>
                </a:solidFill>
                <a:latin typeface="+mj-lt"/>
                <a:ea typeface="Verdana" panose="020B0604030504040204" pitchFamily="34" charset="0"/>
                <a:cs typeface="Calibri" panose="020F0502020204030204" pitchFamily="34" charset="0"/>
                <a:sym typeface="Arial"/>
              </a:rPr>
              <a:t>Framework utilisés</a:t>
            </a:r>
          </a:p>
          <a:p>
            <a:pPr marL="243411" indent="-243411">
              <a:buClr>
                <a:srgbClr val="000000">
                  <a:lumMod val="50000"/>
                  <a:lumOff val="50000"/>
                </a:srgbClr>
              </a:buClr>
              <a:buFont typeface="Wingdings" panose="05000000000000000000" pitchFamily="2" charset="2"/>
              <a:buChar char="§"/>
            </a:pPr>
            <a:r>
              <a:rPr lang="fr-FR" sz="1800" kern="0" dirty="0">
                <a:solidFill>
                  <a:srgbClr val="3A81BA">
                    <a:lumMod val="50000"/>
                  </a:srgbClr>
                </a:solidFill>
                <a:latin typeface="+mj-lt"/>
                <a:ea typeface="Verdana" panose="020B0604030504040204" pitchFamily="34" charset="0"/>
                <a:cs typeface="Calibri" panose="020F0502020204030204" pitchFamily="34" charset="0"/>
                <a:sym typeface="Arial"/>
              </a:rPr>
              <a:t>Environnement logiciel</a:t>
            </a:r>
          </a:p>
          <a:p>
            <a:pPr marL="243411" indent="-243411">
              <a:buClr>
                <a:srgbClr val="000000">
                  <a:lumMod val="50000"/>
                  <a:lumOff val="50000"/>
                </a:srgbClr>
              </a:buClr>
              <a:buFont typeface="Wingdings" panose="05000000000000000000" pitchFamily="2" charset="2"/>
              <a:buChar char="§"/>
            </a:pPr>
            <a:r>
              <a:rPr lang="fr-FR" sz="1800" kern="0" dirty="0">
                <a:solidFill>
                  <a:srgbClr val="FF0000"/>
                </a:solidFill>
                <a:latin typeface="+mj-lt"/>
                <a:ea typeface="Verdana" panose="020B0604030504040204" pitchFamily="34" charset="0"/>
                <a:cs typeface="Calibri" panose="020F0502020204030204" pitchFamily="34" charset="0"/>
                <a:sym typeface="Arial"/>
              </a:rPr>
              <a:t>Architecture adoptée</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24</a:t>
            </a:r>
          </a:p>
        </p:txBody>
      </p:sp>
      <p:sp>
        <p:nvSpPr>
          <p:cNvPr id="4" name="Flèche : virage 3">
            <a:extLst>
              <a:ext uri="{FF2B5EF4-FFF2-40B4-BE49-F238E27FC236}">
                <a16:creationId xmlns:a16="http://schemas.microsoft.com/office/drawing/2014/main" xmlns="" id="{D40F3D61-EE23-4C21-8ACD-2810CFFA6E67}"/>
              </a:ext>
            </a:extLst>
          </p:cNvPr>
          <p:cNvSpPr/>
          <p:nvPr/>
        </p:nvSpPr>
        <p:spPr>
          <a:xfrm flipH="1" flipV="1">
            <a:off x="2425146" y="914398"/>
            <a:ext cx="3352802" cy="755375"/>
          </a:xfrm>
          <a:prstGeom prst="bentArrow">
            <a:avLst>
              <a:gd name="adj1" fmla="val 25000"/>
              <a:gd name="adj2" fmla="val 32779"/>
              <a:gd name="adj3" fmla="val 25000"/>
              <a:gd name="adj4" fmla="val 4375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27" name="ZoneTexte 26">
            <a:extLst>
              <a:ext uri="{FF2B5EF4-FFF2-40B4-BE49-F238E27FC236}">
                <a16:creationId xmlns:a16="http://schemas.microsoft.com/office/drawing/2014/main" xmlns="" id="{37C8489D-6F02-40D4-A85B-A0F92F25A2B9}"/>
              </a:ext>
            </a:extLst>
          </p:cNvPr>
          <p:cNvSpPr txBox="1"/>
          <p:nvPr/>
        </p:nvSpPr>
        <p:spPr>
          <a:xfrm>
            <a:off x="5739346" y="1292085"/>
            <a:ext cx="5063454" cy="584775"/>
          </a:xfrm>
          <a:prstGeom prst="rect">
            <a:avLst/>
          </a:prstGeom>
          <a:noFill/>
        </p:spPr>
        <p:txBody>
          <a:bodyPr wrap="square" rtlCol="0">
            <a:spAutoFit/>
          </a:bodyPr>
          <a:lstStyle/>
          <a:p>
            <a:pPr marL="243411" indent="-243411">
              <a:buClr>
                <a:srgbClr val="000000">
                  <a:lumMod val="50000"/>
                  <a:lumOff val="50000"/>
                </a:srgbClr>
              </a:buClr>
              <a:buFont typeface="Wingdings" panose="05000000000000000000" pitchFamily="2" charset="2"/>
              <a:buChar char="§"/>
            </a:pPr>
            <a:r>
              <a:rPr lang="fr-FR" sz="3200" b="1" kern="0" dirty="0">
                <a:solidFill>
                  <a:schemeClr val="bg1"/>
                </a:solidFill>
                <a:highlight>
                  <a:srgbClr val="4D194D"/>
                </a:highlight>
                <a:latin typeface="Calibri" panose="020F0502020204030204" pitchFamily="34" charset="0"/>
                <a:ea typeface="Verdana" panose="020B0604030504040204" pitchFamily="34" charset="0"/>
                <a:cs typeface="Calibri" panose="020F0502020204030204" pitchFamily="34" charset="0"/>
                <a:sym typeface="Arial"/>
              </a:rPr>
              <a:t>Architecture adoptée</a:t>
            </a:r>
          </a:p>
        </p:txBody>
      </p:sp>
      <p:pic>
        <p:nvPicPr>
          <p:cNvPr id="5" name="Image 4">
            <a:extLst>
              <a:ext uri="{FF2B5EF4-FFF2-40B4-BE49-F238E27FC236}">
                <a16:creationId xmlns:a16="http://schemas.microsoft.com/office/drawing/2014/main" xmlns="" id="{50CFE9CA-466F-ACC6-617E-B4BEE17D8F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0022" y="2199410"/>
            <a:ext cx="5851479" cy="4467225"/>
          </a:xfrm>
          <a:prstGeom prst="rect">
            <a:avLst/>
          </a:prstGeom>
        </p:spPr>
      </p:pic>
    </p:spTree>
    <p:extLst>
      <p:ext uri="{BB962C8B-B14F-4D97-AF65-F5344CB8AC3E}">
        <p14:creationId xmlns:p14="http://schemas.microsoft.com/office/powerpoint/2010/main" val="33844575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flip="none" rotWithShape="1">
          <a:gsLst>
            <a:gs pos="56000">
              <a:schemeClr val="bg1"/>
            </a:gs>
            <a:gs pos="87000">
              <a:schemeClr val="bg1"/>
            </a:gs>
            <a:gs pos="40000">
              <a:schemeClr val="bg1"/>
            </a:gs>
            <a:gs pos="89080">
              <a:schemeClr val="tx2">
                <a:lumMod val="40000"/>
                <a:lumOff val="60000"/>
              </a:schemeClr>
            </a:gs>
            <a:gs pos="100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8" name="Parchemin : horizontal 7">
            <a:extLst>
              <a:ext uri="{FF2B5EF4-FFF2-40B4-BE49-F238E27FC236}">
                <a16:creationId xmlns:a16="http://schemas.microsoft.com/office/drawing/2014/main" xmlns="" id="{08919E59-182D-49A4-A2E8-5167A52F9062}"/>
              </a:ext>
            </a:extLst>
          </p:cNvPr>
          <p:cNvSpPr/>
          <p:nvPr/>
        </p:nvSpPr>
        <p:spPr>
          <a:xfrm>
            <a:off x="208843" y="135466"/>
            <a:ext cx="7172618" cy="6547556"/>
          </a:xfrm>
          <a:prstGeom prst="horizontalScroll">
            <a:avLst/>
          </a:prstGeom>
          <a:solidFill>
            <a:srgbClr val="D7EDBD"/>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Rectangle 8">
            <a:extLst>
              <a:ext uri="{FF2B5EF4-FFF2-40B4-BE49-F238E27FC236}">
                <a16:creationId xmlns:a16="http://schemas.microsoft.com/office/drawing/2014/main" xmlns="" id="{E9E36C50-979F-4D15-B165-0EF0445E3E7D}"/>
              </a:ext>
            </a:extLst>
          </p:cNvPr>
          <p:cNvSpPr/>
          <p:nvPr/>
        </p:nvSpPr>
        <p:spPr>
          <a:xfrm>
            <a:off x="835377" y="1557864"/>
            <a:ext cx="5949736" cy="3027387"/>
          </a:xfrm>
          <a:prstGeom prst="rect">
            <a:avLst/>
          </a:prstGeom>
          <a:solidFill>
            <a:schemeClr val="tx2">
              <a:lumMod val="20000"/>
              <a:lumOff val="8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dirty="0">
              <a:solidFill>
                <a:schemeClr val="bg1">
                  <a:lumMod val="50000"/>
                </a:schemeClr>
              </a:solidFill>
              <a:latin typeface="Arial Black" panose="020B0A04020102020204" pitchFamily="34" charset="0"/>
            </a:endParaRPr>
          </a:p>
        </p:txBody>
      </p:sp>
      <p:sp>
        <p:nvSpPr>
          <p:cNvPr id="10" name="Triangle rectangle 9">
            <a:extLst>
              <a:ext uri="{FF2B5EF4-FFF2-40B4-BE49-F238E27FC236}">
                <a16:creationId xmlns:a16="http://schemas.microsoft.com/office/drawing/2014/main" xmlns="" id="{D9AD7515-0040-4F4F-AE3E-759409051CD7}"/>
              </a:ext>
            </a:extLst>
          </p:cNvPr>
          <p:cNvSpPr/>
          <p:nvPr/>
        </p:nvSpPr>
        <p:spPr>
          <a:xfrm flipV="1">
            <a:off x="6793209" y="1557863"/>
            <a:ext cx="1998137" cy="2965789"/>
          </a:xfrm>
          <a:prstGeom prst="rtTriangle">
            <a:avLst/>
          </a:prstGeom>
          <a:solidFill>
            <a:schemeClr val="tx2">
              <a:lumMod val="20000"/>
              <a:lumOff val="8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 name="ZoneTexte 11">
            <a:extLst>
              <a:ext uri="{FF2B5EF4-FFF2-40B4-BE49-F238E27FC236}">
                <a16:creationId xmlns:a16="http://schemas.microsoft.com/office/drawing/2014/main" xmlns="" id="{D92E7898-D461-450C-8E36-6A49AB1B4844}"/>
              </a:ext>
            </a:extLst>
          </p:cNvPr>
          <p:cNvSpPr txBox="1"/>
          <p:nvPr/>
        </p:nvSpPr>
        <p:spPr>
          <a:xfrm>
            <a:off x="1304114" y="1753663"/>
            <a:ext cx="5480999" cy="1261884"/>
          </a:xfrm>
          <a:prstGeom prst="rect">
            <a:avLst/>
          </a:prstGeom>
          <a:noFill/>
        </p:spPr>
        <p:txBody>
          <a:bodyPr wrap="square" rtlCol="0">
            <a:spAutoFit/>
          </a:bodyPr>
          <a:lstStyle/>
          <a:p>
            <a:endParaRPr lang="fr-FR" sz="3800" b="1" dirty="0">
              <a:solidFill>
                <a:srgbClr val="00B0F0"/>
              </a:solidFill>
            </a:endParaRPr>
          </a:p>
          <a:p>
            <a:r>
              <a:rPr lang="fr-FR" sz="3800" b="1" dirty="0">
                <a:solidFill>
                  <a:srgbClr val="00B0F0"/>
                </a:solidFill>
              </a:rPr>
              <a:t>       INTERFACES</a:t>
            </a:r>
          </a:p>
        </p:txBody>
      </p:sp>
      <p:sp>
        <p:nvSpPr>
          <p:cNvPr id="13" name="Rectangle : avec coin rogné 12">
            <a:extLst>
              <a:ext uri="{FF2B5EF4-FFF2-40B4-BE49-F238E27FC236}">
                <a16:creationId xmlns:a16="http://schemas.microsoft.com/office/drawing/2014/main" xmlns="" id="{5A3BA6CC-1F83-4525-853E-E516F9B61BE7}"/>
              </a:ext>
            </a:extLst>
          </p:cNvPr>
          <p:cNvSpPr/>
          <p:nvPr/>
        </p:nvSpPr>
        <p:spPr>
          <a:xfrm flipH="1">
            <a:off x="10921042" y="5934974"/>
            <a:ext cx="1270957" cy="923026"/>
          </a:xfrm>
          <a:prstGeom prst="snip1Rect">
            <a:avLst/>
          </a:prstGeom>
          <a:solidFill>
            <a:srgbClr val="27264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dirty="0"/>
              <a:t>25</a:t>
            </a:r>
          </a:p>
        </p:txBody>
      </p:sp>
    </p:spTree>
    <p:extLst>
      <p:ext uri="{BB962C8B-B14F-4D97-AF65-F5344CB8AC3E}">
        <p14:creationId xmlns:p14="http://schemas.microsoft.com/office/powerpoint/2010/main" val="890373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26</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pic>
        <p:nvPicPr>
          <p:cNvPr id="4" name="Image 3">
            <a:extLst>
              <a:ext uri="{FF2B5EF4-FFF2-40B4-BE49-F238E27FC236}">
                <a16:creationId xmlns:a16="http://schemas.microsoft.com/office/drawing/2014/main" xmlns="" id="{44E3B180-9A53-73A1-AC2D-590CE4317B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075" y="1048846"/>
            <a:ext cx="11753850" cy="4894754"/>
          </a:xfrm>
          <a:prstGeom prst="rect">
            <a:avLst/>
          </a:prstGeom>
        </p:spPr>
      </p:pic>
      <p:sp>
        <p:nvSpPr>
          <p:cNvPr id="13" name="ZoneTexte 12">
            <a:extLst>
              <a:ext uri="{FF2B5EF4-FFF2-40B4-BE49-F238E27FC236}">
                <a16:creationId xmlns:a16="http://schemas.microsoft.com/office/drawing/2014/main" xmlns="" id="{47ABA4AB-6E8A-D86A-9A2B-7E7394321511}"/>
              </a:ext>
            </a:extLst>
          </p:cNvPr>
          <p:cNvSpPr txBox="1"/>
          <p:nvPr/>
        </p:nvSpPr>
        <p:spPr>
          <a:xfrm>
            <a:off x="3012057" y="6212494"/>
            <a:ext cx="6167886" cy="458074"/>
          </a:xfrm>
          <a:prstGeom prst="rect">
            <a:avLst/>
          </a:prstGeom>
          <a:noFill/>
        </p:spPr>
        <p:txBody>
          <a:bodyPr wrap="square">
            <a:spAutoFit/>
          </a:bodyPr>
          <a:lstStyle/>
          <a:p>
            <a:pPr algn="ctr">
              <a:lnSpc>
                <a:spcPct val="150000"/>
              </a:lnSpc>
              <a:spcAft>
                <a:spcPts val="600"/>
              </a:spcAft>
            </a:pPr>
            <a:r>
              <a:rPr lang="fr-FR" sz="1800" b="1" i="1" dirty="0">
                <a:solidFill>
                  <a:srgbClr val="000000"/>
                </a:solidFill>
                <a:effectLst/>
                <a:latin typeface="Times New Roman" panose="02020603050405020304" pitchFamily="18" charset="0"/>
                <a:ea typeface="Calibri" panose="020F0502020204030204" pitchFamily="34" charset="0"/>
              </a:rPr>
              <a:t>Figure </a:t>
            </a:r>
            <a:r>
              <a:rPr lang="fr-FR" b="1" i="1" dirty="0">
                <a:solidFill>
                  <a:srgbClr val="000000"/>
                </a:solidFill>
                <a:latin typeface="Times New Roman" panose="02020603050405020304" pitchFamily="18" charset="0"/>
                <a:ea typeface="Calibri" panose="020F0502020204030204" pitchFamily="34" charset="0"/>
              </a:rPr>
              <a:t>9</a:t>
            </a:r>
            <a:r>
              <a:rPr lang="fr-FR" sz="1800" b="1" i="1" dirty="0">
                <a:solidFill>
                  <a:srgbClr val="000000"/>
                </a:solidFill>
                <a:effectLst/>
                <a:latin typeface="Times New Roman" panose="02020603050405020304" pitchFamily="18" charset="0"/>
                <a:ea typeface="Calibri" panose="020F0502020204030204" pitchFamily="34" charset="0"/>
              </a:rPr>
              <a:t> : Page d’accueil</a:t>
            </a:r>
            <a:endParaRPr lang="fr-FR" sz="18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0910573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27</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47ABA4AB-6E8A-D86A-9A2B-7E7394321511}"/>
              </a:ext>
            </a:extLst>
          </p:cNvPr>
          <p:cNvSpPr txBox="1"/>
          <p:nvPr/>
        </p:nvSpPr>
        <p:spPr>
          <a:xfrm>
            <a:off x="3012057" y="6212494"/>
            <a:ext cx="6167886" cy="458074"/>
          </a:xfrm>
          <a:prstGeom prst="rect">
            <a:avLst/>
          </a:prstGeom>
          <a:noFill/>
        </p:spPr>
        <p:txBody>
          <a:bodyPr wrap="square">
            <a:spAutoFit/>
          </a:bodyPr>
          <a:lstStyle/>
          <a:p>
            <a:pPr algn="ctr">
              <a:lnSpc>
                <a:spcPct val="150000"/>
              </a:lnSpc>
              <a:spcAft>
                <a:spcPts val="600"/>
              </a:spcAft>
            </a:pPr>
            <a:r>
              <a:rPr lang="fr-FR" sz="1800" b="1" i="1" dirty="0">
                <a:solidFill>
                  <a:srgbClr val="000000"/>
                </a:solidFill>
                <a:effectLst/>
                <a:latin typeface="Times New Roman" panose="02020603050405020304" pitchFamily="18" charset="0"/>
                <a:ea typeface="Calibri" panose="020F0502020204030204" pitchFamily="34" charset="0"/>
              </a:rPr>
              <a:t>Figure </a:t>
            </a:r>
            <a:r>
              <a:rPr lang="fr-FR" b="1" i="1" dirty="0">
                <a:solidFill>
                  <a:srgbClr val="000000"/>
                </a:solidFill>
                <a:latin typeface="Times New Roman" panose="02020603050405020304" pitchFamily="18" charset="0"/>
                <a:ea typeface="Calibri" panose="020F0502020204030204" pitchFamily="34" charset="0"/>
              </a:rPr>
              <a:t>9</a:t>
            </a:r>
            <a:r>
              <a:rPr lang="fr-FR" sz="1800" b="1" i="1" dirty="0">
                <a:solidFill>
                  <a:srgbClr val="000000"/>
                </a:solidFill>
                <a:effectLst/>
                <a:latin typeface="Times New Roman" panose="02020603050405020304" pitchFamily="18" charset="0"/>
                <a:ea typeface="Calibri" panose="020F0502020204030204" pitchFamily="34" charset="0"/>
              </a:rPr>
              <a:t> : Page d’accueil- les outils d’analyse</a:t>
            </a:r>
            <a:endParaRPr lang="fr-FR" sz="1800" dirty="0">
              <a:effectLst/>
              <a:latin typeface="Times New Roman" panose="02020603050405020304" pitchFamily="18" charset="0"/>
              <a:ea typeface="Calibri" panose="020F0502020204030204" pitchFamily="34" charset="0"/>
            </a:endParaRPr>
          </a:p>
        </p:txBody>
      </p:sp>
      <p:pic>
        <p:nvPicPr>
          <p:cNvPr id="5" name="Image 4">
            <a:extLst>
              <a:ext uri="{FF2B5EF4-FFF2-40B4-BE49-F238E27FC236}">
                <a16:creationId xmlns:a16="http://schemas.microsoft.com/office/drawing/2014/main" xmlns="" id="{CE84FEEF-5D1D-9EEE-A9BB-14FA990A44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591" y="1153905"/>
            <a:ext cx="10667587" cy="4875623"/>
          </a:xfrm>
          <a:prstGeom prst="rect">
            <a:avLst/>
          </a:prstGeom>
        </p:spPr>
      </p:pic>
    </p:spTree>
    <p:extLst>
      <p:ext uri="{BB962C8B-B14F-4D97-AF65-F5344CB8AC3E}">
        <p14:creationId xmlns:p14="http://schemas.microsoft.com/office/powerpoint/2010/main" val="3056220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tx1">
              <a:lumMod val="50000"/>
              <a:lumOff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28</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pic>
        <p:nvPicPr>
          <p:cNvPr id="4" name="Image 3">
            <a:extLst>
              <a:ext uri="{FF2B5EF4-FFF2-40B4-BE49-F238E27FC236}">
                <a16:creationId xmlns:a16="http://schemas.microsoft.com/office/drawing/2014/main" xmlns="" id="{47DFA109-A185-291D-0384-EC9CBA3940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903" y="1048846"/>
            <a:ext cx="10320194" cy="5029201"/>
          </a:xfrm>
          <a:prstGeom prst="rect">
            <a:avLst/>
          </a:prstGeom>
        </p:spPr>
      </p:pic>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10</a:t>
            </a: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page à propos</a:t>
            </a:r>
            <a:endParaRPr lang="fr-FR" sz="23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470511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29</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44956"/>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11: inscription du client</a:t>
            </a:r>
          </a:p>
        </p:txBody>
      </p:sp>
      <p:pic>
        <p:nvPicPr>
          <p:cNvPr id="14" name="Image 13">
            <a:extLst>
              <a:ext uri="{FF2B5EF4-FFF2-40B4-BE49-F238E27FC236}">
                <a16:creationId xmlns:a16="http://schemas.microsoft.com/office/drawing/2014/main" xmlns="" id="{416370E1-635D-23E9-000F-3BCD79721F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010" y="1115595"/>
            <a:ext cx="9531711" cy="5170903"/>
          </a:xfrm>
          <a:prstGeom prst="rect">
            <a:avLst/>
          </a:prstGeom>
        </p:spPr>
      </p:pic>
    </p:spTree>
    <p:extLst>
      <p:ext uri="{BB962C8B-B14F-4D97-AF65-F5344CB8AC3E}">
        <p14:creationId xmlns:p14="http://schemas.microsoft.com/office/powerpoint/2010/main" val="20299866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30</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12 : page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de connexion du client</a:t>
            </a:r>
            <a:endParaRPr lang="fr-FR" sz="2300" dirty="0">
              <a:effectLst/>
              <a:latin typeface="Times New Roman" panose="02020603050405020304" pitchFamily="18" charset="0"/>
              <a:ea typeface="Calibri" panose="020F0502020204030204" pitchFamily="34" charset="0"/>
            </a:endParaRPr>
          </a:p>
        </p:txBody>
      </p:sp>
      <p:pic>
        <p:nvPicPr>
          <p:cNvPr id="5" name="Image 4">
            <a:extLst>
              <a:ext uri="{FF2B5EF4-FFF2-40B4-BE49-F238E27FC236}">
                <a16:creationId xmlns:a16="http://schemas.microsoft.com/office/drawing/2014/main" xmlns="" id="{D5A24020-F37D-2273-29AE-0609CE3EAE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9288" y="1048846"/>
            <a:ext cx="9897374" cy="4840004"/>
          </a:xfrm>
          <a:prstGeom prst="rect">
            <a:avLst/>
          </a:prstGeom>
        </p:spPr>
      </p:pic>
    </p:spTree>
    <p:extLst>
      <p:ext uri="{BB962C8B-B14F-4D97-AF65-F5344CB8AC3E}">
        <p14:creationId xmlns:p14="http://schemas.microsoft.com/office/powerpoint/2010/main" val="23305356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31</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13 :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tableau de bord du client</a:t>
            </a:r>
            <a:endParaRPr lang="fr-FR" sz="2300" dirty="0">
              <a:effectLst/>
              <a:latin typeface="Times New Roman" panose="02020603050405020304" pitchFamily="18" charset="0"/>
              <a:ea typeface="Calibri" panose="020F0502020204030204" pitchFamily="34" charset="0"/>
            </a:endParaRPr>
          </a:p>
        </p:txBody>
      </p:sp>
      <p:pic>
        <p:nvPicPr>
          <p:cNvPr id="5" name="Image 4">
            <a:extLst>
              <a:ext uri="{FF2B5EF4-FFF2-40B4-BE49-F238E27FC236}">
                <a16:creationId xmlns:a16="http://schemas.microsoft.com/office/drawing/2014/main" xmlns="" id="{A3A7CBDB-22F9-5D84-284A-DC69EE459E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5906" y="1048846"/>
            <a:ext cx="10363272" cy="5067837"/>
          </a:xfrm>
          <a:prstGeom prst="rect">
            <a:avLst/>
          </a:prstGeom>
        </p:spPr>
      </p:pic>
    </p:spTree>
    <p:extLst>
      <p:ext uri="{BB962C8B-B14F-4D97-AF65-F5344CB8AC3E}">
        <p14:creationId xmlns:p14="http://schemas.microsoft.com/office/powerpoint/2010/main" val="9559485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32</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14 :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consulter le profil du client</a:t>
            </a: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fr-FR" sz="2300" dirty="0">
              <a:effectLst/>
              <a:latin typeface="Times New Roman" panose="02020603050405020304" pitchFamily="18" charset="0"/>
              <a:ea typeface="Calibri" panose="020F0502020204030204" pitchFamily="34" charset="0"/>
            </a:endParaRPr>
          </a:p>
        </p:txBody>
      </p:sp>
      <p:pic>
        <p:nvPicPr>
          <p:cNvPr id="5" name="Image 4">
            <a:extLst>
              <a:ext uri="{FF2B5EF4-FFF2-40B4-BE49-F238E27FC236}">
                <a16:creationId xmlns:a16="http://schemas.microsoft.com/office/drawing/2014/main" xmlns="" id="{4F4A3AC6-1E70-87ED-9103-BA46EA939E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9808" y="1048846"/>
            <a:ext cx="9766854" cy="4783327"/>
          </a:xfrm>
          <a:prstGeom prst="rect">
            <a:avLst/>
          </a:prstGeom>
        </p:spPr>
      </p:pic>
    </p:spTree>
    <p:extLst>
      <p:ext uri="{BB962C8B-B14F-4D97-AF65-F5344CB8AC3E}">
        <p14:creationId xmlns:p14="http://schemas.microsoft.com/office/powerpoint/2010/main" val="41384718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28928" y="5903697"/>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33</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15 :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modifier le profil du client</a:t>
            </a:r>
            <a:endParaRPr lang="fr-FR" sz="2300" dirty="0">
              <a:effectLst/>
              <a:latin typeface="Times New Roman" panose="02020603050405020304" pitchFamily="18" charset="0"/>
              <a:ea typeface="Calibri" panose="020F0502020204030204" pitchFamily="34" charset="0"/>
            </a:endParaRPr>
          </a:p>
        </p:txBody>
      </p:sp>
      <p:pic>
        <p:nvPicPr>
          <p:cNvPr id="5" name="Image 4">
            <a:extLst>
              <a:ext uri="{FF2B5EF4-FFF2-40B4-BE49-F238E27FC236}">
                <a16:creationId xmlns:a16="http://schemas.microsoft.com/office/drawing/2014/main" xmlns="" id="{16CACE4C-43F5-452C-7988-1740BBB830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8732" y="1053560"/>
            <a:ext cx="10600196" cy="5168177"/>
          </a:xfrm>
          <a:prstGeom prst="rect">
            <a:avLst/>
          </a:prstGeom>
        </p:spPr>
      </p:pic>
    </p:spTree>
    <p:extLst>
      <p:ext uri="{BB962C8B-B14F-4D97-AF65-F5344CB8AC3E}">
        <p14:creationId xmlns:p14="http://schemas.microsoft.com/office/powerpoint/2010/main" val="942653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34</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16 :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ajouter une demande</a:t>
            </a:r>
            <a:endParaRPr lang="fr-FR" sz="2300" dirty="0">
              <a:effectLst/>
              <a:latin typeface="Times New Roman" panose="02020603050405020304" pitchFamily="18" charset="0"/>
              <a:ea typeface="Calibri" panose="020F0502020204030204" pitchFamily="34" charset="0"/>
            </a:endParaRPr>
          </a:p>
        </p:txBody>
      </p:sp>
      <p:pic>
        <p:nvPicPr>
          <p:cNvPr id="4" name="Image 3">
            <a:extLst>
              <a:ext uri="{FF2B5EF4-FFF2-40B4-BE49-F238E27FC236}">
                <a16:creationId xmlns:a16="http://schemas.microsoft.com/office/drawing/2014/main" xmlns="" id="{5AC0B6A2-C7FB-2D53-543E-8E93B67606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2572" y="1126151"/>
            <a:ext cx="10156592" cy="4951896"/>
          </a:xfrm>
          <a:prstGeom prst="rect">
            <a:avLst/>
          </a:prstGeom>
        </p:spPr>
      </p:pic>
    </p:spTree>
    <p:extLst>
      <p:ext uri="{BB962C8B-B14F-4D97-AF65-F5344CB8AC3E}">
        <p14:creationId xmlns:p14="http://schemas.microsoft.com/office/powerpoint/2010/main" val="41819398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35</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17 :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Email de validation de la demande</a:t>
            </a:r>
            <a:endParaRPr lang="fr-FR" sz="2300" dirty="0">
              <a:effectLst/>
              <a:latin typeface="Times New Roman" panose="02020603050405020304" pitchFamily="18" charset="0"/>
              <a:ea typeface="Calibri" panose="020F0502020204030204" pitchFamily="34" charset="0"/>
            </a:endParaRPr>
          </a:p>
        </p:txBody>
      </p:sp>
      <p:pic>
        <p:nvPicPr>
          <p:cNvPr id="4" name="Image 3">
            <a:extLst>
              <a:ext uri="{FF2B5EF4-FFF2-40B4-BE49-F238E27FC236}">
                <a16:creationId xmlns:a16="http://schemas.microsoft.com/office/drawing/2014/main" xmlns="" id="{6F4E5211-BDD6-44B7-6D51-1E03D88039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2211" y="1048847"/>
            <a:ext cx="5927345" cy="4442604"/>
          </a:xfrm>
          <a:prstGeom prst="rect">
            <a:avLst/>
          </a:prstGeom>
        </p:spPr>
      </p:pic>
    </p:spTree>
    <p:extLst>
      <p:ext uri="{BB962C8B-B14F-4D97-AF65-F5344CB8AC3E}">
        <p14:creationId xmlns:p14="http://schemas.microsoft.com/office/powerpoint/2010/main" val="6154005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36</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18 :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consulter les demandes</a:t>
            </a:r>
            <a:endParaRPr lang="fr-FR" sz="2300" dirty="0">
              <a:effectLst/>
              <a:latin typeface="Times New Roman" panose="02020603050405020304" pitchFamily="18" charset="0"/>
              <a:ea typeface="Calibri" panose="020F0502020204030204" pitchFamily="34" charset="0"/>
            </a:endParaRPr>
          </a:p>
        </p:txBody>
      </p:sp>
      <p:pic>
        <p:nvPicPr>
          <p:cNvPr id="4" name="Image 3">
            <a:extLst>
              <a:ext uri="{FF2B5EF4-FFF2-40B4-BE49-F238E27FC236}">
                <a16:creationId xmlns:a16="http://schemas.microsoft.com/office/drawing/2014/main" xmlns="" id="{332FE222-BB9D-B10A-BE30-394471E7BA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3231" y="1048846"/>
            <a:ext cx="10345947" cy="5051791"/>
          </a:xfrm>
          <a:prstGeom prst="rect">
            <a:avLst/>
          </a:prstGeom>
        </p:spPr>
      </p:pic>
    </p:spTree>
    <p:extLst>
      <p:ext uri="{BB962C8B-B14F-4D97-AF65-F5344CB8AC3E}">
        <p14:creationId xmlns:p14="http://schemas.microsoft.com/office/powerpoint/2010/main" val="28558197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37</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19:  PDF du devis</a:t>
            </a:r>
            <a:endParaRPr lang="fr-FR" sz="2300" dirty="0">
              <a:effectLst/>
              <a:latin typeface="Times New Roman" panose="02020603050405020304" pitchFamily="18" charset="0"/>
              <a:ea typeface="Calibri" panose="020F0502020204030204" pitchFamily="34" charset="0"/>
            </a:endParaRPr>
          </a:p>
        </p:txBody>
      </p:sp>
      <p:pic>
        <p:nvPicPr>
          <p:cNvPr id="4" name="Image 3">
            <a:extLst>
              <a:ext uri="{FF2B5EF4-FFF2-40B4-BE49-F238E27FC236}">
                <a16:creationId xmlns:a16="http://schemas.microsoft.com/office/drawing/2014/main" xmlns="" id="{F794385F-A0CC-1987-7B5B-D4A0F1FB5A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3442" y="990971"/>
            <a:ext cx="4996703" cy="5249268"/>
          </a:xfrm>
          <a:prstGeom prst="rect">
            <a:avLst/>
          </a:prstGeom>
        </p:spPr>
      </p:pic>
    </p:spTree>
    <p:extLst>
      <p:ext uri="{BB962C8B-B14F-4D97-AF65-F5344CB8AC3E}">
        <p14:creationId xmlns:p14="http://schemas.microsoft.com/office/powerpoint/2010/main" val="8753798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38</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20</a:t>
            </a: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suivre  le statut</a:t>
            </a:r>
            <a:endParaRPr lang="fr-FR" sz="2300" dirty="0">
              <a:effectLst/>
              <a:latin typeface="Times New Roman" panose="02020603050405020304" pitchFamily="18" charset="0"/>
              <a:ea typeface="Calibri" panose="020F0502020204030204" pitchFamily="34" charset="0"/>
            </a:endParaRPr>
          </a:p>
        </p:txBody>
      </p:sp>
      <p:pic>
        <p:nvPicPr>
          <p:cNvPr id="4" name="Image 3">
            <a:extLst>
              <a:ext uri="{FF2B5EF4-FFF2-40B4-BE49-F238E27FC236}">
                <a16:creationId xmlns:a16="http://schemas.microsoft.com/office/drawing/2014/main" xmlns="" id="{3CDB841E-F7F1-A26F-5E33-4F9881754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992" y="1048846"/>
            <a:ext cx="9793856" cy="4818060"/>
          </a:xfrm>
          <a:prstGeom prst="rect">
            <a:avLst/>
          </a:prstGeom>
        </p:spPr>
      </p:pic>
    </p:spTree>
    <p:extLst>
      <p:ext uri="{BB962C8B-B14F-4D97-AF65-F5344CB8AC3E}">
        <p14:creationId xmlns:p14="http://schemas.microsoft.com/office/powerpoint/2010/main" val="16767745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39</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21 :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ajouter une plainte</a:t>
            </a:r>
            <a:endParaRPr lang="fr-FR" sz="2300" dirty="0">
              <a:effectLst/>
              <a:latin typeface="Times New Roman" panose="02020603050405020304" pitchFamily="18" charset="0"/>
              <a:ea typeface="Calibri" panose="020F0502020204030204" pitchFamily="34" charset="0"/>
            </a:endParaRPr>
          </a:p>
        </p:txBody>
      </p:sp>
      <p:pic>
        <p:nvPicPr>
          <p:cNvPr id="5" name="Image 4">
            <a:extLst>
              <a:ext uri="{FF2B5EF4-FFF2-40B4-BE49-F238E27FC236}">
                <a16:creationId xmlns:a16="http://schemas.microsoft.com/office/drawing/2014/main" xmlns="" id="{DBF2506F-916E-34FD-3D5F-36A863989C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3161" y="1048846"/>
            <a:ext cx="5704425" cy="5244012"/>
          </a:xfrm>
          <a:prstGeom prst="rect">
            <a:avLst/>
          </a:prstGeom>
        </p:spPr>
      </p:pic>
    </p:spTree>
    <p:extLst>
      <p:ext uri="{BB962C8B-B14F-4D97-AF65-F5344CB8AC3E}">
        <p14:creationId xmlns:p14="http://schemas.microsoft.com/office/powerpoint/2010/main" val="2903366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40</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22</a:t>
            </a: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page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de connexion de l’admin</a:t>
            </a:r>
            <a:endParaRPr lang="fr-FR" sz="2300" dirty="0">
              <a:effectLst/>
              <a:latin typeface="Times New Roman" panose="02020603050405020304" pitchFamily="18" charset="0"/>
              <a:ea typeface="Calibri" panose="020F0502020204030204" pitchFamily="34" charset="0"/>
            </a:endParaRPr>
          </a:p>
        </p:txBody>
      </p:sp>
      <p:pic>
        <p:nvPicPr>
          <p:cNvPr id="5" name="Image 4">
            <a:extLst>
              <a:ext uri="{FF2B5EF4-FFF2-40B4-BE49-F238E27FC236}">
                <a16:creationId xmlns:a16="http://schemas.microsoft.com/office/drawing/2014/main" xmlns="" id="{4074A596-0CE0-4905-847F-648E807866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4891" y="1330804"/>
            <a:ext cx="8974535" cy="4414998"/>
          </a:xfrm>
          <a:prstGeom prst="rect">
            <a:avLst/>
          </a:prstGeom>
        </p:spPr>
      </p:pic>
    </p:spTree>
    <p:extLst>
      <p:ext uri="{BB962C8B-B14F-4D97-AF65-F5344CB8AC3E}">
        <p14:creationId xmlns:p14="http://schemas.microsoft.com/office/powerpoint/2010/main" val="42441302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41</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23</a:t>
            </a: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Tableau de bord de l’admin</a:t>
            </a:r>
            <a:endParaRPr lang="fr-FR" sz="2300" dirty="0">
              <a:effectLst/>
              <a:latin typeface="Times New Roman" panose="02020603050405020304" pitchFamily="18" charset="0"/>
              <a:ea typeface="Calibri" panose="020F0502020204030204" pitchFamily="34" charset="0"/>
            </a:endParaRPr>
          </a:p>
        </p:txBody>
      </p:sp>
      <p:pic>
        <p:nvPicPr>
          <p:cNvPr id="5" name="Image 4">
            <a:extLst>
              <a:ext uri="{FF2B5EF4-FFF2-40B4-BE49-F238E27FC236}">
                <a16:creationId xmlns:a16="http://schemas.microsoft.com/office/drawing/2014/main" xmlns="" id="{CF6A12AB-E759-2628-CD7F-DA1E9CEE17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8834" y="1347872"/>
            <a:ext cx="8905148" cy="4380863"/>
          </a:xfrm>
          <a:prstGeom prst="rect">
            <a:avLst/>
          </a:prstGeom>
        </p:spPr>
      </p:pic>
    </p:spTree>
    <p:extLst>
      <p:ext uri="{BB962C8B-B14F-4D97-AF65-F5344CB8AC3E}">
        <p14:creationId xmlns:p14="http://schemas.microsoft.com/office/powerpoint/2010/main" val="25924553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42</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24</a:t>
            </a: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liste principale des demandes</a:t>
            </a:r>
            <a:endParaRPr lang="fr-FR" sz="2300" dirty="0">
              <a:effectLst/>
              <a:latin typeface="Times New Roman" panose="02020603050405020304" pitchFamily="18" charset="0"/>
              <a:ea typeface="Calibri" panose="020F0502020204030204" pitchFamily="34" charset="0"/>
            </a:endParaRPr>
          </a:p>
        </p:txBody>
      </p:sp>
      <p:pic>
        <p:nvPicPr>
          <p:cNvPr id="5" name="Image 4">
            <a:extLst>
              <a:ext uri="{FF2B5EF4-FFF2-40B4-BE49-F238E27FC236}">
                <a16:creationId xmlns:a16="http://schemas.microsoft.com/office/drawing/2014/main" xmlns="" id="{94B0AD50-9071-5C96-312F-11297E64DF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9808" y="1048846"/>
            <a:ext cx="9766854" cy="4804777"/>
          </a:xfrm>
          <a:prstGeom prst="rect">
            <a:avLst/>
          </a:prstGeom>
        </p:spPr>
      </p:pic>
    </p:spTree>
    <p:extLst>
      <p:ext uri="{BB962C8B-B14F-4D97-AF65-F5344CB8AC3E}">
        <p14:creationId xmlns:p14="http://schemas.microsoft.com/office/powerpoint/2010/main" val="29464330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43</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25</a:t>
            </a: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modifier le statut</a:t>
            </a:r>
            <a:endParaRPr lang="fr-FR" sz="2300" dirty="0">
              <a:effectLst/>
              <a:latin typeface="Times New Roman" panose="02020603050405020304" pitchFamily="18" charset="0"/>
              <a:ea typeface="Calibri" panose="020F0502020204030204" pitchFamily="34" charset="0"/>
            </a:endParaRPr>
          </a:p>
        </p:txBody>
      </p:sp>
      <p:pic>
        <p:nvPicPr>
          <p:cNvPr id="5" name="Image 4">
            <a:extLst>
              <a:ext uri="{FF2B5EF4-FFF2-40B4-BE49-F238E27FC236}">
                <a16:creationId xmlns:a16="http://schemas.microsoft.com/office/drawing/2014/main" xmlns="" id="{DFE2AA3B-7CAA-B969-2385-AA0AE6DBD9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7839" y="1048846"/>
            <a:ext cx="4318178" cy="4977385"/>
          </a:xfrm>
          <a:prstGeom prst="rect">
            <a:avLst/>
          </a:prstGeom>
        </p:spPr>
      </p:pic>
    </p:spTree>
    <p:extLst>
      <p:ext uri="{BB962C8B-B14F-4D97-AF65-F5344CB8AC3E}">
        <p14:creationId xmlns:p14="http://schemas.microsoft.com/office/powerpoint/2010/main" val="38403104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44</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26</a:t>
            </a: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les infos de la demande et le résultat</a:t>
            </a:r>
            <a:endParaRPr lang="fr-FR" sz="2300" dirty="0">
              <a:effectLst/>
              <a:latin typeface="Times New Roman" panose="02020603050405020304" pitchFamily="18" charset="0"/>
              <a:ea typeface="Calibri" panose="020F0502020204030204" pitchFamily="34" charset="0"/>
            </a:endParaRPr>
          </a:p>
        </p:txBody>
      </p:sp>
      <p:pic>
        <p:nvPicPr>
          <p:cNvPr id="5" name="Image 4">
            <a:extLst>
              <a:ext uri="{FF2B5EF4-FFF2-40B4-BE49-F238E27FC236}">
                <a16:creationId xmlns:a16="http://schemas.microsoft.com/office/drawing/2014/main" xmlns="" id="{5FDA4DC4-56AB-0200-C8E6-4B98C0D2F5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595" y="978610"/>
            <a:ext cx="10052649" cy="4945373"/>
          </a:xfrm>
          <a:prstGeom prst="rect">
            <a:avLst/>
          </a:prstGeom>
        </p:spPr>
      </p:pic>
    </p:spTree>
    <p:extLst>
      <p:ext uri="{BB962C8B-B14F-4D97-AF65-F5344CB8AC3E}">
        <p14:creationId xmlns:p14="http://schemas.microsoft.com/office/powerpoint/2010/main" val="662035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45</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27 :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Liste des clients</a:t>
            </a:r>
            <a:endParaRPr lang="fr-FR" sz="2300" dirty="0">
              <a:effectLst/>
              <a:latin typeface="Times New Roman" panose="02020603050405020304" pitchFamily="18" charset="0"/>
              <a:ea typeface="Calibri" panose="020F0502020204030204" pitchFamily="34" charset="0"/>
            </a:endParaRPr>
          </a:p>
        </p:txBody>
      </p:sp>
      <p:pic>
        <p:nvPicPr>
          <p:cNvPr id="14" name="Image 13">
            <a:extLst>
              <a:ext uri="{FF2B5EF4-FFF2-40B4-BE49-F238E27FC236}">
                <a16:creationId xmlns:a16="http://schemas.microsoft.com/office/drawing/2014/main" xmlns="" id="{60DD739D-AFF7-0D5E-58FC-EC8C89499A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038" y="971138"/>
            <a:ext cx="10381011" cy="5106910"/>
          </a:xfrm>
          <a:prstGeom prst="rect">
            <a:avLst/>
          </a:prstGeom>
        </p:spPr>
      </p:pic>
    </p:spTree>
    <p:extLst>
      <p:ext uri="{BB962C8B-B14F-4D97-AF65-F5344CB8AC3E}">
        <p14:creationId xmlns:p14="http://schemas.microsoft.com/office/powerpoint/2010/main" val="26060983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7" y="1"/>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2">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46</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305338" y="4098772"/>
            <a:ext cx="2796209" cy="523220"/>
          </a:xfrm>
          <a:prstGeom prst="rect">
            <a:avLst/>
          </a:prstGeom>
          <a:noFill/>
        </p:spPr>
        <p:txBody>
          <a:bodyPr wrap="square" rtlCol="0">
            <a:spAutoFit/>
          </a:bodyPr>
          <a:lstStyle/>
          <a:p>
            <a:r>
              <a:rPr lang="fr-FR" sz="2800" b="1" dirty="0">
                <a:solidFill>
                  <a:schemeClr val="bg1"/>
                </a:solidFill>
                <a:highlight>
                  <a:srgbClr val="008080"/>
                </a:highlight>
              </a:rPr>
              <a:t>   </a:t>
            </a:r>
          </a:p>
        </p:txBody>
      </p:sp>
      <p:sp>
        <p:nvSpPr>
          <p:cNvPr id="13" name="ZoneTexte 12">
            <a:extLst>
              <a:ext uri="{FF2B5EF4-FFF2-40B4-BE49-F238E27FC236}">
                <a16:creationId xmlns:a16="http://schemas.microsoft.com/office/drawing/2014/main" xmlns="" id="{D8655BA3-737A-6192-99B6-8339B5FAC498}"/>
              </a:ext>
            </a:extLst>
          </p:cNvPr>
          <p:cNvSpPr txBox="1"/>
          <p:nvPr/>
        </p:nvSpPr>
        <p:spPr>
          <a:xfrm>
            <a:off x="3217465" y="6162209"/>
            <a:ext cx="6167886" cy="559640"/>
          </a:xfrm>
          <a:prstGeom prst="rect">
            <a:avLst/>
          </a:prstGeom>
          <a:noFill/>
        </p:spPr>
        <p:txBody>
          <a:bodyPr wrap="square">
            <a:spAutoFit/>
          </a:bodyPr>
          <a:lstStyle/>
          <a:p>
            <a:pPr algn="just">
              <a:lnSpc>
                <a:spcPct val="150000"/>
              </a:lnSpc>
              <a:spcAft>
                <a:spcPts val="1200"/>
              </a:spcAft>
            </a:pP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Figure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28</a:t>
            </a:r>
            <a:r>
              <a:rPr lang="fr-FR" sz="2300" b="1"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a:t>
            </a:r>
            <a:r>
              <a:rPr lang="fr-FR" sz="2300" b="1" i="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consulter les plaintes </a:t>
            </a:r>
            <a:endParaRPr lang="fr-FR" sz="2300" dirty="0">
              <a:effectLst/>
              <a:latin typeface="Times New Roman" panose="02020603050405020304" pitchFamily="18" charset="0"/>
              <a:ea typeface="Calibri" panose="020F0502020204030204" pitchFamily="34" charset="0"/>
            </a:endParaRPr>
          </a:p>
        </p:txBody>
      </p:sp>
      <p:pic>
        <p:nvPicPr>
          <p:cNvPr id="16" name="Image 15">
            <a:extLst>
              <a:ext uri="{FF2B5EF4-FFF2-40B4-BE49-F238E27FC236}">
                <a16:creationId xmlns:a16="http://schemas.microsoft.com/office/drawing/2014/main" xmlns="" id="{79EE481E-FA5A-CB68-365A-C3E373723F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163" y="831540"/>
            <a:ext cx="10760015" cy="5144632"/>
          </a:xfrm>
          <a:prstGeom prst="rect">
            <a:avLst/>
          </a:prstGeom>
        </p:spPr>
      </p:pic>
    </p:spTree>
    <p:extLst>
      <p:ext uri="{BB962C8B-B14F-4D97-AF65-F5344CB8AC3E}">
        <p14:creationId xmlns:p14="http://schemas.microsoft.com/office/powerpoint/2010/main" val="5952083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flip="none" rotWithShape="1">
          <a:gsLst>
            <a:gs pos="3361">
              <a:schemeClr val="bg1"/>
            </a:gs>
            <a:gs pos="16000">
              <a:schemeClr val="bg1"/>
            </a:gs>
            <a:gs pos="93000">
              <a:schemeClr val="tx2">
                <a:lumMod val="40000"/>
                <a:lumOff val="60000"/>
              </a:schemeClr>
            </a:gs>
            <a:gs pos="48000">
              <a:schemeClr val="bg1">
                <a:lumMod val="95000"/>
              </a:schemeClr>
            </a:gs>
            <a:gs pos="73942">
              <a:srgbClr val="DADADA"/>
            </a:gs>
            <a:gs pos="100000">
              <a:schemeClr val="bg2">
                <a:lumMod val="90000"/>
              </a:schemeClr>
            </a:gs>
            <a:gs pos="95000">
              <a:srgbClr val="CEEAB0"/>
            </a:gs>
          </a:gsLst>
          <a:path path="circle">
            <a:fillToRect t="100000" r="100000"/>
          </a:path>
          <a:tileRect/>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FDBA8695-6AF7-4E1A-A82B-EAA2E9B87382}"/>
              </a:ext>
            </a:extLst>
          </p:cNvPr>
          <p:cNvSpPr/>
          <p:nvPr/>
        </p:nvSpPr>
        <p:spPr>
          <a:xfrm>
            <a:off x="0" y="-134448"/>
            <a:ext cx="12192000"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xmlns="" id="{F07DCE0E-5DEA-4197-9A05-E0B43EBD3AF5}"/>
              </a:ext>
            </a:extLst>
          </p:cNvPr>
          <p:cNvSpPr/>
          <p:nvPr/>
        </p:nvSpPr>
        <p:spPr>
          <a:xfrm>
            <a:off x="-1" y="0"/>
            <a:ext cx="2425147"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Introduction</a:t>
            </a:r>
          </a:p>
        </p:txBody>
      </p:sp>
      <p:sp>
        <p:nvSpPr>
          <p:cNvPr id="9" name="Ellipse 8">
            <a:extLst>
              <a:ext uri="{FF2B5EF4-FFF2-40B4-BE49-F238E27FC236}">
                <a16:creationId xmlns:a16="http://schemas.microsoft.com/office/drawing/2014/main" xmlns="" id="{B35E88C9-CF87-47AA-A72C-3900D729E7CD}"/>
              </a:ext>
            </a:extLst>
          </p:cNvPr>
          <p:cNvSpPr/>
          <p:nvPr/>
        </p:nvSpPr>
        <p:spPr>
          <a:xfrm>
            <a:off x="2425146" y="-67225"/>
            <a:ext cx="2451652" cy="914399"/>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Analyse et conception</a:t>
            </a:r>
          </a:p>
        </p:txBody>
      </p:sp>
      <p:sp>
        <p:nvSpPr>
          <p:cNvPr id="10" name="Ellipse 9">
            <a:extLst>
              <a:ext uri="{FF2B5EF4-FFF2-40B4-BE49-F238E27FC236}">
                <a16:creationId xmlns:a16="http://schemas.microsoft.com/office/drawing/2014/main" xmlns="" id="{09E5108E-6403-4C6E-A218-CF2FA51BA381}"/>
              </a:ext>
            </a:extLst>
          </p:cNvPr>
          <p:cNvSpPr/>
          <p:nvPr/>
        </p:nvSpPr>
        <p:spPr>
          <a:xfrm>
            <a:off x="4876799" y="0"/>
            <a:ext cx="284921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Etude technique et environnement</a:t>
            </a:r>
          </a:p>
        </p:txBody>
      </p:sp>
      <p:sp>
        <p:nvSpPr>
          <p:cNvPr id="11" name="Ellipse 10">
            <a:extLst>
              <a:ext uri="{FF2B5EF4-FFF2-40B4-BE49-F238E27FC236}">
                <a16:creationId xmlns:a16="http://schemas.microsoft.com/office/drawing/2014/main" xmlns="" id="{CA7419DD-80B6-49D3-92B9-C01A744838AE}"/>
              </a:ext>
            </a:extLst>
          </p:cNvPr>
          <p:cNvSpPr/>
          <p:nvPr/>
        </p:nvSpPr>
        <p:spPr>
          <a:xfrm>
            <a:off x="7726017" y="-1"/>
            <a:ext cx="1948069" cy="914400"/>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Interfaces</a:t>
            </a:r>
          </a:p>
        </p:txBody>
      </p:sp>
      <p:sp>
        <p:nvSpPr>
          <p:cNvPr id="12" name="Ellipse 11">
            <a:extLst>
              <a:ext uri="{FF2B5EF4-FFF2-40B4-BE49-F238E27FC236}">
                <a16:creationId xmlns:a16="http://schemas.microsoft.com/office/drawing/2014/main" xmlns="" id="{25413648-C4C5-4F23-80B2-2C5418815C09}"/>
              </a:ext>
            </a:extLst>
          </p:cNvPr>
          <p:cNvSpPr/>
          <p:nvPr/>
        </p:nvSpPr>
        <p:spPr>
          <a:xfrm>
            <a:off x="9766853" y="-1"/>
            <a:ext cx="2425147" cy="779953"/>
          </a:xfrm>
          <a:prstGeom prst="ellipse">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effectLst>
                  <a:outerShdw blurRad="38100" dist="38100" dir="2700000" algn="tl">
                    <a:srgbClr val="000000">
                      <a:alpha val="43137"/>
                    </a:srgbClr>
                  </a:outerShdw>
                </a:effectLst>
              </a:rPr>
              <a:t>Conclusion et perspectives</a:t>
            </a:r>
          </a:p>
        </p:txBody>
      </p:sp>
      <p:sp>
        <p:nvSpPr>
          <p:cNvPr id="3" name="Rectangle : avec coin rogné 2">
            <a:extLst>
              <a:ext uri="{FF2B5EF4-FFF2-40B4-BE49-F238E27FC236}">
                <a16:creationId xmlns:a16="http://schemas.microsoft.com/office/drawing/2014/main" xmlns="" id="{601F2440-D4F1-4F99-B522-924CE2D9EFA6}"/>
              </a:ext>
            </a:extLst>
          </p:cNvPr>
          <p:cNvSpPr/>
          <p:nvPr/>
        </p:nvSpPr>
        <p:spPr>
          <a:xfrm flipH="1">
            <a:off x="11319178" y="5943600"/>
            <a:ext cx="873916" cy="914400"/>
          </a:xfrm>
          <a:prstGeom prst="snip1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t>47</a:t>
            </a:r>
          </a:p>
        </p:txBody>
      </p:sp>
      <p:sp>
        <p:nvSpPr>
          <p:cNvPr id="18" name="ZoneTexte 17">
            <a:extLst>
              <a:ext uri="{FF2B5EF4-FFF2-40B4-BE49-F238E27FC236}">
                <a16:creationId xmlns:a16="http://schemas.microsoft.com/office/drawing/2014/main" xmlns="" id="{D8ADBE94-C55B-4745-9128-CE679F50D2E6}"/>
              </a:ext>
            </a:extLst>
          </p:cNvPr>
          <p:cNvSpPr txBox="1"/>
          <p:nvPr/>
        </p:nvSpPr>
        <p:spPr>
          <a:xfrm>
            <a:off x="1212572" y="4154031"/>
            <a:ext cx="7730271" cy="2246769"/>
          </a:xfrm>
          <a:prstGeom prst="rect">
            <a:avLst/>
          </a:prstGeom>
          <a:noFill/>
        </p:spPr>
        <p:txBody>
          <a:bodyPr wrap="square" rtlCol="0">
            <a:spAutoFit/>
          </a:bodyPr>
          <a:lstStyle/>
          <a:p>
            <a:r>
              <a:rPr lang="fr-FR" sz="2800" b="1" dirty="0">
                <a:solidFill>
                  <a:schemeClr val="accent4">
                    <a:lumMod val="50000"/>
                  </a:schemeClr>
                </a:solidFill>
                <a:effectLst/>
                <a:latin typeface="+mj-lt"/>
                <a:ea typeface="Calibri" panose="020F0502020204030204" pitchFamily="34" charset="0"/>
              </a:rPr>
              <a:t>Le développement d’une version mobile  </a:t>
            </a:r>
          </a:p>
          <a:p>
            <a:r>
              <a:rPr lang="fr-FR" sz="2800" b="1" dirty="0">
                <a:solidFill>
                  <a:schemeClr val="accent4">
                    <a:lumMod val="50000"/>
                  </a:schemeClr>
                </a:solidFill>
                <a:effectLst/>
                <a:latin typeface="+mj-lt"/>
                <a:ea typeface="Calibri" panose="020F0502020204030204" pitchFamily="34" charset="0"/>
              </a:rPr>
              <a:t>Ajouter la possibilité de choisir la langue d’utilisation de la plateforme.</a:t>
            </a:r>
          </a:p>
          <a:p>
            <a:r>
              <a:rPr lang="fr-FR" sz="2800" b="1" kern="0" dirty="0">
                <a:solidFill>
                  <a:schemeClr val="accent4">
                    <a:lumMod val="50000"/>
                  </a:schemeClr>
                </a:solidFill>
                <a:latin typeface="+mj-lt"/>
                <a:cs typeface="Arial"/>
              </a:rPr>
              <a:t>La sécurisation de la plateforme</a:t>
            </a:r>
          </a:p>
          <a:p>
            <a:endParaRPr lang="fr-FR" sz="2800" b="1" dirty="0">
              <a:solidFill>
                <a:schemeClr val="bg1"/>
              </a:solidFill>
              <a:highlight>
                <a:srgbClr val="008080"/>
              </a:highlight>
            </a:endParaRPr>
          </a:p>
        </p:txBody>
      </p:sp>
      <p:sp>
        <p:nvSpPr>
          <p:cNvPr id="7" name="ZoneTexte 6">
            <a:extLst>
              <a:ext uri="{FF2B5EF4-FFF2-40B4-BE49-F238E27FC236}">
                <a16:creationId xmlns:a16="http://schemas.microsoft.com/office/drawing/2014/main" xmlns="" id="{A1ACADCF-8FEF-E610-EDF8-83ED4C66DF54}"/>
              </a:ext>
            </a:extLst>
          </p:cNvPr>
          <p:cNvSpPr txBox="1"/>
          <p:nvPr/>
        </p:nvSpPr>
        <p:spPr>
          <a:xfrm>
            <a:off x="4399472" y="1048848"/>
            <a:ext cx="3623093" cy="784830"/>
          </a:xfrm>
          <a:prstGeom prst="rect">
            <a:avLst/>
          </a:prstGeom>
          <a:noFill/>
        </p:spPr>
        <p:txBody>
          <a:bodyPr wrap="square" rtlCol="0">
            <a:spAutoFit/>
          </a:bodyPr>
          <a:lstStyle/>
          <a:p>
            <a:r>
              <a:rPr lang="fr-FR" sz="4500" b="1" dirty="0">
                <a:solidFill>
                  <a:schemeClr val="bg1"/>
                </a:solidFill>
                <a:highlight>
                  <a:srgbClr val="2F6495"/>
                </a:highlight>
              </a:rPr>
              <a:t>Conclusion</a:t>
            </a:r>
          </a:p>
        </p:txBody>
      </p:sp>
      <p:sp>
        <p:nvSpPr>
          <p:cNvPr id="16" name="ZoneTexte 15">
            <a:extLst>
              <a:ext uri="{FF2B5EF4-FFF2-40B4-BE49-F238E27FC236}">
                <a16:creationId xmlns:a16="http://schemas.microsoft.com/office/drawing/2014/main" xmlns="" id="{F25CB29D-A2B2-435B-7E24-AE6679AAD2F1}"/>
              </a:ext>
            </a:extLst>
          </p:cNvPr>
          <p:cNvSpPr txBox="1"/>
          <p:nvPr/>
        </p:nvSpPr>
        <p:spPr>
          <a:xfrm>
            <a:off x="1500996" y="1971429"/>
            <a:ext cx="9818182" cy="1154162"/>
          </a:xfrm>
          <a:prstGeom prst="rect">
            <a:avLst/>
          </a:prstGeom>
          <a:noFill/>
        </p:spPr>
        <p:txBody>
          <a:bodyPr wrap="square">
            <a:spAutoFit/>
          </a:bodyPr>
          <a:lstStyle/>
          <a:p>
            <a:r>
              <a:rPr lang="fr-FR" sz="2300" b="1" dirty="0">
                <a:solidFill>
                  <a:schemeClr val="tx2">
                    <a:lumMod val="60000"/>
                    <a:lumOff val="40000"/>
                  </a:schemeClr>
                </a:solidFill>
              </a:rPr>
              <a:t>Implémentation des principales fonctionnalités de notre Plateforme:</a:t>
            </a:r>
          </a:p>
          <a:p>
            <a:pPr marL="342900" indent="-342900">
              <a:buFont typeface="Wingdings" panose="05000000000000000000" pitchFamily="2" charset="2"/>
              <a:buChar char="v"/>
            </a:pPr>
            <a:r>
              <a:rPr lang="fr-FR" sz="2300" b="1" dirty="0">
                <a:solidFill>
                  <a:schemeClr val="tx2">
                    <a:lumMod val="60000"/>
                    <a:lumOff val="40000"/>
                  </a:schemeClr>
                </a:solidFill>
              </a:rPr>
              <a:t> Mettre en pratique mes connaissances </a:t>
            </a:r>
          </a:p>
          <a:p>
            <a:pPr marL="342900" indent="-342900">
              <a:buFont typeface="Wingdings" panose="05000000000000000000" pitchFamily="2" charset="2"/>
              <a:buChar char="v"/>
            </a:pPr>
            <a:r>
              <a:rPr lang="fr-FR" sz="2300" b="1" dirty="0">
                <a:solidFill>
                  <a:schemeClr val="tx2">
                    <a:lumMod val="60000"/>
                    <a:lumOff val="40000"/>
                  </a:schemeClr>
                </a:solidFill>
              </a:rPr>
              <a:t>Acquérir de nouvelles compétences</a:t>
            </a:r>
          </a:p>
        </p:txBody>
      </p:sp>
      <p:sp>
        <p:nvSpPr>
          <p:cNvPr id="19" name="ZoneTexte 18">
            <a:extLst>
              <a:ext uri="{FF2B5EF4-FFF2-40B4-BE49-F238E27FC236}">
                <a16:creationId xmlns:a16="http://schemas.microsoft.com/office/drawing/2014/main" xmlns="" id="{90E5D3FC-6D6C-3271-558C-76899F51AC7C}"/>
              </a:ext>
            </a:extLst>
          </p:cNvPr>
          <p:cNvSpPr txBox="1"/>
          <p:nvPr/>
        </p:nvSpPr>
        <p:spPr>
          <a:xfrm>
            <a:off x="3083944" y="3248647"/>
            <a:ext cx="6167886" cy="784830"/>
          </a:xfrm>
          <a:prstGeom prst="rect">
            <a:avLst/>
          </a:prstGeom>
          <a:noFill/>
        </p:spPr>
        <p:txBody>
          <a:bodyPr wrap="square">
            <a:spAutoFit/>
          </a:bodyPr>
          <a:lstStyle/>
          <a:p>
            <a:r>
              <a:rPr lang="fr-FR" sz="4500" b="1" dirty="0">
                <a:solidFill>
                  <a:schemeClr val="bg1"/>
                </a:solidFill>
                <a:highlight>
                  <a:srgbClr val="2F6495"/>
                </a:highlight>
              </a:rPr>
              <a:t>perspectives</a:t>
            </a:r>
          </a:p>
        </p:txBody>
      </p:sp>
    </p:spTree>
    <p:extLst>
      <p:ext uri="{BB962C8B-B14F-4D97-AF65-F5344CB8AC3E}">
        <p14:creationId xmlns:p14="http://schemas.microsoft.com/office/powerpoint/2010/main" val="9344736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xmlns="" id="{68E27C39-61CF-E98C-1F54-C5685399BF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808099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lle d’ions">
  <a:themeElements>
    <a:clrScheme name="Salle d’ions">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Salle d’ions">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lle d’ions">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3931</TotalTime>
  <Words>3606</Words>
  <Application>Microsoft Office PowerPoint</Application>
  <PresentationFormat>Grand écran</PresentationFormat>
  <Paragraphs>847</Paragraphs>
  <Slides>49</Slides>
  <Notes>48</Notes>
  <HiddenSlides>0</HiddenSlides>
  <MMClips>0</MMClips>
  <ScaleCrop>false</ScaleCrop>
  <HeadingPairs>
    <vt:vector size="6" baseType="variant">
      <vt:variant>
        <vt:lpstr>Polices utilisées</vt:lpstr>
      </vt:variant>
      <vt:variant>
        <vt:i4>16</vt:i4>
      </vt:variant>
      <vt:variant>
        <vt:lpstr>Thème</vt:lpstr>
      </vt:variant>
      <vt:variant>
        <vt:i4>1</vt:i4>
      </vt:variant>
      <vt:variant>
        <vt:lpstr>Titres des diapositives</vt:lpstr>
      </vt:variant>
      <vt:variant>
        <vt:i4>49</vt:i4>
      </vt:variant>
    </vt:vector>
  </HeadingPairs>
  <TitlesOfParts>
    <vt:vector size="66" baseType="lpstr">
      <vt:lpstr>Algerian</vt:lpstr>
      <vt:lpstr>Arial</vt:lpstr>
      <vt:lpstr>Arial Black</vt:lpstr>
      <vt:lpstr>Bahnschrift SemiBold</vt:lpstr>
      <vt:lpstr>Calibri</vt:lpstr>
      <vt:lpstr>Candara</vt:lpstr>
      <vt:lpstr>Century Gothic</vt:lpstr>
      <vt:lpstr>CIDFont+F3</vt:lpstr>
      <vt:lpstr>Open Sans</vt:lpstr>
      <vt:lpstr>Roboto</vt:lpstr>
      <vt:lpstr>Roboto Condensed</vt:lpstr>
      <vt:lpstr>Roboto Condensed Light</vt:lpstr>
      <vt:lpstr>Times New Roman</vt:lpstr>
      <vt:lpstr>Verdana</vt:lpstr>
      <vt:lpstr>Wingdings</vt:lpstr>
      <vt:lpstr>Wingdings 3</vt:lpstr>
      <vt:lpstr>Salle d’ions</vt:lpstr>
      <vt:lpstr>Université ibn Zohr Faculté des sciences Département Informatique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Université ibn Zohr Faculté des sciences Département Informatique</dc:title>
  <dc:creator>halimabouchaka11@gmail.com</dc:creator>
  <cp:lastModifiedBy>Dell</cp:lastModifiedBy>
  <cp:revision>90</cp:revision>
  <dcterms:created xsi:type="dcterms:W3CDTF">2022-04-18T22:08:00Z</dcterms:created>
  <dcterms:modified xsi:type="dcterms:W3CDTF">2026-09-11T23:23:12Z</dcterms:modified>
</cp:coreProperties>
</file>